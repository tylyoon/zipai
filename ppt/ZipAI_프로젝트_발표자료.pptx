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8890">
            <a:solidFill>
              <a:srgbClr val="DCE3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196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5196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청년 주거 의사결정 플랫폼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8046720" y="-1645920"/>
            <a:ext cx="5577840" cy="5577840"/>
          </a:xfrm>
          <a:prstGeom prst="arc">
            <a:avLst/>
          </a:prstGeom>
          <a:solidFill>
            <a:srgbClr val="102A43">
              <a:alpha val="0"/>
            </a:srgbClr>
          </a:solidFill>
          <a:ln w="317500">
            <a:solidFill>
              <a:srgbClr val="2E5D86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4206240"/>
            <a:ext cx="3474720" cy="3474720"/>
          </a:xfrm>
          <a:prstGeom prst="ellipse">
            <a:avLst/>
          </a:prstGeom>
          <a:solidFill>
            <a:srgbClr val="1F6FEB">
              <a:alpha val="88000"/>
            </a:srgbClr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68580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D4E78"/>
          </a:solidFill>
          <a:ln w="12700">
            <a:solidFill>
              <a:srgbClr val="1D4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736092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D7FF"/>
                </a:solidFill>
              </a:rPr>
              <a:t>PROJECT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집을 찾는 순간부터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계약하는 순간까지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291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5D6C2"/>
                </a:solidFill>
              </a:rPr>
              <a:t>ZipAI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49808" y="41422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AF7"/>
                </a:solidFill>
              </a:rPr>
              <a:t>청년을 위한 통합 주거 의사결정 플랫폼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47091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</a:rPr>
              <a:t>매물 탐색 · 공공주택 · 계약 안전 · 정책 · 생활권 분석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60807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AB1"/>
                </a:solidFill>
              </a:rPr>
              <a:t>2026. 07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01 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청년의 집 구하기는 하나의 검색 문제가 아닙니다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정보가 흩어져 있어 탐색, 검증, 정책 확인을 매번 다른 서비스에서 반복해야 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487168" cy="32461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194560"/>
            <a:ext cx="438912" cy="43891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2814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탐색의 분절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3529584"/>
            <a:ext cx="206654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일반 매물과 LH·공공주택 공고가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서로 다른 채널에 흩어져 있음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6968" y="4800600"/>
            <a:ext cx="1993392" cy="7315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965960"/>
            <a:ext cx="2487168" cy="32461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2194560"/>
            <a:ext cx="438912" cy="438912"/>
          </a:xfrm>
          <a:prstGeom prst="ellipse">
            <a:avLst/>
          </a:prstGeom>
          <a:solidFill>
            <a:srgbClr val="FF8A4C"/>
          </a:solidFill>
          <a:ln w="12700">
            <a:solidFill>
              <a:srgbClr val="FF8A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2814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계약의 불안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03320" y="3529584"/>
            <a:ext cx="206654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보증금과 계약 절차의 위험을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비전문가가 스스로 판단해야 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03320" y="4800600"/>
            <a:ext cx="1993392" cy="73152"/>
          </a:xfrm>
          <a:prstGeom prst="rect">
            <a:avLst/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8504" y="1965960"/>
            <a:ext cx="2487168" cy="32461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9672" y="2194560"/>
            <a:ext cx="438912" cy="438912"/>
          </a:xfrm>
          <a:prstGeom prst="ellipse">
            <a:avLst/>
          </a:prstGeom>
          <a:solidFill>
            <a:srgbClr val="20A779"/>
          </a:solidFill>
          <a:ln w="12700">
            <a:solidFill>
              <a:srgbClr val="20A7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22814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9672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정책의 복잡성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19672" y="3529584"/>
            <a:ext cx="206654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대출·주거급여·행복주택 조건이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공고마다 달라 비교가 어려움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19672" y="4800600"/>
            <a:ext cx="1993392" cy="73152"/>
          </a:xfrm>
          <a:prstGeom prst="rect">
            <a:avLst/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34856" y="1965960"/>
            <a:ext cx="2487168" cy="32461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36024" y="2194560"/>
            <a:ext cx="438912" cy="43891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36024" y="22814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36024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생활권의 미스매치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36024" y="3529584"/>
            <a:ext cx="206654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가격만으로는 교통·편의시설 등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실제 거주 적합성을 알기 어려움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336024" y="4800600"/>
            <a:ext cx="1993392" cy="73152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56692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6FEB"/>
                </a:solidFill>
              </a:rPr>
              <a:t>→ ZipAI는 “검색”이 아니라 주거 의사결정의 전체 여정을 연결합니다.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02 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하나의 서비스에서 이어지는 5단계 주거 여정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사용자의 행동 순서에 맞춰 정보 탐색에서 계약 전 점검까지 연결합니다.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EAF2FF"/>
          </a:solidFill>
          <a:ln w="12700">
            <a:solidFill>
              <a:srgbClr val="9EC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9032" y="2487168"/>
            <a:ext cx="438912" cy="43891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9032" y="25740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32004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매물 탐색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3703320"/>
            <a:ext cx="15544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지도·필터로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후보 찾기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87752" y="3182112"/>
            <a:ext cx="320040" cy="310896"/>
          </a:xfrm>
          <a:prstGeom prst="chevron">
            <a:avLst/>
          </a:prstGeom>
          <a:solidFill>
            <a:srgbClr val="AFC6DB"/>
          </a:solidFill>
          <a:ln w="12700">
            <a:solidFill>
              <a:srgbClr val="AFC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53512" y="219456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66744" y="2487168"/>
            <a:ext cx="438912" cy="43891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25740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54680" y="32004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공공주택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18104" y="3703320"/>
            <a:ext cx="15544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LH 모집공고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함께 비교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55464" y="3182112"/>
            <a:ext cx="320040" cy="310896"/>
          </a:xfrm>
          <a:prstGeom prst="chevron">
            <a:avLst/>
          </a:prstGeom>
          <a:solidFill>
            <a:srgbClr val="AFC6DB"/>
          </a:solidFill>
          <a:ln w="12700">
            <a:solidFill>
              <a:srgbClr val="AFC6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21224" y="219456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34456" y="2487168"/>
            <a:ext cx="438912" cy="43891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34456" y="25740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22392" y="32004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자격·정책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85816" y="3703320"/>
            <a:ext cx="15544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행복주택·대출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조건 확인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23176" y="3182112"/>
            <a:ext cx="320040" cy="310896"/>
          </a:xfrm>
          <a:prstGeom prst="chevron">
            <a:avLst/>
          </a:prstGeom>
          <a:solidFill>
            <a:srgbClr val="AFC6DB"/>
          </a:solidFill>
          <a:ln w="12700">
            <a:solidFill>
              <a:srgbClr val="AFC6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88936" y="219456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02168" y="2487168"/>
            <a:ext cx="438912" cy="43891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02168" y="25740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90104" y="32004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생활권 분석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53528" y="3703320"/>
            <a:ext cx="15544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교통·편의 요소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우선순위 비교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390888" y="3182112"/>
            <a:ext cx="320040" cy="310896"/>
          </a:xfrm>
          <a:prstGeom prst="chevron">
            <a:avLst/>
          </a:prstGeom>
          <a:solidFill>
            <a:srgbClr val="AFC6DB"/>
          </a:solidFill>
          <a:ln w="12700">
            <a:solidFill>
              <a:srgbClr val="AFC6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56648" y="219456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69880" y="2487168"/>
            <a:ext cx="438912" cy="438912"/>
          </a:xfrm>
          <a:prstGeom prst="ellipse">
            <a:avLst/>
          </a:prstGeom>
          <a:solidFill>
            <a:srgbClr val="FF8A4C"/>
          </a:solidFill>
          <a:ln w="12700">
            <a:solidFill>
              <a:srgbClr val="FF8A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69880" y="25740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57816" y="32004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계약 안전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21240" y="3703320"/>
            <a:ext cx="15544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체크리스트·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전세가율 점검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71600" y="5120640"/>
            <a:ext cx="9418320" cy="658368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0200" y="532180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가치  |  정보의 통합  ×  판단의 지원  ×  계약 위험의 예방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03  USER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지도와 목록을 함께 보는 매물 탐색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일반 매물과 공공주택을 구분하고, 조건 변경 결과를 목록·지도에 동시에 반영합니다.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69951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837944"/>
            <a:ext cx="6976872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751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D6C2"/>
                </a:solidFill>
              </a:rPr>
              <a:t>ZipAI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19933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매물찾기    안전계약    정책정보    행복주택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76656" y="2331720"/>
            <a:ext cx="2788920" cy="3639312"/>
          </a:xfrm>
          <a:prstGeom prst="rect">
            <a:avLst/>
          </a:prstGeom>
          <a:solidFill>
            <a:srgbClr val="F8FAF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53288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583180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일반 매물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2532888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2583180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27D98"/>
                </a:solidFill>
              </a:rPr>
              <a:t>LH·공공임대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59536" y="3035808"/>
            <a:ext cx="2340864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5" name="Image 0" descr="C:\Users\pc06-00\Desktop\zipai0710 수정\static\img\properties\stud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127248"/>
            <a:ext cx="786384" cy="8778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856232" y="317296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성남시 분당구 원룸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856232" y="34838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보증금 1,000 / 55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856232" y="375818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27D98"/>
                </a:solidFill>
              </a:rPr>
              <a:t>도보 7분 · 옵션 포함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859536" y="4343400"/>
            <a:ext cx="2340864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20" name="Image 1" descr="C:\Users\pc06-00\Desktop\zipai0710 수정\static\img\properties\public-housi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434840"/>
            <a:ext cx="786384" cy="87782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856232" y="448056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역세권 투룸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1856232" y="47914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전세 1억 6,000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856232" y="50657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27D98"/>
                </a:solidFill>
              </a:rPr>
              <a:t>도보 7분 · 옵션 포함</a:t>
            </a:r>
            <a:endParaRPr lang="en-US" sz="780" dirty="0"/>
          </a:p>
        </p:txBody>
      </p:sp>
      <p:sp>
        <p:nvSpPr>
          <p:cNvPr id="24" name="Shape 20"/>
          <p:cNvSpPr/>
          <p:nvPr/>
        </p:nvSpPr>
        <p:spPr>
          <a:xfrm>
            <a:off x="3474720" y="2331720"/>
            <a:ext cx="4160520" cy="3639312"/>
          </a:xfrm>
          <a:prstGeom prst="rect">
            <a:avLst/>
          </a:prstGeom>
          <a:solidFill>
            <a:srgbClr val="E8F1E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657600" y="2834640"/>
            <a:ext cx="3566160" cy="64008"/>
          </a:xfrm>
          <a:prstGeom prst="line">
            <a:avLst/>
          </a:prstGeom>
          <a:noFill/>
          <a:ln w="101600">
            <a:solidFill>
              <a:srgbClr val="FFFFFF">
                <a:alpha val="95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023360" y="4983480"/>
            <a:ext cx="3200400" cy="64008"/>
          </a:xfrm>
          <a:prstGeom prst="line">
            <a:avLst/>
          </a:prstGeom>
          <a:noFill/>
          <a:ln w="101600">
            <a:solidFill>
              <a:srgbClr val="FFFFFF">
                <a:alpha val="95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663440" y="2487168"/>
            <a:ext cx="64008" cy="3200400"/>
          </a:xfrm>
          <a:prstGeom prst="line">
            <a:avLst/>
          </a:prstGeom>
          <a:noFill/>
          <a:ln w="101600">
            <a:solidFill>
              <a:srgbClr val="FFFFFF">
                <a:alpha val="9500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583680" y="2514600"/>
            <a:ext cx="64008" cy="3108960"/>
          </a:xfrm>
          <a:prstGeom prst="line">
            <a:avLst/>
          </a:prstGeom>
          <a:noFill/>
          <a:ln w="101600">
            <a:solidFill>
              <a:srgbClr val="FFFFFF">
                <a:alpha val="950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343400" y="3200400"/>
            <a:ext cx="530352" cy="530352"/>
          </a:xfrm>
          <a:prstGeom prst="ellipse">
            <a:avLst/>
          </a:prstGeom>
          <a:solidFill>
            <a:srgbClr val="1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343400" y="336499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55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486400" y="3840480"/>
            <a:ext cx="530352" cy="530352"/>
          </a:xfrm>
          <a:prstGeom prst="ellipse">
            <a:avLst/>
          </a:prstGeom>
          <a:solidFill>
            <a:srgbClr val="1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486400" y="400507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1.6억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6720840" y="2971800"/>
            <a:ext cx="530352" cy="530352"/>
          </a:xfrm>
          <a:prstGeom prst="ellipse">
            <a:avLst/>
          </a:prstGeom>
          <a:solidFill>
            <a:srgbClr val="FF8A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720840" y="313639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LH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4800600" y="4800600"/>
            <a:ext cx="530352" cy="530352"/>
          </a:xfrm>
          <a:prstGeom prst="ellipse">
            <a:avLst/>
          </a:prstGeom>
          <a:solidFill>
            <a:srgbClr val="1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800600" y="496519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48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7973568" y="1828800"/>
            <a:ext cx="3547872" cy="4160520"/>
          </a:xfrm>
          <a:prstGeom prst="roundRect">
            <a:avLst>
              <a:gd name="adj" fmla="val 309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302752" y="2212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사용자가 얻는 것</a:t>
            </a:r>
            <a:endParaRPr lang="en-US" sz="2000" dirty="0"/>
          </a:p>
        </p:txBody>
      </p:sp>
      <p:sp>
        <p:nvSpPr>
          <p:cNvPr id="39" name="Shape 35"/>
          <p:cNvSpPr/>
          <p:nvPr/>
        </p:nvSpPr>
        <p:spPr>
          <a:xfrm>
            <a:off x="8284464" y="2999232"/>
            <a:ext cx="82296" cy="8229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485632" y="2907792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9EAF7"/>
                </a:solidFill>
              </a:rPr>
              <a:t>경기 31개 시·군 단위 검색</a:t>
            </a:r>
            <a:endParaRPr lang="en-US" sz="1250" dirty="0"/>
          </a:p>
        </p:txBody>
      </p:sp>
      <p:sp>
        <p:nvSpPr>
          <p:cNvPr id="41" name="Shape 37"/>
          <p:cNvSpPr/>
          <p:nvPr/>
        </p:nvSpPr>
        <p:spPr>
          <a:xfrm>
            <a:off x="8284464" y="3493008"/>
            <a:ext cx="82296" cy="8229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485632" y="3401568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9EAF7"/>
                </a:solidFill>
              </a:rPr>
              <a:t>거래 유형·보증금·월세 필터</a:t>
            </a:r>
            <a:endParaRPr lang="en-US" sz="1250" dirty="0"/>
          </a:p>
        </p:txBody>
      </p:sp>
      <p:sp>
        <p:nvSpPr>
          <p:cNvPr id="43" name="Shape 39"/>
          <p:cNvSpPr/>
          <p:nvPr/>
        </p:nvSpPr>
        <p:spPr>
          <a:xfrm>
            <a:off x="8284464" y="3986784"/>
            <a:ext cx="82296" cy="8229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485632" y="3895344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9EAF7"/>
                </a:solidFill>
              </a:rPr>
              <a:t>매물 상세와 출처 확인</a:t>
            </a:r>
            <a:endParaRPr lang="en-US" sz="1250" dirty="0"/>
          </a:p>
        </p:txBody>
      </p:sp>
      <p:sp>
        <p:nvSpPr>
          <p:cNvPr id="45" name="Shape 41"/>
          <p:cNvSpPr/>
          <p:nvPr/>
        </p:nvSpPr>
        <p:spPr>
          <a:xfrm>
            <a:off x="8284464" y="4480560"/>
            <a:ext cx="82296" cy="8229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485632" y="438912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9EAF7"/>
                </a:solidFill>
              </a:rPr>
              <a:t>일반 매물 / 공공주택 전환</a:t>
            </a:r>
            <a:endParaRPr lang="en-US" sz="1250" dirty="0"/>
          </a:p>
        </p:txBody>
      </p:sp>
      <p:sp>
        <p:nvSpPr>
          <p:cNvPr id="47" name="Shape 43"/>
          <p:cNvSpPr/>
          <p:nvPr/>
        </p:nvSpPr>
        <p:spPr>
          <a:xfrm>
            <a:off x="8284464" y="4974336"/>
            <a:ext cx="82296" cy="8229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485632" y="4882896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9EAF7"/>
                </a:solidFill>
              </a:rPr>
              <a:t>반응형 모바일 UI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04  CORE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탐색 이후의 판단을 돕는 기능 생태계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단순 매물 플랫폼을 넘어 “이 집에 들어가도 되는가?”에 답하도록 설계했습니다.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01952"/>
            <a:ext cx="2487168" cy="352044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3969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8998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4C"/>
                </a:solidFill>
              </a:rPr>
              <a:t>SAFE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96112" y="28163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계약 안전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474720"/>
            <a:ext cx="1993392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전세가율 계산기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단계별 체크리스트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안전 계약 가이드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" y="4892040"/>
            <a:ext cx="1975104" cy="0"/>
          </a:xfrm>
          <a:prstGeom prst="line">
            <a:avLst/>
          </a:prstGeom>
          <a:noFill/>
          <a:ln w="38100">
            <a:solidFill>
              <a:srgbClr val="FF8A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901952"/>
            <a:ext cx="2487168" cy="352044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12464" y="213969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218998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</a:rPr>
              <a:t>LH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12464" y="28163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공공주택 연동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12464" y="3474720"/>
            <a:ext cx="1993392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LH 공고 조회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경기 지역 필터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원문 링크 확인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12464" y="4892040"/>
            <a:ext cx="1975104" cy="0"/>
          </a:xfrm>
          <a:prstGeom prst="line">
            <a:avLst/>
          </a:prstGeom>
          <a:noFill/>
          <a:ln w="38100">
            <a:solidFill>
              <a:srgbClr val="1F6F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8504" y="1901952"/>
            <a:ext cx="2487168" cy="352044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28816" y="213969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218998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A779"/>
                </a:solidFill>
              </a:rPr>
              <a:t>POLICY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28816" y="28163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주거 정책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28816" y="3474720"/>
            <a:ext cx="1993392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대출·보증·급여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신청 준비사항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공식기관 안내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28816" y="4892040"/>
            <a:ext cx="1975104" cy="0"/>
          </a:xfrm>
          <a:prstGeom prst="line">
            <a:avLst/>
          </a:prstGeom>
          <a:noFill/>
          <a:ln w="38100">
            <a:solidFill>
              <a:srgbClr val="20A77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34856" y="1901952"/>
            <a:ext cx="2487168" cy="352044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45168" y="213969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7F8FA"/>
          </a:solidFill>
          <a:ln w="12700">
            <a:solidFill>
              <a:srgbClr val="E7F8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45168" y="218998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B4C8"/>
                </a:solidFill>
              </a:rPr>
              <a:t>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45168" y="28163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생활권 분석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45168" y="3474720"/>
            <a:ext cx="1993392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교통·편의 비교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우선순위 입력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모의 분석 결과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345168" y="4892040"/>
            <a:ext cx="1975104" cy="0"/>
          </a:xfrm>
          <a:prstGeom prst="line">
            <a:avLst/>
          </a:prstGeom>
          <a:noFill/>
          <a:ln w="38100">
            <a:solidFill>
              <a:srgbClr val="2BB4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5806440"/>
            <a:ext cx="9921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B53"/>
                </a:solidFill>
              </a:rPr>
              <a:t>각 기능은 공통 헤더와 메뉴로 연결되어 사용자가 주거 여정을 이탈하지 않도록 구성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05  DIFFERENTIATOR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행복주택 자격을 “읽는 정보”에서 “확인하는 도구”로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사용자 입력을 공고 조건과 비교해 통과·확인 필요·미충족 상태로 정리합니다.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6656" y="1828800"/>
            <a:ext cx="489204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6" name="Image 0" descr="C:\Users\pc06-00\Desktop\zipai0710 수정\static\images\happy-housing-hero-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37944"/>
            <a:ext cx="4873752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4005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</a:rPr>
              <a:t>행복주택 간편 자격진단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87552" y="459028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신청 계층 · 나이 · 무주택 · 소득 · 자산 · 거주지 조건을 단계적으로 입력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87552" y="528523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533552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진단 시작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35040" y="1828800"/>
            <a:ext cx="546811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21031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15341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A779"/>
                </a:solidFill>
              </a:rPr>
              <a:t>통과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43800" y="2084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53"/>
                </a:solidFill>
              </a:rPr>
              <a:t>무주택 요건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961120" y="21031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현재 입력 기준 충족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35040" y="2971800"/>
            <a:ext cx="546811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0" y="32461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329641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4C"/>
                </a:solidFill>
              </a:rPr>
              <a:t>확인 필요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543800" y="3227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53"/>
                </a:solidFill>
              </a:rPr>
              <a:t>소득 기준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61120" y="32461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공고별 기준 확인 필요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35040" y="4114800"/>
            <a:ext cx="546811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09360" y="43891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443941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5555"/>
                </a:solidFill>
              </a:rPr>
              <a:t>미충족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543800" y="4370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53"/>
                </a:solidFill>
              </a:rPr>
              <a:t>자산 기준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961120" y="43891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입력값이 기준을 초과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035040" y="5285232"/>
            <a:ext cx="5468112" cy="612648"/>
          </a:xfrm>
          <a:prstGeom prst="roundRect">
            <a:avLst>
              <a:gd name="adj" fmla="val 1791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5080" y="5477256"/>
            <a:ext cx="4828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공식 자격 판정이 아닌 사전 점검 도구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06  TECHNOLOGY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가벼운 구조로 외부 데이터와 정적 UI를 연결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별도 프레임워크 없이 HTML·CSS·JavaScript와 Node.js 내장 모듈로 구현했습니다.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23317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45973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51002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</a:rPr>
              <a:t>CLIENT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3008376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HTML · CSS · JS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" y="35204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• 반응형 UI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05256" y="38313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• 지도·필터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5256" y="41422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• localStorage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19472" y="2240280"/>
            <a:ext cx="23317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245973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51002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A779"/>
                </a:solidFill>
              </a:rPr>
              <a:t>SERVER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20640" y="3008376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Node.js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38928" y="35204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• 정적 파일 제공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38928" y="383133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• API 중계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38928" y="414223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• 오류·캐시 처리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0" y="1783080"/>
            <a:ext cx="23317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45168" y="2002536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2052828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4C"/>
                </a:solidFill>
              </a:rPr>
              <a:t>DATA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45168" y="2551176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관리자 Excel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63456" y="3063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• 10건 시연 매물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0" y="3767328"/>
            <a:ext cx="233172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45168" y="3986784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45168" y="4037076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5555"/>
                </a:solidFill>
              </a:rPr>
              <a:t>EXTERNAL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345168" y="4535424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공공데이터포털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63456" y="50474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• LH 모집공고 API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10128" y="3200400"/>
            <a:ext cx="1234440" cy="310896"/>
          </a:xfrm>
          <a:prstGeom prst="chevron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2880360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7D98"/>
                </a:solidFill>
              </a:rPr>
              <a:t>fetch / JSON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543800" y="2404872"/>
            <a:ext cx="1207008" cy="310896"/>
          </a:xfrm>
          <a:prstGeom prst="chevron">
            <a:avLst/>
          </a:prstGeom>
          <a:solidFill>
            <a:srgbClr val="FF8A4C"/>
          </a:solidFill>
          <a:ln w="12700">
            <a:solidFill>
              <a:srgbClr val="FF8A4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43800" y="4343400"/>
            <a:ext cx="1207008" cy="310896"/>
          </a:xfrm>
          <a:prstGeom prst="chevron">
            <a:avLst/>
          </a:prstGeom>
          <a:solidFill>
            <a:srgbClr val="FF8A4C"/>
          </a:solidFill>
          <a:ln w="12700">
            <a:solidFill>
              <a:srgbClr val="FF8A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20574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7D98"/>
                </a:solidFill>
              </a:rPr>
              <a:t>/api/general-properties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269480" y="40050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7D98"/>
                </a:solidFill>
              </a:rPr>
              <a:t>/api/public-housing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331720" y="5257800"/>
            <a:ext cx="7223760" cy="585216"/>
          </a:xfrm>
          <a:prstGeom prst="roundRect">
            <a:avLst>
              <a:gd name="adj" fmla="val 1875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06040" y="544068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3B53"/>
                </a:solidFill>
              </a:rPr>
              <a:t>서비스 키는 서버에서만 관리  ·  LH 응답은 10분 캐시  ·  Excel ZIP/XML 직접 파싱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07 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프로젝트를 구성하는 주요 모듈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화면별 CSS·JavaScript를 분리하고, 공통 UI와 데이터 접근을 연결했습니다.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0835640" cy="493776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6596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625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</a:rPr>
              <a:t>ENTRY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03120" y="20025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index.html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74920" y="2002536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메인 지도·매물 목록·카테고리 전환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26060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65633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A779"/>
                </a:solidFill>
              </a:rPr>
              <a:t>BACKEND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26426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server.js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74920" y="2642616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정적 서버, Excel 변환, LH API 중계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154680"/>
            <a:ext cx="10835640" cy="493776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2461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9641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</a:rPr>
              <a:t>FRONTEND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103120" y="328269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static/js/home.js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74920" y="3282696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검색·필터·매물 렌더링·등록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3886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93649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</a:rPr>
              <a:t>SAFETY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03120" y="39227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templates/defense/*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74920" y="3922776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체크리스트·계산기·계약 가이드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4434840"/>
            <a:ext cx="10835640" cy="493776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45262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57657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</a:rPr>
              <a:t>CONTENT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103120" y="45628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templates/board/*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74920" y="4562856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정책·행복주택·고객센터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68680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21665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</a:rPr>
              <a:t>AI UX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520293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templates/ai/*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74920" y="5202936"/>
            <a:ext cx="5806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생활권 입력과 모의 분석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5806440"/>
            <a:ext cx="10835640" cy="384048"/>
          </a:xfrm>
          <a:prstGeom prst="roundRect">
            <a:avLst>
              <a:gd name="adj" fmla="val 2857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5907024"/>
            <a:ext cx="10149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의존성 최소화  |  Node.js 18+에서 node server.js 한 줄로 실행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08  NEXT STEP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프로토타입에서 실제 서비스로 가기 위한 로드맵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현재 한계를 명확히 정의하고 데이터·신뢰·운영 순서로 확장합니다.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FF8F4"/>
          </a:solidFill>
          <a:ln w="12700">
            <a:solidFill>
              <a:srgbClr val="F5D6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1488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A4C"/>
                </a:solidFill>
              </a:rPr>
              <a:t>현재 한계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7552" y="27432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</a:rPr>
              <a:t>브라우저 저장 중심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27249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회원·매물·문의 데이터가 서버 DB에 영속화되지 않음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87552" y="34564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</a:rPr>
              <a:t>모의 인증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34381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로그인·관리자 권한이 실제 보안 인증 구조가 아님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7552" y="41696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</a:rPr>
              <a:t>부분 자동화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41513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주소 좌표 변환과 공고별 자격 조건 수집이 제한적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987552" y="48828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</a:rPr>
              <a:t>검증 범위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48646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매물 소유·중개사 자격·허위매물 여부를 검증하지 않음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36208" y="1828800"/>
            <a:ext cx="5285232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2148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</a:rPr>
              <a:t>확장 로드맵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47104" y="2761488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8483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14032" y="27614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데이터 기반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21040" y="27614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</a:rPr>
              <a:t>DB·서버 인증·파일 저장소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39128" y="3154680"/>
            <a:ext cx="0" cy="292608"/>
          </a:xfrm>
          <a:prstGeom prst="line">
            <a:avLst/>
          </a:prstGeom>
          <a:noFill/>
          <a:ln w="25400">
            <a:solidFill>
              <a:srgbClr val="AFC6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47104" y="3447288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35341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14032" y="34472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신뢰 강화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21040" y="34472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</a:rPr>
              <a:t>중개사/매물 검증·신고/제재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39128" y="3840480"/>
            <a:ext cx="0" cy="292608"/>
          </a:xfrm>
          <a:prstGeom prst="line">
            <a:avLst/>
          </a:prstGeom>
          <a:noFill/>
          <a:ln w="25400">
            <a:solidFill>
              <a:srgbClr val="AFC6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47104" y="4133088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42199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14032" y="41330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자동화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321040" y="41330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</a:rPr>
              <a:t>주소 지오코딩·공고 조건 수집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39128" y="4526280"/>
            <a:ext cx="0" cy="292608"/>
          </a:xfrm>
          <a:prstGeom prst="line">
            <a:avLst/>
          </a:prstGeom>
          <a:noFill/>
          <a:ln w="25400">
            <a:solidFill>
              <a:srgbClr val="AFC6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47104" y="4818888"/>
            <a:ext cx="384048" cy="384048"/>
          </a:xfrm>
          <a:prstGeom prst="ellipse">
            <a:avLst/>
          </a:prstGeom>
          <a:solidFill>
            <a:srgbClr val="20A779"/>
          </a:solidFill>
          <a:ln w="12700">
            <a:solidFill>
              <a:srgbClr val="20A7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47104" y="49057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14032" y="48188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운영 품질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21040" y="48188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</a:rPr>
              <a:t>API 모니터링·접근성·모바일 테스트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3840480"/>
            <a:ext cx="4754880" cy="4754880"/>
          </a:xfrm>
          <a:prstGeom prst="ellipse">
            <a:avLst/>
          </a:prstGeom>
          <a:solidFill>
            <a:srgbClr val="153E63"/>
          </a:solidFill>
          <a:ln w="12700">
            <a:solidFill>
              <a:srgbClr val="153E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828800"/>
            <a:ext cx="4572000" cy="4572000"/>
          </a:xfrm>
          <a:prstGeom prst="ellipse">
            <a:avLst/>
          </a:prstGeom>
          <a:solidFill>
            <a:srgbClr val="1F6FEB">
              <a:alpha val="78000"/>
            </a:srgbClr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85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5D6C2"/>
                </a:solidFill>
              </a:rPr>
              <a:t>ZipAI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965960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집을 찾는 서비스에서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집을 결정하는 서비스로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011680" y="3520440"/>
            <a:ext cx="8183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7CCE2"/>
                </a:solidFill>
              </a:rPr>
              <a:t>탐색 · 정책 · 생활권 · 안전을 하나의 사용자 여정으로 연결합니다.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096512" y="4663440"/>
            <a:ext cx="3995928" cy="694944"/>
          </a:xfrm>
          <a:prstGeom prst="roundRect">
            <a:avLst>
              <a:gd name="adj" fmla="val 15789"/>
            </a:avLst>
          </a:prstGeom>
          <a:solidFill>
            <a:srgbClr val="153E63"/>
          </a:solidFill>
          <a:ln w="12700">
            <a:solidFill>
              <a:srgbClr val="2E5D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48920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THANK YOU  ·  Q&amp;A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ZipAI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ZipAI — 청년 주거 의사결정 플랫폼</dc:title>
  <dc:subject>ZipAI 프로젝트 발표</dc:subject>
  <dc:creator>ZipAI Team</dc:creator>
  <cp:lastModifiedBy>ZipAI Team</cp:lastModifiedBy>
  <cp:revision>1</cp:revision>
  <dcterms:created xsi:type="dcterms:W3CDTF">2026-07-28T03:48:52Z</dcterms:created>
  <dcterms:modified xsi:type="dcterms:W3CDTF">2026-07-28T03:48:52Z</dcterms:modified>
</cp:coreProperties>
</file>