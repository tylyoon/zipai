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73952"/>
            <a:ext cx="11064240" cy="0"/>
          </a:xfrm>
          <a:prstGeom prst="line">
            <a:avLst/>
          </a:prstGeom>
          <a:noFill/>
          <a:ln w="8890">
            <a:solidFill>
              <a:srgbClr val="DCE3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5196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ZipAI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509760" y="651967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청년 주거 의사결정 플랫폼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8046720" y="-1645920"/>
            <a:ext cx="5577840" cy="5577840"/>
          </a:xfrm>
          <a:prstGeom prst="arc">
            <a:avLst/>
          </a:prstGeom>
          <a:solidFill>
            <a:srgbClr val="102A43">
              <a:alpha val="0"/>
            </a:srgbClr>
          </a:solidFill>
          <a:ln w="317500">
            <a:solidFill>
              <a:srgbClr val="2E5D86">
                <a:alpha val="7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4206240"/>
            <a:ext cx="3474720" cy="3474720"/>
          </a:xfrm>
          <a:prstGeom prst="ellipse">
            <a:avLst/>
          </a:prstGeom>
          <a:solidFill>
            <a:srgbClr val="1F6FEB">
              <a:alpha val="88000"/>
            </a:srgbClr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685800"/>
            <a:ext cx="1965960" cy="310896"/>
          </a:xfrm>
          <a:prstGeom prst="roundRect">
            <a:avLst>
              <a:gd name="adj" fmla="val 50000"/>
            </a:avLst>
          </a:prstGeom>
          <a:solidFill>
            <a:srgbClr val="1D4E78"/>
          </a:solidFill>
          <a:ln w="12700">
            <a:solidFill>
              <a:srgbClr val="1D4E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736092"/>
            <a:ext cx="1965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D7FF"/>
                </a:solidFill>
              </a:rPr>
              <a:t>PROJECT PRESENTATION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집을 찾는 순간부터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208483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계약하는 순간까지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13232" y="3291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5D6C2"/>
                </a:solidFill>
              </a:rPr>
              <a:t>ZipAI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49808" y="414223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AF7"/>
                </a:solidFill>
              </a:rPr>
              <a:t>청년을 위한 통합 주거 의사결정 플랫폼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470916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</a:rPr>
              <a:t>매물 탐색 · 공공주택 · 계약 안전 · 정책 · 생활권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" y="6080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29AB1"/>
                </a:solidFill>
              </a:rPr>
              <a:t>2026. 08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01 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청년의 집 구하기는 하나의 검색 문제가 아닙니다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정보가 흩어져 있어 탐색, 검증, 정책 확인을 매번 다른 서비스에서 반복해야 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194560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탐색의 분절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86968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일반 매물과 LH·공공주택 공고가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서로 다른 채널에 흩어져 있음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86968" y="4800600"/>
            <a:ext cx="1993392" cy="73152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3320" y="2194560"/>
            <a:ext cx="438912" cy="438912"/>
          </a:xfrm>
          <a:prstGeom prst="ellipse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계약의 불안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03320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보증금과 계약 절차의 위험을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비전문가가 스스로 판단해야 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03320" y="4800600"/>
            <a:ext cx="1993392" cy="73152"/>
          </a:xfrm>
          <a:prstGeom prst="rect">
            <a:avLst/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19672" y="2194560"/>
            <a:ext cx="438912" cy="438912"/>
          </a:xfrm>
          <a:prstGeom prst="ellipse">
            <a:avLst/>
          </a:prstGeom>
          <a:solidFill>
            <a:srgbClr val="20A779"/>
          </a:solidFill>
          <a:ln w="12700">
            <a:solidFill>
              <a:srgbClr val="20A7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9672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19672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정책의 복잡성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19672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대출·주거급여·행복주택 조건이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공고마다 달라 비교가 어려움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19672" y="4800600"/>
            <a:ext cx="1993392" cy="73152"/>
          </a:xfrm>
          <a:prstGeom prst="rect">
            <a:avLst/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1965960"/>
            <a:ext cx="2487168" cy="324612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36024" y="2194560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36024" y="228142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336024" y="288036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생활권의 미스매치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336024" y="3529584"/>
            <a:ext cx="2066544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가격만으로는 교통·편의시설 등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실제 거주 적합성을 알기 어려움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36024" y="4800600"/>
            <a:ext cx="1993392" cy="73152"/>
          </a:xfrm>
          <a:prstGeom prst="rect">
            <a:avLst/>
          </a:prstGeom>
          <a:solidFill>
            <a:srgbClr val="FFF3C4"/>
          </a:solidFill>
          <a:ln w="12700">
            <a:solidFill>
              <a:srgbClr val="FFF3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80160" y="5669280"/>
            <a:ext cx="9601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6FEB"/>
                </a:solidFill>
              </a:rPr>
              <a:t>→ ZipAI는 “검색”이 아니라 주거 의사결정의 전체 여정을 연결합니다.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02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하나의 서비스에서 이어지는 5단계 주거 여정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사용자의 행동 순서에 맞춰 정보 탐색에서 계약 전 점검까지 연결합니다.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EAF2FF"/>
          </a:solidFill>
          <a:ln w="12700">
            <a:solidFill>
              <a:srgbClr val="9EC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86968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매물 탐색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392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지도·필터로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후보 찾기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87752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53512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66744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54680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공공주택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18104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LH 모집공고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함께 비교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55464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21224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34456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34456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22392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자격·정책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85816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행복주택·대출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조건 확인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23176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88936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02168" y="2487168"/>
            <a:ext cx="438912" cy="43891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02168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90104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생활권 분석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53528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교통·편의 요소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우선순위 비교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390888" y="3182112"/>
            <a:ext cx="320040" cy="310896"/>
          </a:xfrm>
          <a:prstGeom prst="chevron">
            <a:avLst/>
          </a:prstGeom>
          <a:solidFill>
            <a:srgbClr val="AFC6DB"/>
          </a:solidFill>
          <a:ln w="12700">
            <a:solidFill>
              <a:srgbClr val="AFC6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56648" y="2194560"/>
            <a:ext cx="1874520" cy="23317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469880" y="2487168"/>
            <a:ext cx="438912" cy="438912"/>
          </a:xfrm>
          <a:prstGeom prst="ellipse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69880" y="257403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57816" y="32004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A43"/>
                </a:solidFill>
              </a:rPr>
              <a:t>계약 안전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921240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체크리스트·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27D98"/>
                </a:solidFill>
              </a:rPr>
              <a:t>전세가율 점검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71600" y="5120640"/>
            <a:ext cx="9418320" cy="658368"/>
          </a:xfrm>
          <a:prstGeom prst="roundRect">
            <a:avLst>
              <a:gd name="adj" fmla="val 1666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00200" y="5321808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가치  |  정보의 통합  ×  판단의 지원  ×  계약 위험의 예방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03  USER EXPERIENCE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지도와 목록을 함께 보는 매물 탐색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일반 매물과 공공주택을 구분하고, 조건 변경 결과를 목록·지도에 동시에 반영합니다.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69951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1837944"/>
            <a:ext cx="6976872" cy="4937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97510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5D6C2"/>
                </a:solidFill>
              </a:rPr>
              <a:t>ZipAI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19933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매물찾기    안전계약    정책정보    행복주택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76656" y="2331720"/>
            <a:ext cx="2788920" cy="3639312"/>
          </a:xfrm>
          <a:prstGeom prst="rect">
            <a:avLst/>
          </a:prstGeom>
          <a:solidFill>
            <a:srgbClr val="F8FAFD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53288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7824" y="2583180"/>
            <a:ext cx="868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일반 매물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2532888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8EEF5"/>
          </a:solidFill>
          <a:ln w="12700">
            <a:solidFill>
              <a:srgbClr val="E8E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0" y="2583180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27D98"/>
                </a:solidFill>
              </a:rPr>
              <a:t>LH·공공임대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536" y="3035808"/>
            <a:ext cx="2340864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5" name="Image 0" descr="D:\송성근(파이썬)\git\homepick\zipai\static\img\properties\stud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127248"/>
            <a:ext cx="786384" cy="87782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856232" y="31729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성남시 분당구 원룸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856232" y="3483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보증금 1,000 / 55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856232" y="375818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27D98"/>
                </a:solidFill>
              </a:rPr>
              <a:t>도보 7분 · 옵션 포함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859536" y="4343400"/>
            <a:ext cx="2340864" cy="1069848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0" name="Image 1" descr="D:\송성근(파이썬)\git\homepick\zipai\static\img\properties\public-housing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4434840"/>
            <a:ext cx="786384" cy="8778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856232" y="448056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243B53"/>
                </a:solidFill>
              </a:rPr>
              <a:t>역세권 투룸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1856232" y="47914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F6FEB"/>
                </a:solidFill>
              </a:rPr>
              <a:t>전세 1억 6,000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1856232" y="5065776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627D98"/>
                </a:solidFill>
              </a:rPr>
              <a:t>도보 7분 · 옵션 포함</a:t>
            </a:r>
            <a:endParaRPr lang="en-US" sz="780" dirty="0"/>
          </a:p>
        </p:txBody>
      </p:sp>
      <p:sp>
        <p:nvSpPr>
          <p:cNvPr id="24" name="Shape 20"/>
          <p:cNvSpPr/>
          <p:nvPr/>
        </p:nvSpPr>
        <p:spPr>
          <a:xfrm>
            <a:off x="3474720" y="2331720"/>
            <a:ext cx="4160520" cy="3639312"/>
          </a:xfrm>
          <a:prstGeom prst="rect">
            <a:avLst/>
          </a:prstGeom>
          <a:solidFill>
            <a:srgbClr val="E8F1E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657600" y="2834640"/>
            <a:ext cx="3566160" cy="64008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023360" y="4983480"/>
            <a:ext cx="3200400" cy="64008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3440" y="2487168"/>
            <a:ext cx="64008" cy="3200400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583680" y="2514600"/>
            <a:ext cx="64008" cy="3108960"/>
          </a:xfrm>
          <a:prstGeom prst="line">
            <a:avLst/>
          </a:prstGeom>
          <a:noFill/>
          <a:ln w="101600">
            <a:solidFill>
              <a:srgbClr val="FFFFFF">
                <a:alpha val="95000"/>
              </a:srgbClr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343400" y="3200400"/>
            <a:ext cx="530352" cy="530352"/>
          </a:xfrm>
          <a:prstGeom prst="ellipse">
            <a:avLst/>
          </a:prstGeom>
          <a:solidFill>
            <a:srgbClr val="1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43400" y="33649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55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5486400" y="3840480"/>
            <a:ext cx="530352" cy="530352"/>
          </a:xfrm>
          <a:prstGeom prst="ellipse">
            <a:avLst/>
          </a:prstGeom>
          <a:solidFill>
            <a:srgbClr val="1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486400" y="400507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1.6억</a:t>
            </a:r>
            <a:endParaRPr lang="en-US" sz="850" dirty="0"/>
          </a:p>
        </p:txBody>
      </p:sp>
      <p:sp>
        <p:nvSpPr>
          <p:cNvPr id="33" name="Shape 29"/>
          <p:cNvSpPr/>
          <p:nvPr/>
        </p:nvSpPr>
        <p:spPr>
          <a:xfrm>
            <a:off x="6720840" y="2971800"/>
            <a:ext cx="530352" cy="530352"/>
          </a:xfrm>
          <a:prstGeom prst="ellipse">
            <a:avLst/>
          </a:prstGeom>
          <a:solidFill>
            <a:srgbClr val="FF8A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720840" y="31363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LH</a:t>
            </a:r>
            <a:endParaRPr lang="en-US" sz="850" dirty="0"/>
          </a:p>
        </p:txBody>
      </p:sp>
      <p:sp>
        <p:nvSpPr>
          <p:cNvPr id="35" name="Shape 31"/>
          <p:cNvSpPr/>
          <p:nvPr/>
        </p:nvSpPr>
        <p:spPr>
          <a:xfrm>
            <a:off x="4800600" y="4800600"/>
            <a:ext cx="530352" cy="530352"/>
          </a:xfrm>
          <a:prstGeom prst="ellipse">
            <a:avLst/>
          </a:prstGeom>
          <a:solidFill>
            <a:srgbClr val="1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800600" y="4965192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48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7973568" y="1828800"/>
            <a:ext cx="3547872" cy="4160520"/>
          </a:xfrm>
          <a:prstGeom prst="roundRect">
            <a:avLst>
              <a:gd name="adj" fmla="val 309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8302752" y="22128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사용자가 얻는 것</a:t>
            </a:r>
            <a:endParaRPr lang="en-US" sz="2000" dirty="0"/>
          </a:p>
        </p:txBody>
      </p:sp>
      <p:sp>
        <p:nvSpPr>
          <p:cNvPr id="39" name="Shape 35"/>
          <p:cNvSpPr/>
          <p:nvPr/>
        </p:nvSpPr>
        <p:spPr>
          <a:xfrm>
            <a:off x="8284464" y="2999232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485632" y="2907792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경기 31개 시·군 단위 검색</a:t>
            </a:r>
            <a:endParaRPr lang="en-US" sz="1250" dirty="0"/>
          </a:p>
        </p:txBody>
      </p:sp>
      <p:sp>
        <p:nvSpPr>
          <p:cNvPr id="41" name="Shape 37"/>
          <p:cNvSpPr/>
          <p:nvPr/>
        </p:nvSpPr>
        <p:spPr>
          <a:xfrm>
            <a:off x="8284464" y="3493008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485632" y="3401568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거래 유형·보증금·월세 필터</a:t>
            </a:r>
            <a:endParaRPr lang="en-US" sz="1250" dirty="0"/>
          </a:p>
        </p:txBody>
      </p:sp>
      <p:sp>
        <p:nvSpPr>
          <p:cNvPr id="43" name="Shape 39"/>
          <p:cNvSpPr/>
          <p:nvPr/>
        </p:nvSpPr>
        <p:spPr>
          <a:xfrm>
            <a:off x="8284464" y="3986784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8485632" y="3895344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매물 상세와 출처 확인</a:t>
            </a:r>
            <a:endParaRPr lang="en-US" sz="1250" dirty="0"/>
          </a:p>
        </p:txBody>
      </p:sp>
      <p:sp>
        <p:nvSpPr>
          <p:cNvPr id="45" name="Shape 41"/>
          <p:cNvSpPr/>
          <p:nvPr/>
        </p:nvSpPr>
        <p:spPr>
          <a:xfrm>
            <a:off x="8284464" y="4480560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485632" y="438912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일반 매물 / 공공주택 전환</a:t>
            </a:r>
            <a:endParaRPr lang="en-US" sz="1250" dirty="0"/>
          </a:p>
        </p:txBody>
      </p:sp>
      <p:sp>
        <p:nvSpPr>
          <p:cNvPr id="47" name="Shape 43"/>
          <p:cNvSpPr/>
          <p:nvPr/>
        </p:nvSpPr>
        <p:spPr>
          <a:xfrm>
            <a:off x="8284464" y="4974336"/>
            <a:ext cx="82296" cy="82296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485632" y="4882896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9EAF7"/>
                </a:solidFill>
              </a:rPr>
              <a:t>반응형 모바일 UI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04  ALL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처음부터 계약 이후까지, 8개 기능 영역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기능이 따로 노는 메뉴가 아니라 사용자의 집 구하기 순서에 맞춰 이어집니다.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01168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6197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27048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매물 탐색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86968" y="25877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지도·목록·조건 필터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상세 조회·찜하기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886968" y="3273552"/>
            <a:ext cx="1993392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02152" y="182880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85032" y="201168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06197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43400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공공주택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703320" y="25877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LH 공고·행복주택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지역 검색·원문 확인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703320" y="3273552"/>
            <a:ext cx="1993392" cy="0"/>
          </a:xfrm>
          <a:prstGeom prst="line">
            <a:avLst/>
          </a:prstGeom>
          <a:noFill/>
          <a:ln w="31750">
            <a:solidFill>
              <a:srgbClr val="20A77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82880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1384" y="201168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01384" y="206197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4C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59752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계약 안전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519672" y="25877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3단계 체크리스트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전세가율·계약 가이드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519672" y="3273552"/>
            <a:ext cx="1993392" cy="0"/>
          </a:xfrm>
          <a:prstGeom prst="line">
            <a:avLst/>
          </a:prstGeom>
          <a:noFill/>
          <a:ln w="31750">
            <a:solidFill>
              <a:srgbClr val="FF8A4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182880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17736" y="201168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E7F8FA"/>
          </a:solidFill>
          <a:ln w="12700">
            <a:solidFill>
              <a:srgbClr val="E7F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7736" y="206197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B4C8"/>
                </a:solidFill>
              </a:rPr>
              <a:t>04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976104" y="2048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지역 안전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336024" y="258775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CCTV·비상벨·치안시설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밤길·주의구간 시각화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9336024" y="3273552"/>
            <a:ext cx="1993392" cy="0"/>
          </a:xfrm>
          <a:prstGeom prst="line">
            <a:avLst/>
          </a:prstGeom>
          <a:noFill/>
          <a:ln w="31750">
            <a:solidFill>
              <a:srgbClr val="2BB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379476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8680" y="397764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02793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527048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금융·정책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86968" y="455371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대출·보증·월세지원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금리 계산·상환표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86968" y="5239512"/>
            <a:ext cx="1993392" cy="0"/>
          </a:xfrm>
          <a:prstGeom prst="line">
            <a:avLst/>
          </a:prstGeom>
          <a:noFill/>
          <a:ln w="31750">
            <a:solidFill>
              <a:srgbClr val="20A77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152" y="379476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85032" y="397764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85032" y="402793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43400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회원 서비스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3703320" y="455371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가입·로그인·마이페이지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찜·문의·알림 관리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3703320" y="5239512"/>
            <a:ext cx="1993392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18504" y="379476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01384" y="397764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01384" y="402793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4C"/>
                </a:solidFill>
              </a:rPr>
              <a:t>07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59752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방문·소통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6519672" y="455371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방문 예약·승인/거절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커뮤니티·댓글·좋아요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6519672" y="5239512"/>
            <a:ext cx="1993392" cy="0"/>
          </a:xfrm>
          <a:prstGeom prst="line">
            <a:avLst/>
          </a:prstGeom>
          <a:noFill/>
          <a:ln w="31750">
            <a:solidFill>
              <a:srgbClr val="FF8A4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34856" y="3794760"/>
            <a:ext cx="2487168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17736" y="3977640"/>
            <a:ext cx="530352" cy="310896"/>
          </a:xfrm>
          <a:prstGeom prst="roundRect">
            <a:avLst>
              <a:gd name="adj" fmla="val 50000"/>
            </a:avLst>
          </a:prstGeom>
          <a:solidFill>
            <a:srgbClr val="E7F8FA"/>
          </a:solidFill>
          <a:ln w="12700">
            <a:solidFill>
              <a:srgbClr val="E7F8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317736" y="4027932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B4C8"/>
                </a:solidFill>
              </a:rPr>
              <a:t>08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976104" y="401421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</a:rPr>
              <a:t>운영 관리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9336024" y="4553712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매물 등록·문의 답변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회원·공고·예약 관리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9336024" y="5239512"/>
            <a:ext cx="1993392" cy="0"/>
          </a:xfrm>
          <a:prstGeom prst="line">
            <a:avLst/>
          </a:prstGeom>
          <a:noFill/>
          <a:ln w="31750">
            <a:solidFill>
              <a:srgbClr val="2BB4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3000" y="5852160"/>
            <a:ext cx="9921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핵심: 집을 찾는 기능 + 위험을 판단하는 기능 + 실제 행동으로 옮기는 기능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05  DIFFERENTIATOR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행복주택 자격을 “읽는 정보”에서 “확인하는 도구”로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사용자 입력을 공고 조건과 비교해 통과·확인 필요·미충족 상태로 정리합니다.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6656" y="1828800"/>
            <a:ext cx="489204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6" name="Image 0" descr="D:\송성근(파이썬)\git\homepick\zipai\static\images\happy-housing-hero-v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37944"/>
            <a:ext cx="4873752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552" y="40050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3"/>
                </a:solidFill>
              </a:rPr>
              <a:t>행복주택 간편 자격진단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87552" y="45902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27D98"/>
                </a:solidFill>
              </a:rPr>
              <a:t>신청 계층 · 나이 · 무주택 · 소득 · 자산 · 거주지 조건을 단계적으로 입력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87552" y="528523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87552" y="533552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진단 시작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35040" y="1828800"/>
            <a:ext cx="5468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0" y="2103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09360" y="2153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통과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43800" y="2084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무주택 요건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961120" y="2103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현재 입력 기준 충족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35040" y="2971800"/>
            <a:ext cx="5468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3246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FF0EA"/>
          </a:solidFill>
          <a:ln w="12700">
            <a:solidFill>
              <a:srgbClr val="FF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3296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8A4C"/>
                </a:solidFill>
              </a:rPr>
              <a:t>확인 필요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543800" y="3227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소득 기준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961120" y="3246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공고별 기준 확인 필요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035040" y="4114800"/>
            <a:ext cx="5468112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09360" y="438912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09360" y="443941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5555"/>
                </a:solidFill>
              </a:rPr>
              <a:t>미충족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543800" y="437083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43B53"/>
                </a:solidFill>
              </a:rPr>
              <a:t>자산 기준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961120" y="438912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입력값이 기준을 초과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5285232"/>
            <a:ext cx="5468112" cy="612648"/>
          </a:xfrm>
          <a:prstGeom prst="roundRect">
            <a:avLst>
              <a:gd name="adj" fmla="val 179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5477256"/>
            <a:ext cx="4828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공식 자격 판정이 아닌 사전 점검 도구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06 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매물 탐색과 공공주택 기능은 이렇게 작동합니다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화면의 기능 이름보다 사용자가 실제로 무엇을 하고 무엇을 얻는지 중심으로 설명합니다.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0835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12264"/>
            <a:ext cx="475488" cy="47548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219913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72768" y="213055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일반 매물 찾기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03320" y="20756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1259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사용자가 하는 일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703320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지역·거래유형·보증금·월세·방 종류와 옵션을 선택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61304" y="2642616"/>
            <a:ext cx="228600" cy="310896"/>
          </a:xfrm>
          <a:prstGeom prst="chevron">
            <a:avLst/>
          </a:prstGeom>
          <a:solidFill>
            <a:srgbClr val="B9CAD9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08776" y="20756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21259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ZipAI가 하는 일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08776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조건에 맞는 매물만 목록과 지도에 동시에 표시하고 상세·찜 기능 제공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66760" y="2642616"/>
            <a:ext cx="228600" cy="310896"/>
          </a:xfrm>
          <a:prstGeom prst="chevron">
            <a:avLst/>
          </a:prstGeom>
          <a:solidFill>
            <a:srgbClr val="B9CAD9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14232" y="2075688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14232" y="2125980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6FEB"/>
                </a:solidFill>
              </a:rPr>
              <a:t>얻는 장점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14232" y="2560320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후보를 빠르게 좁히고 위치와 가격을 한 화면에서 비교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913632"/>
            <a:ext cx="108356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151376"/>
            <a:ext cx="475488" cy="475488"/>
          </a:xfrm>
          <a:prstGeom prst="ellipse">
            <a:avLst/>
          </a:prstGeom>
          <a:solidFill>
            <a:srgbClr val="20A779"/>
          </a:solidFill>
          <a:ln w="12700">
            <a:solidFill>
              <a:srgbClr val="20A7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23824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72768" y="41696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LH·행복주택 찾기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703320" y="41148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416509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사용자가 하는 일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03320" y="4599432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거주 희망 지역을 고르고 모집공고·신청자격을 확인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61304" y="4681728"/>
            <a:ext cx="228600" cy="310896"/>
          </a:xfrm>
          <a:prstGeom prst="chevron">
            <a:avLst/>
          </a:prstGeom>
          <a:solidFill>
            <a:srgbClr val="B9CAD9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41148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08776" y="416509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ZipAI가 하는 일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4599432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LH 공고와 원문 링크를 보여주고 나이·무주택·소득·자산을 사전 점검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366760" y="4681728"/>
            <a:ext cx="228600" cy="310896"/>
          </a:xfrm>
          <a:prstGeom prst="chevron">
            <a:avLst/>
          </a:prstGeom>
          <a:solidFill>
            <a:srgbClr val="B9CAD9"/>
          </a:solidFill>
          <a:ln w="12700">
            <a:solidFill>
              <a:srgbClr val="B9CA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14232" y="411480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14232" y="416509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얻는 장점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14232" y="4599432"/>
            <a:ext cx="2148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</a:rPr>
              <a:t>공고문 전체를 읽기 전에 신청 가능성이 있는 기회를 먼저 선별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05840" y="592531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6FEB"/>
                </a:solidFill>
              </a:rPr>
              <a:t>예시  |  “월세 60만 원 이하” 후보 검색 → 지도 비교 → LH 공고 확인 → 행복주택 자격 사전 점검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07  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안전 판단부터 방문·소통까지 이렇게 이어집니다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각 기능의 결과가 다음 행동으로 연결되도록 구성한 것이 ZipAI의 핵심입니다.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1828800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93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기능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14600" y="1828800"/>
            <a:ext cx="2971800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99339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사용자가 하는 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3154680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993392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ZipAI가 보여주는 결과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41080" y="1828800"/>
            <a:ext cx="2880360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0" y="19933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사용자 장점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2359152"/>
            <a:ext cx="1828800" cy="786384"/>
          </a:xfrm>
          <a:prstGeom prst="rect">
            <a:avLst/>
          </a:prstGeom>
          <a:solidFill>
            <a:srgbClr val="FFF0E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2505456"/>
            <a:ext cx="1609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8A4C"/>
                </a:solidFill>
              </a:rPr>
              <a:t>계약 안전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14600" y="2359152"/>
            <a:ext cx="2971800" cy="78638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2505456"/>
            <a:ext cx="2752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매매가·보증금·근저당 입력, 체크리스트 수행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486400" y="2359152"/>
            <a:ext cx="3154680" cy="78638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6128" y="2505456"/>
            <a:ext cx="29352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전세가율과 위험 등급, 빠진 확인 항목을 안내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8641080" y="2359152"/>
            <a:ext cx="2880360" cy="78638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50808" y="2505456"/>
            <a:ext cx="26609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계약 전에 위험 신호를 스스로 발견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685800" y="3145536"/>
            <a:ext cx="1828800" cy="786384"/>
          </a:xfrm>
          <a:prstGeom prst="rect">
            <a:avLst/>
          </a:prstGeom>
          <a:solidFill>
            <a:srgbClr val="DFF7F1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3291840"/>
            <a:ext cx="1609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0A779"/>
                </a:solidFill>
              </a:rPr>
              <a:t>지역 안전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14600" y="3145536"/>
            <a:ext cx="2971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24328" y="3291840"/>
            <a:ext cx="2752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주소와 분석 반경, 확인할 안전 항목 선택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5486400" y="3145536"/>
            <a:ext cx="31546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6128" y="3291840"/>
            <a:ext cx="29352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CCTV·비상벨·치안시설·밤길 지표를 지도와 점수로 표시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8641080" y="3145536"/>
            <a:ext cx="288036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50808" y="3291840"/>
            <a:ext cx="26609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가격 외에 실제 생활 안전성까지 비교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85800" y="3931920"/>
            <a:ext cx="1828800" cy="786384"/>
          </a:xfrm>
          <a:prstGeom prst="rect">
            <a:avLst/>
          </a:prstGeom>
          <a:solidFill>
            <a:srgbClr val="EAF2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078224"/>
            <a:ext cx="1609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6FEB"/>
                </a:solidFill>
              </a:rPr>
              <a:t>금융·정책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14600" y="3931920"/>
            <a:ext cx="2971800" cy="78638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24328" y="4078224"/>
            <a:ext cx="2752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대상·목적·대출 조건과 금액 입력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486400" y="3931920"/>
            <a:ext cx="3154680" cy="78638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96128" y="4078224"/>
            <a:ext cx="29352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맞춤 정책을 찾고 금리·월 납입액·상환표 계산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8641080" y="3931920"/>
            <a:ext cx="2880360" cy="786384"/>
          </a:xfrm>
          <a:prstGeom prst="rect">
            <a:avLst/>
          </a:prstGeom>
          <a:solidFill>
            <a:srgbClr val="F7F9FC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50808" y="4078224"/>
            <a:ext cx="26609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지원 가능성과 실제 부담을 함께 파악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685800" y="4718304"/>
            <a:ext cx="1828800" cy="786384"/>
          </a:xfrm>
          <a:prstGeom prst="rect">
            <a:avLst/>
          </a:prstGeom>
          <a:solidFill>
            <a:srgbClr val="E7F8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" y="4864608"/>
            <a:ext cx="1609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B4C8"/>
                </a:solidFill>
              </a:rPr>
              <a:t>방문·소통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514600" y="4718304"/>
            <a:ext cx="2971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24328" y="4864608"/>
            <a:ext cx="275234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매물 찜, 방문 시간 예약, 문의·게시글 작성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5486400" y="4718304"/>
            <a:ext cx="315468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96128" y="4864608"/>
            <a:ext cx="293522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예약 상태·알림·답변·댓글·좋아요를 계정별 관리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8641080" y="4718304"/>
            <a:ext cx="288036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750808" y="4864608"/>
            <a:ext cx="2660904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</a:rPr>
              <a:t>정보 확인 뒤 필요한 행동을 바로 실행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1508760" y="5760720"/>
            <a:ext cx="9144000" cy="438912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83080" y="587959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입력 → 분석·정리 → 이해하기 쉬운 결과 → 찜·예약·문의 등 다음 행동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08  DIFFERENCE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기존 서비스가 정보를 보여준다면, ZipAI는 결정을 연결합니다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특정 브랜드의 우열이 아니라 대표적인 서비스 유형과 사용자 경험을 비교했습니다.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297180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2011680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비교 항목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0" y="1828800"/>
            <a:ext cx="192024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12464" y="20116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일반 부동산 앱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577840" y="1828800"/>
            <a:ext cx="192024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32704" y="20116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공공정보 사이트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498080" y="1828800"/>
            <a:ext cx="1920240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52944" y="2011680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단일 안전 서비스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418320" y="1828800"/>
            <a:ext cx="2103120" cy="566928"/>
          </a:xfrm>
          <a:prstGeom prst="rect">
            <a:avLst/>
          </a:prstGeom>
          <a:solidFill>
            <a:srgbClr val="1F6F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73184" y="201168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ZipAI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2395728"/>
            <a:ext cx="297180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551176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</a:rPr>
              <a:t>매물 지도·조건 검색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657600" y="2395728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2551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779"/>
                </a:solidFill>
              </a:rPr>
              <a:t>●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77840" y="2395728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50992" y="2551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4C"/>
                </a:solidFill>
              </a:rPr>
              <a:t>△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98080" y="2395728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255117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418320" y="2395728"/>
            <a:ext cx="2103120" cy="521208"/>
          </a:xfrm>
          <a:prstGeom prst="rect">
            <a:avLst/>
          </a:prstGeom>
          <a:solidFill>
            <a:srgbClr val="EDF4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91472" y="255117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●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5800" y="2916936"/>
            <a:ext cx="297180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072384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</a:rPr>
              <a:t>LH·행복주택·정책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3657600" y="2916936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30752" y="30723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4C"/>
                </a:solidFill>
              </a:rPr>
              <a:t>△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77840" y="2916936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0992" y="30723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779"/>
                </a:solidFill>
              </a:rPr>
              <a:t>●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98080" y="2916936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307238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418320" y="2916936"/>
            <a:ext cx="2103120" cy="521208"/>
          </a:xfrm>
          <a:prstGeom prst="rect">
            <a:avLst/>
          </a:prstGeom>
          <a:solidFill>
            <a:srgbClr val="EDF4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91472" y="307238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●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85800" y="3438144"/>
            <a:ext cx="297180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3593592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</a:rPr>
              <a:t>지역 치안·생활 안전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3657600" y="3438144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30752" y="35935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4C"/>
                </a:solidFill>
              </a:rPr>
              <a:t>△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577840" y="3438144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35935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7498080" y="3438144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71232" y="359359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20A779"/>
                </a:solidFill>
              </a:rPr>
              <a:t>●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9418320" y="3438144"/>
            <a:ext cx="2103120" cy="521208"/>
          </a:xfrm>
          <a:prstGeom prst="rect">
            <a:avLst/>
          </a:prstGeom>
          <a:solidFill>
            <a:srgbClr val="EDF4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491472" y="3593592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●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85800" y="3959352"/>
            <a:ext cx="297180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8952" y="4114800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</a:rPr>
              <a:t>전세사기 자가 점검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3657600" y="3959352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30752" y="4114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4C"/>
                </a:solidFill>
              </a:rPr>
              <a:t>△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577840" y="3959352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50992" y="4114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7498080" y="3959352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4114800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4C"/>
                </a:solidFill>
              </a:rPr>
              <a:t>△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9418320" y="3959352"/>
            <a:ext cx="2103120" cy="521208"/>
          </a:xfrm>
          <a:prstGeom prst="rect">
            <a:avLst/>
          </a:prstGeom>
          <a:solidFill>
            <a:srgbClr val="EDF4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91472" y="4114800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●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685800" y="4480560"/>
            <a:ext cx="297180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" y="4636008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</a:rPr>
              <a:t>방문 예약·커뮤니티</a:t>
            </a:r>
            <a:endParaRPr lang="en-US" sz="1120" dirty="0"/>
          </a:p>
        </p:txBody>
      </p:sp>
      <p:sp>
        <p:nvSpPr>
          <p:cNvPr id="57" name="Shape 55"/>
          <p:cNvSpPr/>
          <p:nvPr/>
        </p:nvSpPr>
        <p:spPr>
          <a:xfrm>
            <a:off x="3657600" y="4480560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30752" y="46360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8A4C"/>
                </a:solidFill>
              </a:rPr>
              <a:t>△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577840" y="4480560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650992" y="46360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498080" y="4480560"/>
            <a:ext cx="1920240" cy="521208"/>
          </a:xfrm>
          <a:prstGeom prst="rect">
            <a:avLst/>
          </a:prstGeom>
          <a:solidFill>
            <a:srgbClr val="F5F7FA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71232" y="463600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9418320" y="4480560"/>
            <a:ext cx="2103120" cy="521208"/>
          </a:xfrm>
          <a:prstGeom prst="rect">
            <a:avLst/>
          </a:prstGeom>
          <a:solidFill>
            <a:srgbClr val="EDF4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491472" y="463600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●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685800" y="5001768"/>
            <a:ext cx="297180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8952" y="5157216"/>
            <a:ext cx="2825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43B53"/>
                </a:solidFill>
              </a:rPr>
              <a:t>한 흐름으로 연결</a:t>
            </a:r>
            <a:endParaRPr lang="en-US" sz="1120" dirty="0"/>
          </a:p>
        </p:txBody>
      </p:sp>
      <p:sp>
        <p:nvSpPr>
          <p:cNvPr id="67" name="Shape 65"/>
          <p:cNvSpPr/>
          <p:nvPr/>
        </p:nvSpPr>
        <p:spPr>
          <a:xfrm>
            <a:off x="3657600" y="5001768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0752" y="515721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5577840" y="5001768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650992" y="515721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7498080" y="5001768"/>
            <a:ext cx="1920240" cy="521208"/>
          </a:xfrm>
          <a:prstGeom prst="rect">
            <a:avLst/>
          </a:prstGeom>
          <a:solidFill>
            <a:srgbClr val="FFFF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71232" y="515721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</a:rPr>
              <a:t>—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9418320" y="5001768"/>
            <a:ext cx="2103120" cy="521208"/>
          </a:xfrm>
          <a:prstGeom prst="rect">
            <a:avLst/>
          </a:prstGeom>
          <a:solidFill>
            <a:srgbClr val="EDF4FF"/>
          </a:solidFill>
          <a:ln w="8890">
            <a:solidFill>
              <a:srgbClr val="D9E2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91472" y="515721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B"/>
                </a:solidFill>
              </a:rPr>
              <a:t>●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822960" y="56235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7D98"/>
                </a:solidFill>
              </a:rPr>
              <a:t>● 핵심 제공   △ 부분 제공/서비스별 상이   — 주요 목적 아님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989320" y="550468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FF7F1"/>
          </a:solidFill>
          <a:ln w="12700">
            <a:solidFill>
              <a:srgbClr val="DFF7F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89320" y="55549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0A779"/>
                </a:solidFill>
              </a:rPr>
              <a:t>ZipAI만의 차이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98080" y="555955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</a:rPr>
              <a:t>비교→판단→점검→행동이 한 서비스에서 이어짐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09  WHY ZIPAI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ZipAI가 사용자에게 주는 4가지 실질적 장점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정보의 양보다 “잘못된 선택을 줄이는 과정”에 집중합니다.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52303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" y="214884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2357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21488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검색 시간을 줄입니다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920" y="27157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일반 매물과 공공주택, 정책 정보를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여러 사이트에서 다시 찾을 필요가 없습니다.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960120" y="3319272"/>
            <a:ext cx="4617720" cy="0"/>
          </a:xfrm>
          <a:prstGeom prst="line">
            <a:avLst/>
          </a:prstGeom>
          <a:noFill/>
          <a:ln w="31750">
            <a:solidFill>
              <a:srgbClr val="1F6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874520"/>
            <a:ext cx="52303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2148840"/>
            <a:ext cx="502920" cy="502920"/>
          </a:xfrm>
          <a:prstGeom prst="ellipse">
            <a:avLst/>
          </a:prstGeom>
          <a:solidFill>
            <a:srgbClr val="FF8A4C"/>
          </a:solidFill>
          <a:ln w="12700">
            <a:solidFill>
              <a:srgbClr val="FF8A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22357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178040" y="214884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초보자도 판단할 수 있습니다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71576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어려운 전세가율과 계약 확인 항목을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계산기·체크리스트·결과 리포트로 풉니다.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92240" y="3319272"/>
            <a:ext cx="4617720" cy="0"/>
          </a:xfrm>
          <a:prstGeom prst="line">
            <a:avLst/>
          </a:prstGeom>
          <a:noFill/>
          <a:ln w="31750">
            <a:solidFill>
              <a:srgbClr val="FF8A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840480"/>
            <a:ext cx="52303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1832" y="4114800"/>
            <a:ext cx="502920" cy="502920"/>
          </a:xfrm>
          <a:prstGeom prst="ellipse">
            <a:avLst/>
          </a:prstGeom>
          <a:solidFill>
            <a:srgbClr val="20A779"/>
          </a:solidFill>
          <a:ln w="12700">
            <a:solidFill>
              <a:srgbClr val="20A7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2016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411480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가격 밖의 위험을 봅니다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5920" y="46817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CCTV·비상벨·치안시설과 밤길 정보를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지도와 점수로 함께 확인합니다.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60120" y="5285232"/>
            <a:ext cx="4617720" cy="0"/>
          </a:xfrm>
          <a:prstGeom prst="line">
            <a:avLst/>
          </a:prstGeom>
          <a:noFill/>
          <a:ln w="31750">
            <a:solidFill>
              <a:srgbClr val="20A77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840480"/>
            <a:ext cx="5230368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4114800"/>
            <a:ext cx="502920" cy="502920"/>
          </a:xfrm>
          <a:prstGeom prst="ellipse">
            <a:avLst/>
          </a:prstGeom>
          <a:solidFill>
            <a:srgbClr val="2BB4C8"/>
          </a:solidFill>
          <a:ln w="12700">
            <a:solidFill>
              <a:srgbClr val="2BB4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42016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78040" y="4114800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확인에서 행동으로 이어집니다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178040" y="468172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찜하기, 방문 예약, 문의, 커뮤니티까지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627D98"/>
                </a:solidFill>
              </a:rPr>
              <a:t>다음 행동을 서비스 안에서 이어갑니다.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492240" y="5285232"/>
            <a:ext cx="4617720" cy="0"/>
          </a:xfrm>
          <a:prstGeom prst="line">
            <a:avLst/>
          </a:prstGeom>
          <a:noFill/>
          <a:ln w="31750">
            <a:solidFill>
              <a:srgbClr val="2BB4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5815584"/>
            <a:ext cx="8549640" cy="384048"/>
          </a:xfrm>
          <a:prstGeom prst="roundRect">
            <a:avLst>
              <a:gd name="adj" fmla="val 285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5916168"/>
            <a:ext cx="8001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한 문장 요약  |  “어떤 집이 있는지”를 넘어 “이 집을 선택해도 되는지”까지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6FEB"/>
                </a:solidFill>
              </a:rPr>
              <a:t>10  NEXT STEP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</a:rPr>
              <a:t>프로토타입에서 실제 서비스로 가기 위한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27D98"/>
                </a:solidFill>
              </a:rPr>
              <a:t>현재 한계를 명확히 정의하고 데이터·신뢰·운영 순서로 확장합니다.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FF8F4"/>
          </a:solidFill>
          <a:ln w="12700">
            <a:solidFill>
              <a:srgbClr val="F5D6C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1488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8A4C"/>
                </a:solidFill>
              </a:rPr>
              <a:t>현재 한계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87552" y="27432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브라우저 저장 중심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23160" y="27249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회원·매물·문의 데이터가 서버 DB에 영속화되지 않음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98755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모의 인증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343814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로그인·관리자 권한이 실제 보안 인증 구조가 아님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987552" y="416966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부분 자동화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41513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주소 좌표 변환과 공고별 자격 조건 수집이 제한적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987552" y="48828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43B53"/>
                </a:solidFill>
              </a:rPr>
              <a:t>검증 범위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23160" y="486460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27D98"/>
                </a:solidFill>
              </a:rPr>
              <a:t>매물 소유·중개사 자격·허위매물 여부를 검증하지 않음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36208" y="1828800"/>
            <a:ext cx="5285232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47104" y="21488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6FEB"/>
                </a:solidFill>
              </a:rPr>
              <a:t>확장 로드맵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547104" y="27614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47104" y="28483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14032" y="27614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데이터 기반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21040" y="27614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DB·서버 인증·파일 저장소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39128" y="3154680"/>
            <a:ext cx="0" cy="292608"/>
          </a:xfrm>
          <a:prstGeom prst="line">
            <a:avLst/>
          </a:prstGeom>
          <a:noFill/>
          <a:ln w="25400">
            <a:solidFill>
              <a:srgbClr val="AFC6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47104" y="34472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47104" y="35341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14032" y="34472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신뢰 강화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21040" y="34472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중개사/매물 검증·신고/제재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739128" y="3840480"/>
            <a:ext cx="0" cy="292608"/>
          </a:xfrm>
          <a:prstGeom prst="line">
            <a:avLst/>
          </a:prstGeom>
          <a:noFill/>
          <a:ln w="25400">
            <a:solidFill>
              <a:srgbClr val="AFC6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47104" y="4133088"/>
            <a:ext cx="384048" cy="38404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47104" y="42199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114032" y="41330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자동화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21040" y="41330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주소 지오코딩·공고 조건 수집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39128" y="4526280"/>
            <a:ext cx="0" cy="292608"/>
          </a:xfrm>
          <a:prstGeom prst="line">
            <a:avLst/>
          </a:prstGeom>
          <a:noFill/>
          <a:ln w="25400">
            <a:solidFill>
              <a:srgbClr val="AFC6D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47104" y="4818888"/>
            <a:ext cx="384048" cy="384048"/>
          </a:xfrm>
          <a:prstGeom prst="ellipse">
            <a:avLst/>
          </a:prstGeom>
          <a:solidFill>
            <a:srgbClr val="20A779"/>
          </a:solidFill>
          <a:ln w="12700">
            <a:solidFill>
              <a:srgbClr val="20A7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47104" y="49057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14032" y="4818888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A43"/>
                </a:solidFill>
              </a:rPr>
              <a:t>운영 품질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321040" y="48188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</a:rPr>
              <a:t>API 모니터링·접근성·모바일 테스트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510528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3840480"/>
            <a:ext cx="4754880" cy="4754880"/>
          </a:xfrm>
          <a:prstGeom prst="ellipse">
            <a:avLst/>
          </a:prstGeom>
          <a:solidFill>
            <a:srgbClr val="153E63"/>
          </a:solidFill>
          <a:ln w="12700">
            <a:solidFill>
              <a:srgbClr val="153E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-1828800"/>
            <a:ext cx="4572000" cy="4572000"/>
          </a:xfrm>
          <a:prstGeom prst="ellipse">
            <a:avLst/>
          </a:prstGeom>
          <a:solidFill>
            <a:srgbClr val="1F6FEB">
              <a:alpha val="78000"/>
            </a:srgbClr>
          </a:solidFill>
          <a:ln w="12700">
            <a:solidFill>
              <a:srgbClr val="1F6FE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685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5D6C2"/>
                </a:solidFill>
              </a:rPr>
              <a:t>ZipAI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25880" y="1965960"/>
            <a:ext cx="9509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집을 찾는 서비스에서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25880" y="2651760"/>
            <a:ext cx="9509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집을 결정하는 서비스로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011680" y="3520440"/>
            <a:ext cx="8183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B7CCE2"/>
                </a:solidFill>
              </a:rPr>
              <a:t>탐색 · 정책 · 생활권 · 안전을 하나의 사용자 여정으로 연결합니다.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096512" y="4663440"/>
            <a:ext cx="3995928" cy="694944"/>
          </a:xfrm>
          <a:prstGeom prst="roundRect">
            <a:avLst>
              <a:gd name="adj" fmla="val 15789"/>
            </a:avLst>
          </a:prstGeom>
          <a:solidFill>
            <a:srgbClr val="153E63"/>
          </a:solidFill>
          <a:ln w="12700">
            <a:solidFill>
              <a:srgbClr val="2E5D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4892040"/>
            <a:ext cx="3429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THANK YOU  ·  Q&amp;A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ZipAI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ZipAI — 청년 주거 의사결정 플랫폼</dc:title>
  <dc:subject>ZipAI 프로젝트 발표</dc:subject>
  <dc:creator>ZipAI Team</dc:creator>
  <cp:lastModifiedBy>ZipAI Team</cp:lastModifiedBy>
  <cp:revision>1</cp:revision>
  <dcterms:created xsi:type="dcterms:W3CDTF">2026-08-06T07:45:12Z</dcterms:created>
  <dcterms:modified xsi:type="dcterms:W3CDTF">2026-08-06T07:45:12Z</dcterms:modified>
</cp:coreProperties>
</file>