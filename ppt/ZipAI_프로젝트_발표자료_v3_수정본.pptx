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autoCompressPictures="0">
  <p:sldMasterIdLst>
    <p:sldMasterId id="2147483652"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presProps" Target="presProps.xml"  /><Relationship Id="rId18" Type="http://schemas.openxmlformats.org/officeDocument/2006/relationships/viewProps" Target="viewProps.xml"  /><Relationship Id="rId19" Type="http://schemas.openxmlformats.org/officeDocument/2006/relationships/theme" Target="theme/theme1.xml"  /><Relationship Id="rId2" Type="http://schemas.openxmlformats.org/officeDocument/2006/relationships/notesMaster" Target="notesMasters/notesMaster1.xml"  /><Relationship Id="rId20" Type="http://schemas.openxmlformats.org/officeDocument/2006/relationships/tableStyles" Target="tableStyles.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idx="0"/>
          </p:nvPr>
        </p:nvSpPr>
        <p:spPr>
          <a:xfrm>
            <a:off x="0" y="0"/>
            <a:ext cx="2971800" cy="458788"/>
          </a:xfrm>
          <a:prstGeom prst="rect">
            <a:avLst/>
          </a:prstGeom>
        </p:spPr>
        <p:txBody>
          <a:bodyPr vert="horz" lIns="91440" tIns="45720" rIns="91440" bIns="45720"/>
          <a:lstStyle>
            <a:lvl1pPr algn="l">
              <a:defRPr sz="1200"/>
            </a:lvl1pPr>
          </a:lstStyle>
          <a:p>
            <a:pPr lvl="0">
              <a:defRPr/>
            </a:pPr>
            <a:r>
              <a:rPr lang="ko-KR" altLang="en-US"/>
              <a:t/>
            </a:r>
            <a:endParaRPr lang="ko-KR"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8/7/2026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endParaRPr lang="en-US"/>
          </a:p>
          <a:p>
            <a:pPr lvl="1">
              <a:defRPr/>
            </a:pPr>
            <a:r>
              <a:rPr lang="en-US"/>
              <a:t>Second level</a:t>
            </a:r>
            <a:endParaRPr lang="en-US"/>
          </a:p>
          <a:p>
            <a:pPr lvl="2">
              <a:defRPr/>
            </a:pPr>
            <a:r>
              <a:rPr lang="en-US"/>
              <a:t>Third level</a:t>
            </a:r>
            <a:endParaRPr lang="en-US"/>
          </a:p>
          <a:p>
            <a:pPr lvl="3">
              <a:defRPr/>
            </a:pPr>
            <a:r>
              <a:rPr lang="en-US"/>
              <a:t>Fourth level</a:t>
            </a:r>
            <a:endParaRPr lang="en-US"/>
          </a:p>
          <a:p>
            <a:pPr lvl="4">
              <a:defRPr/>
            </a:pPr>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r>
              <a:rPr lang="ko-KR" altLang="en-US"/>
              <a:t/>
            </a:r>
            <a:endParaRPr lang="ko-KR"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notesSlide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1. 표지</a:t>
            </a:r>
            <a:endParaRPr lang="en-US"/>
          </a:p>
          <a:p>
            <a:pPr lvl="0">
              <a:defRPr/>
            </a:pPr>
            <a:endParaRPr lang="en-US"/>
          </a:p>
          <a:p>
            <a:pPr lvl="0">
              <a:defRPr/>
            </a:pPr>
            <a:r>
              <a:rPr lang="en-US"/>
              <a:t>안녕하세요. 저희는 청년과 사회초년생이 집을 찾는 순간부터 계약을 준비하는 단계까지 더 안전하게 의사결정할 수 있도록 돕는 ZipAI를 개발했습니다. 오늘은 왜 이 서비스를 기획했는지, 어떤 기능과 구조로 구현했는지, 그리고 앞으로 어떻게 발전시킬지 순서대로 말씀드리겠습니다.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a:t>
            </a:fld>
            <a:endParaRPr lang="en-US"/>
          </a:p>
        </p:txBody>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2. 프로젝트 소개</a:t>
            </a:r>
            <a:endParaRPr lang="en-US"/>
          </a:p>
          <a:p>
            <a:pPr lvl="0">
              <a:defRPr/>
            </a:pPr>
            <a:endParaRPr lang="en-US"/>
          </a:p>
          <a:p>
            <a:pPr lvl="0">
              <a:defRPr/>
            </a:pPr>
            <a:r>
              <a:rPr lang="en-US"/>
              <a:t>주거 선택은 단순히 가격과 위치를 비교하는 일이 아닙니다. 청년 임차인은 매물 정보뿐 아니라 주변 안전, 전세사기 위험, 대출과 지원 정책까지 따로 확인해야 합니다. ZipAI는 이 분절된 과정을 하나의 흐름으로 묶어, 사용자가 정보를 이해하고 실제 행동으로 옮길 수 있게 하는 것을 목표로 했습니다.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3. 팀 소개 및 역할</a:t>
            </a:r>
            <a:endParaRPr lang="en-US"/>
          </a:p>
          <a:p>
            <a:pPr lvl="0">
              <a:defRPr/>
            </a:pPr>
            <a:endParaRPr lang="en-US"/>
          </a:p>
          <a:p>
            <a:pPr lvl="0">
              <a:defRPr/>
            </a:pPr>
            <a:r>
              <a:rPr lang="en-US"/>
              <a:t>저희 팀은 영역별로 기능을 나누되 공통 헤더와 푸터, 디자인 언어, 데이터 흐름을 맞추는 방식으로 협업했습니다. 특히 매물 탐색과 계약 안전, 금융 정책, 지역 위험도처럼 서로 다른 기능이 사용자 입장에서는 하나의 서비스처럼 이어지도록 통합하는 데 집중했습니다.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3</a:t>
            </a:fld>
            <a:endParaRPr lang="en-US"/>
          </a:p>
        </p:txBody>
      </p:sp>
    </p:spTree>
  </p:cSld>
  <p:clrMapOvr>
    <a:masterClrMapping/>
  </p:clrMapOvr>
</p:notes>
</file>

<file path=ppt/notesSlides/notesSlide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4. 개발 환경</a:t>
            </a:r>
            <a:endParaRPr lang="en-US"/>
          </a:p>
          <a:p>
            <a:pPr lvl="0">
              <a:defRPr/>
            </a:pPr>
            <a:endParaRPr lang="en-US"/>
          </a:p>
          <a:p>
            <a:pPr lvl="0">
              <a:defRPr/>
            </a:pPr>
            <a:r>
              <a:rPr lang="en-US"/>
              <a:t>프론트엔드는 HTML, CSS, JavaScript와 Leaflet을 중심으로 빠르게 시연할 수 있게 만들었습니다. 동시에 Java 21과 Spring Boot 3.5.x, JPA, Flyway, MySQL을 도입해 회원, 매물, 문의, 방문 예약 같은 핵심 데이터를 서버에 저장할 수 있는 구조를 마련했습니다. 배포는 Netlify와 Render를 활용하고 Docker와 GitHub 기반 협업 환경을 구성했습니다.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4</a:t>
            </a:fld>
            <a:endParaRPr lang="en-US"/>
          </a:p>
        </p:txBody>
      </p:sp>
    </p:spTree>
  </p:cSld>
  <p:clrMapOvr>
    <a:masterClrMapping/>
  </p:clrMapOvr>
</p:notes>
</file>

<file path=ppt/notesSlides/notesSlide5.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5. 프로젝트 구조 및 코드 설계</a:t>
            </a:r>
            <a:endParaRPr lang="en-US"/>
          </a:p>
          <a:p>
            <a:pPr lvl="0">
              <a:defRPr/>
            </a:pPr>
            <a:endParaRPr lang="en-US"/>
          </a:p>
          <a:p>
            <a:pPr lvl="0">
              <a:defRPr/>
            </a:pPr>
            <a:r>
              <a:rPr lang="en-US"/>
              <a:t>코드는 화면, API, 도메인 서비스, 저장소와 데이터 계층을 분리했습니다. 예를 들어 매물 요청은 PropertyController에서 받고 서비스와 저장소를 통해 PropertyListing으로 연결됩니다. 인증도 AuthController, AuthService, UserRepository로 역할을 나눴습니다. 이 구조는 현재 구현된 기능을 유지하면서 이후 추천이나 데이터 자동화 모듈을 추가하기 쉽게 합니다.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5</a:t>
            </a:fld>
            <a:endParaRPr lang="en-US"/>
          </a:p>
        </p:txBody>
      </p:sp>
    </p:spTree>
  </p:cSld>
  <p:clrMapOvr>
    <a:masterClrMapping/>
  </p:clrMapOvr>
</p:notes>
</file>

<file path=ppt/notesSlides/notesSlide6.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6. 서비스 기획 및 사용자 동선</a:t>
            </a:r>
            <a:endParaRPr lang="en-US"/>
          </a:p>
          <a:p>
            <a:pPr lvl="0">
              <a:defRPr/>
            </a:pPr>
            <a:endParaRPr lang="en-US"/>
          </a:p>
          <a:p>
            <a:pPr lvl="0">
              <a:defRPr/>
            </a:pPr>
            <a:r>
              <a:rPr lang="en-US"/>
              <a:t>사용자는 먼저 지도와 목록에서 후보 매물을 찾습니다. 다음으로 지역 안전과 계약 위험을 비교하고, 필요한 금융 정책이나 공공임대 정보를 확인합니다. 마지막에는 찜하기, 방문 예약, 문의로 이어집니다. 중요한 점은 기능을 나열한 것이 아니라 각 결과가 다음 행동을 안내하도록 연결했다는 것입니다.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6</a:t>
            </a:fld>
            <a:endParaRPr lang="en-US"/>
          </a:p>
        </p:txBody>
      </p:sp>
    </p:spTree>
  </p:cSld>
  <p:clrMapOvr>
    <a:masterClrMapping/>
  </p:clrMapOvr>
</p:notes>
</file>

<file path=ppt/notesSlides/notesSlide7.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7. 핵심 구현 화면 - 매물 탐색</a:t>
            </a:r>
            <a:endParaRPr lang="en-US"/>
          </a:p>
          <a:p>
            <a:pPr lvl="0">
              <a:defRPr/>
            </a:pPr>
            <a:endParaRPr lang="en-US"/>
          </a:p>
          <a:p>
            <a:pPr lvl="0">
              <a:defRPr/>
            </a:pPr>
            <a:r>
              <a:rPr lang="en-US"/>
              <a:t>메인 화면은 목록과 지도를 동시에 보여 줍니다. 사용자가 지역, 보증금, 월세, 주택 유형과 옵션을 선택하면 결과가 함께 갱신됩니다. 매물 카드를 선택하면 상세 패널을 열고 찜하기 상태를 로컬 저장소와 동기화합니다. 또한 경기도 매물을 등록하는 시연 흐름도 구현했습니다.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7</a:t>
            </a:fld>
            <a:endParaRPr lang="en-US"/>
          </a:p>
        </p:txBody>
      </p:sp>
    </p:spTree>
  </p:cSld>
  <p:clrMapOvr>
    <a:masterClrMapping/>
  </p:clrMapOvr>
</p:notes>
</file>

<file path=ppt/notesSlides/notesSlide8.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8. 핵심 구현 화면 - 계약·지역 안전</a:t>
            </a:r>
            <a:endParaRPr lang="en-US"/>
          </a:p>
          <a:p>
            <a:pPr lvl="0">
              <a:defRPr/>
            </a:pPr>
            <a:endParaRPr lang="en-US"/>
          </a:p>
          <a:p>
            <a:pPr lvl="0">
              <a:defRPr/>
            </a:pPr>
            <a:r>
              <a:rPr lang="en-US"/>
              <a:t>안전 기능은 네 부분으로 구성됩니다. 계약 단계별 체크리스트, 전세가율 계산기, 결과 리포트, 지역 안전 지도입니다. 단순히 점수만 보여 주는 것이 아니라 위험 신호가 발견되면 등기부등본 재확인이나 보증보험 가능 여부처럼 사용자가 바로 실행할 행동을 안내합니다.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8</a:t>
            </a:fld>
            <a:endParaRPr lang="en-US"/>
          </a:p>
        </p:txBody>
      </p:sp>
    </p:spTree>
  </p:cSld>
  <p:clrMapOvr>
    <a:masterClrMapping/>
  </p:clrMapOvr>
</p:notes>
</file>

<file path=ppt/notesSlides/notesSlide9.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9. 주요 확장 화면</a:t>
            </a:r>
            <a:endParaRPr lang="en-US"/>
          </a:p>
          <a:p>
            <a:pPr lvl="0">
              <a:defRPr/>
            </a:pPr>
            <a:endParaRPr lang="en-US"/>
          </a:p>
          <a:p>
            <a:pPr lvl="0">
              <a:defRPr/>
            </a:pPr>
            <a:r>
              <a:rPr lang="en-US"/>
              <a:t>ZipAI는 집을 찾는 화면에서 끝나지 않습니다. LH 공고와 행복주택 자격 정보를 확인하고, 청년 금융 정책을 조건별로 찾으며, 금리와 상환 계획을 계산할 수 있습니다. 이후에는 방문 예약과 알림, 커뮤니티와 문의 기능을 통해 실제 행동까지 이어집니다.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9</a:t>
            </a:fld>
            <a:endParaRPr lang="en-US"/>
          </a:p>
        </p:txBody>
      </p:sp>
    </p:spTree>
  </p:cSld>
  <p:clrMapOvr>
    <a:masterClrMapping/>
  </p:clrMapOvr>
</p:notes>
</file>

<file path=ppt/notesSlides/notesSlide10.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10. 구현 기능</a:t>
            </a:r>
            <a:endParaRPr lang="en-US"/>
          </a:p>
          <a:p>
            <a:pPr lvl="0">
              <a:defRPr/>
            </a:pPr>
            <a:endParaRPr lang="en-US"/>
          </a:p>
          <a:p>
            <a:pPr lvl="0">
              <a:defRPr/>
            </a:pPr>
            <a:r>
              <a:rPr lang="en-US"/>
              <a:t>프론트 시연으로 시작한 기능을 서버 구조로 옮기고 있습니다. 인증은 컨트롤러, 서비스, 저장소로 분리했고 매물, 문의, 커뮤니티, 알림, 방문 요청 도메인을 구현했습니다. Flyway로 스키마를 관리하고 Docker와 Render 배포 구성을 마련해 실제 운영에 필요한 기반을 갖췄습니다.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10</a:t>
            </a:fld>
            <a:endParaRPr lang="en-US"/>
          </a:p>
        </p:txBody>
      </p:sp>
    </p:spTree>
  </p:cSld>
  <p:clrMapOvr>
    <a:masterClrMapping/>
  </p:clrMapOvr>
</p:notes>
</file>

<file path=ppt/notesSlides/notesSlide11.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11. 프로젝트 시연</a:t>
            </a:r>
            <a:endParaRPr lang="en-US"/>
          </a:p>
          <a:p>
            <a:pPr lvl="0">
              <a:defRPr/>
            </a:pPr>
            <a:endParaRPr lang="en-US"/>
          </a:p>
          <a:p>
            <a:pPr lvl="0">
              <a:defRPr/>
            </a:pPr>
            <a:r>
              <a:rPr lang="en-US"/>
              <a:t>시연은 한 사용자의 흐름을 따라갑니다. 먼저 지역과 조건으로 후보를 좁히고, 상세 화면에서 찜합니다. 이어서 계약 안전을 진단하고 관련 정책을 확인한 뒤 방문 예약까지 진행합니다. 이때 필터가 즉시 반영되는지, 데이터가 유지되는지, 각 결과가 다음 행동으로 연결되는지를 중심으로 봐 주시면 됩니다.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11</a:t>
            </a:fld>
            <a:endParaRPr lang="en-US"/>
          </a:p>
        </p:txBody>
      </p:sp>
    </p:spTree>
  </p:cSld>
  <p:clrMapOvr>
    <a:masterClrMapping/>
  </p:clrMapOvr>
</p:notes>
</file>

<file path=ppt/notesSlides/notesSlide1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12. 향후 개발 계획</a:t>
            </a:r>
            <a:endParaRPr lang="en-US"/>
          </a:p>
          <a:p>
            <a:pPr lvl="0">
              <a:defRPr/>
            </a:pPr>
            <a:endParaRPr lang="en-US"/>
          </a:p>
          <a:p>
            <a:pPr lvl="0">
              <a:defRPr/>
            </a:pPr>
            <a:r>
              <a:rPr lang="en-US"/>
              <a:t>다음 단계는 세 구간입니다. 먼저 회원, 게시판, DB 연동을 안정화합니다. 이후 RPA를 활용해 부동산과 공공 데이터를 정기적으로 수집하고 갱신합니다. 마지막으로 충분한 데이터와 검증 체계를 확보한 뒤 맞춤 매물 추천, 가격 예측, 지역 분석, AI 챗봇을 도입할 계획입니다.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12</a:t>
            </a:fld>
            <a:endParaRPr lang="en-US"/>
          </a:p>
        </p:txBody>
      </p:sp>
    </p:spTree>
  </p:cSld>
  <p:clrMapOvr>
    <a:masterClrMapping/>
  </p:clrMapOvr>
</p:notes>
</file>

<file path=ppt/notesSlides/notesSlide1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13. 프로젝트 회고</a:t>
            </a:r>
            <a:endParaRPr lang="en-US"/>
          </a:p>
          <a:p>
            <a:pPr lvl="0">
              <a:defRPr/>
            </a:pPr>
            <a:endParaRPr lang="en-US"/>
          </a:p>
          <a:p>
            <a:pPr lvl="0">
              <a:defRPr/>
            </a:pPr>
            <a:r>
              <a:rPr lang="en-US"/>
              <a:t>잘된 점은 사용자 여정을 중심으로 기능을 연결하고, 역할을 나눠 빠르게 구현한 것입니다. 아쉬운 점은 일부 기능이 가상 데이터에 의존하고 외부 데이터의 형식과 갱신 주기가 다르다는 것입니다. 다음에는 API 규격과 오류 처리를 통일하고, 자동 수집 뒤 데이터 품질을 검증하는 과정을 먼저 만들겠습니다.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13</a:t>
            </a:fld>
            <a:endParaRPr lang="en-US"/>
          </a:p>
        </p:txBody>
      </p:sp>
    </p:spTree>
  </p:cSld>
  <p:clrMapOvr>
    <a:masterClrMapping/>
  </p:clrMapOvr>
</p:notes>
</file>

<file path=ppt/notesSlides/notesSlide14.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idx="0"/>
          </p:nvPr>
        </p:nvSpPr>
        <p:spPr/>
      </p:sp>
      <p:sp>
        <p:nvSpPr>
          <p:cNvPr id="3" name="Notes Placeholder 2"/>
          <p:cNvSpPr>
            <a:spLocks noGrp="1"/>
          </p:cNvSpPr>
          <p:nvPr>
            <p:ph type="body" idx="1"/>
          </p:nvPr>
        </p:nvSpPr>
        <p:spPr/>
        <p:txBody>
          <a:bodyPr/>
          <a:lstStyle/>
          <a:p>
            <a:pPr lvl="0">
              <a:defRPr/>
            </a:pPr>
            <a:r>
              <a:rPr lang="en-US"/>
              <a:t>슬라이드 14. 마무리 및 Q&amp;A</a:t>
            </a:r>
            <a:endParaRPr lang="en-US"/>
          </a:p>
          <a:p>
            <a:pPr lvl="0">
              <a:defRPr/>
            </a:pPr>
            <a:endParaRPr lang="en-US"/>
          </a:p>
          <a:p>
            <a:pPr lvl="0">
              <a:defRPr/>
            </a:pPr>
            <a:r>
              <a:rPr lang="en-US"/>
              <a:t>정리하면 ZipAI는 매물 정보를 더 많이 보여 주는 서비스가 아니라, 청년 임차인이 흩어진 정보를 이해하고 안전한 결정을 내리도록 돕는 플랫폼입니다. 지도 탐색, 계약 진단, 정책 확인과 방문 행동을 하나로 연결했다는 점이 핵심입니다. 이상으로 발표를 마치겠습니다. 질문 부탁드립니다.</a:t>
            </a:r>
            <a:endParaRPr lang="en-US"/>
          </a:p>
          <a:p>
            <a:pPr lvl="0">
              <a:defRPr/>
            </a:pPr>
            <a:endParaRPr lang="en-US"/>
          </a:p>
          <a:p>
            <a:pPr lvl="0">
              <a:defRPr/>
            </a:pPr>
            <a:r>
              <a:rPr lang="en-US"/>
              <a:t>[Sources]</a:t>
            </a:r>
            <a:endParaRPr lang="en-US"/>
          </a:p>
          <a:p>
            <a:pPr lvl="0">
              <a:defRPr/>
            </a:pPr>
            <a:r>
              <a:rPr lang="en-US"/>
              <a:t>- 프로젝트 저장소의 README.md 및 구현 파일(2026-08-07 확인)</a:t>
            </a:r>
            <a:endParaRPr lang="en-US"/>
          </a:p>
          <a:p>
            <a:pPr lvl="0">
              <a:defRPr/>
            </a:pPr>
            <a:r>
              <a:rPr lang="en-US"/>
              <a:t>[/Sources]</a:t>
            </a: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AF9"/>
        </a:solidFill>
      </p:bgPr>
    </p:bg>
    <p:spTree>
      <p:nvGrpSpPr>
        <p:cNvPr id="1" name=""/>
        <p:cNvGrpSpPr/>
        <p:nvPr/>
      </p:nvGrpSpPr>
      <p:grpSpPr>
        <a:xfrm>
          <a:off x="0" y="0"/>
          <a:ext cx="0" cy="0"/>
          <a:chOff x="0" y="0"/>
          <a:chExt cx="0" cy="0"/>
        </a:xfrm>
      </p:grpSpPr>
      <p:sp>
        <p:nvSpPr>
          <p:cNvPr id="2" name="Shape 0"/>
          <p:cNvSpPr/>
          <p:nvPr/>
        </p:nvSpPr>
        <p:spPr>
          <a:xfrm>
            <a:off x="502920" y="6519672"/>
            <a:ext cx="11155680" cy="0"/>
          </a:xfrm>
          <a:prstGeom prst="line">
            <a:avLst/>
          </a:prstGeom>
          <a:noFill/>
          <a:ln w="12700">
            <a:solidFill>
              <a:srgbClr val="D9E7E2"/>
            </a:solidFill>
            <a:prstDash val="solid"/>
          </a:ln>
        </p:spPr>
      </p:sp>
      <p:sp>
        <p:nvSpPr>
          <p:cNvPr id="3" name="Text 1"/>
          <p:cNvSpPr/>
          <p:nvPr/>
        </p:nvSpPr>
        <p:spPr>
          <a:xfrm>
            <a:off x="530352" y="6565392"/>
            <a:ext cx="4937760" cy="146304"/>
          </a:xfrm>
          <a:prstGeom prst="rect">
            <a:avLst/>
          </a:prstGeom>
          <a:noFill/>
          <a:ln/>
        </p:spPr>
        <p:txBody>
          <a:bodyPr wrap="square" lIns="0" tIns="0" rIns="0" bIns="0" rtlCol="0" anchor="ctr"/>
          <a:lstStyle/>
          <a:p>
            <a:pPr indent="0" marL="0">
              <a:buNone/>
            </a:pPr>
            <a:r>
              <a:rPr lang="en-US" sz="800" dirty="0">
                <a:solidFill>
                  <a:srgbClr val="668078"/>
                </a:solidFill>
                <a:latin typeface="Malgun Gothic" pitchFamily="34" charset="0"/>
                <a:ea typeface="Malgun Gothic" pitchFamily="34" charset="-122"/>
                <a:cs typeface="Malgun Gothic" pitchFamily="34" charset="-120"/>
              </a:rPr>
              <a:t>ZIPAI · AI 기반 청년 주거 안전 플랫폼</a:t>
            </a:r>
            <a:endParaRPr lang="en-US" sz="800" dirty="0"/>
          </a:p>
        </p:txBody>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notesSlide" Target="../notesSlides/notesSlide2.xml"  /><Relationship Id="rId2"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notesSlide" Target="../notesSlides/notesSlide3.xml"  /><Relationship Id="rId2"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notesSlide" Target="../notesSlides/notesSlide4.xml"  /><Relationship Id="rId2"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notesSlide" Target="../notesSlides/notesSlide5.xml"  /><Relationship Id="rId2"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notesSlide" Target="../notesSlides/notesSlide6.xml"  /><Relationship Id="rId2"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notesSlide" Target="../notesSlides/notesSlide7.xml"  /><Relationship Id="rId2"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notesSlide" Target="../notesSlides/notesSlide8.xml"  /><Relationship Id="rId2"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jpeg"  /><Relationship Id="rId3" Type="http://schemas.openxmlformats.org/officeDocument/2006/relationships/image" Target="../media/image3.png"  /><Relationship Id="rId4" Type="http://schemas.openxmlformats.org/officeDocument/2006/relationships/slideLayout" Target="../slideLayouts/slideLayout2.xml"  /><Relationship Id="rId5" Type="http://schemas.openxmlformats.org/officeDocument/2006/relationships/notesSlide" Target="../notesSlides/notesSlide9.xml"  /></Relationships>
</file>

<file path=ppt/slides/_rels/slide10.xml.rels><?xml version="1.0" encoding="UTF-8" standalone="yes" ?><Relationships xmlns="http://schemas.openxmlformats.org/package/2006/relationships"><Relationship Id="rId1" Type="http://schemas.openxmlformats.org/officeDocument/2006/relationships/notesSlide" Target="../notesSlides/notesSlide10.xml"  /><Relationship Id="rId2"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notesSlide" Target="../notesSlides/notesSlide11.xml"  /><Relationship Id="rId2"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notesSlide" Target="../notesSlides/notesSlide12.xml"  /><Relationship Id="rId2"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notesSlide" Target="../notesSlides/notesSlide13.xml"  /><Relationship Id="rId2"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notesSlide" Target="../notesSlides/notesSlide14.xml"  /><Relationship Id="rId2"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2824"/>
        </a:solidFill>
      </p:bgPr>
    </p:bg>
    <p:spTree>
      <p:nvGrpSpPr>
        <p:cNvPr id="1" name=""/>
        <p:cNvGrpSpPr/>
        <p:nvPr/>
      </p:nvGrpSpPr>
      <p:grpSpPr>
        <a:xfrm>
          <a:off x="0" y="0"/>
          <a:ext cx="0" cy="0"/>
          <a:chOff x="0" y="0"/>
          <a:chExt cx="0" cy="0"/>
        </a:xfrm>
      </p:grpSpPr>
      <p:sp>
        <p:nvSpPr>
          <p:cNvPr id="2" name="Shape 0"/>
          <p:cNvSpPr/>
          <p:nvPr/>
        </p:nvSpPr>
        <p:spPr>
          <a:xfrm>
            <a:off x="8183880" y="0"/>
            <a:ext cx="4005072" cy="6858000"/>
          </a:xfrm>
          <a:prstGeom prst="rect">
            <a:avLst/>
          </a:prstGeom>
          <a:solidFill>
            <a:srgbClr val="145447"/>
          </a:solidFill>
          <a:ln w="12700">
            <a:solidFill>
              <a:srgbClr val="145447"/>
            </a:solidFill>
            <a:prstDash val="solid"/>
          </a:ln>
        </p:spPr>
      </p:sp>
      <p:sp>
        <p:nvSpPr>
          <p:cNvPr id="3" name="Shape 1"/>
          <p:cNvSpPr/>
          <p:nvPr/>
        </p:nvSpPr>
        <p:spPr>
          <a:xfrm>
            <a:off x="8778240" y="594360"/>
            <a:ext cx="2834640" cy="2834640"/>
          </a:xfrm>
          <a:prstGeom prst="ellipse">
            <a:avLst/>
          </a:prstGeom>
          <a:solidFill>
            <a:srgbClr val="52C7B8">
              <a:alpha val="76000"/>
            </a:srgbClr>
          </a:solidFill>
          <a:ln w="12700">
            <a:solidFill>
              <a:srgbClr val="52C7B8">
                <a:alpha val="0"/>
              </a:srgbClr>
            </a:solidFill>
            <a:prstDash val="solid"/>
          </a:ln>
        </p:spPr>
      </p:sp>
      <p:sp>
        <p:nvSpPr>
          <p:cNvPr id="4" name="Shape 2"/>
          <p:cNvSpPr/>
          <p:nvPr/>
        </p:nvSpPr>
        <p:spPr>
          <a:xfrm>
            <a:off x="9646920" y="3246120"/>
            <a:ext cx="1645920" cy="1645920"/>
          </a:xfrm>
          <a:prstGeom prst="ellipse">
            <a:avLst/>
          </a:prstGeom>
          <a:solidFill>
            <a:srgbClr val="F7C948">
              <a:alpha val="85000"/>
            </a:srgbClr>
          </a:solidFill>
          <a:ln w="12700">
            <a:solidFill>
              <a:srgbClr val="F7C948">
                <a:alpha val="0"/>
              </a:srgbClr>
            </a:solidFill>
            <a:prstDash val="solid"/>
          </a:ln>
        </p:spPr>
      </p:sp>
      <p:sp>
        <p:nvSpPr>
          <p:cNvPr id="5" name="Text 3"/>
          <p:cNvSpPr txBox="1"/>
          <p:nvPr/>
        </p:nvSpPr>
        <p:spPr>
          <a:xfrm>
            <a:off x="658368" y="530352"/>
            <a:ext cx="3291840" cy="256032"/>
          </a:xfrm>
          <a:prstGeom prst="rect">
            <a:avLst/>
          </a:prstGeom>
          <a:noFill/>
          <a:ln/>
        </p:spPr>
        <p:txBody>
          <a:bodyPr wrap="square" lIns="0" tIns="0" rIns="0" bIns="0" rtlCol="0" anchor="t">
            <a:normAutofit/>
          </a:bodyPr>
          <a:lstStyle/>
          <a:p>
            <a:pPr algn="l" indent="0" marL="0">
              <a:buNone/>
            </a:pPr>
            <a:r>
              <a:rPr lang="en-US" sz="1300" b="1" dirty="0">
                <a:solidFill>
                  <a:srgbClr val="86E0D2"/>
                </a:solidFill>
                <a:latin typeface="Malgun Gothic" pitchFamily="34" charset="0"/>
                <a:ea typeface="Malgun Gothic" pitchFamily="34" charset="-122"/>
                <a:cs typeface="Malgun Gothic" pitchFamily="34" charset="-120"/>
              </a:rPr>
              <a:t>ZIPAI PROJECT</a:t>
            </a:r>
            <a:endParaRPr lang="en-US" sz="1300" dirty="0"/>
          </a:p>
        </p:txBody>
      </p:sp>
      <p:sp>
        <p:nvSpPr>
          <p:cNvPr id="6" name="Text 4"/>
          <p:cNvSpPr txBox="1"/>
          <p:nvPr/>
        </p:nvSpPr>
        <p:spPr>
          <a:xfrm>
            <a:off x="658368" y="1389888"/>
            <a:ext cx="7315200" cy="1417320"/>
          </a:xfrm>
          <a:prstGeom prst="rect">
            <a:avLst/>
          </a:prstGeom>
          <a:noFill/>
          <a:ln/>
        </p:spPr>
        <p:txBody>
          <a:bodyPr wrap="square" lIns="0" tIns="0" rIns="0" bIns="0" rtlCol="0" anchor="t">
            <a:normAutofit/>
          </a:bodyPr>
          <a:lstStyle/>
          <a:p>
            <a:pPr algn="l" indent="0" marL="0">
              <a:buNone/>
            </a:pPr>
            <a:r>
              <a:rPr lang="en-US" sz="3700" b="1" dirty="0">
                <a:solidFill>
                  <a:srgbClr val="FFFFFF"/>
                </a:solidFill>
                <a:latin typeface="Malgun Gothic" pitchFamily="34" charset="0"/>
                <a:ea typeface="Malgun Gothic" pitchFamily="34" charset="-122"/>
                <a:cs typeface="Malgun Gothic" pitchFamily="34" charset="-120"/>
              </a:rPr>
              <a:t>데이터로 찾고,</a:t>
            </a:r>
            <a:endParaRPr lang="en-US" sz="3700" dirty="0"/>
          </a:p>
          <a:p>
            <a:pPr algn="l" indent="0" marL="0">
              <a:buNone/>
            </a:pPr>
            <a:r>
              <a:rPr lang="en-US" sz="3700" b="1" dirty="0">
                <a:solidFill>
                  <a:srgbClr val="FFFFFF"/>
                </a:solidFill>
                <a:latin typeface="Malgun Gothic" pitchFamily="34" charset="0"/>
                <a:ea typeface="Malgun Gothic" pitchFamily="34" charset="-122"/>
                <a:cs typeface="Malgun Gothic" pitchFamily="34" charset="-120"/>
              </a:rPr>
              <a:t>안전하게 계약하다</a:t>
            </a:r>
            <a:endParaRPr lang="en-US" sz="3700" dirty="0"/>
          </a:p>
        </p:txBody>
      </p:sp>
      <p:sp>
        <p:nvSpPr>
          <p:cNvPr id="7" name="Text 5"/>
          <p:cNvSpPr txBox="1"/>
          <p:nvPr/>
        </p:nvSpPr>
        <p:spPr>
          <a:xfrm>
            <a:off x="685800" y="3063240"/>
            <a:ext cx="5577840" cy="347472"/>
          </a:xfrm>
          <a:prstGeom prst="rect">
            <a:avLst/>
          </a:prstGeom>
          <a:noFill/>
          <a:ln/>
        </p:spPr>
        <p:txBody>
          <a:bodyPr wrap="square" lIns="0" tIns="0" rIns="0" bIns="0" rtlCol="0" anchor="t">
            <a:normAutofit/>
          </a:bodyPr>
          <a:lstStyle/>
          <a:p>
            <a:pPr algn="l" indent="0" marL="0">
              <a:buNone/>
            </a:pPr>
            <a:r>
              <a:rPr lang="en-US" sz="2000" dirty="0">
                <a:solidFill>
                  <a:srgbClr val="CDECE6"/>
                </a:solidFill>
                <a:latin typeface="Malgun Gothic" pitchFamily="34" charset="0"/>
                <a:ea typeface="Malgun Gothic" pitchFamily="34" charset="-122"/>
                <a:cs typeface="Malgun Gothic" pitchFamily="34" charset="-120"/>
              </a:rPr>
              <a:t>AI 기반 청년 주거 안전 플랫폼</a:t>
            </a:r>
            <a:endParaRPr lang="en-US" sz="2000" dirty="0"/>
          </a:p>
        </p:txBody>
      </p:sp>
      <p:sp>
        <p:nvSpPr>
          <p:cNvPr id="8" name="Text 6"/>
          <p:cNvSpPr txBox="1"/>
          <p:nvPr/>
        </p:nvSpPr>
        <p:spPr>
          <a:xfrm>
            <a:off x="685800" y="3703320"/>
            <a:ext cx="6766560" cy="502920"/>
          </a:xfrm>
          <a:prstGeom prst="rect">
            <a:avLst/>
          </a:prstGeom>
          <a:noFill/>
          <a:ln/>
        </p:spPr>
        <p:txBody>
          <a:bodyPr wrap="square" lIns="0" tIns="0" rIns="0" bIns="0" rtlCol="0" anchor="t">
            <a:normAutofit/>
          </a:bodyPr>
          <a:lstStyle/>
          <a:p>
            <a:pPr algn="l" indent="0" marL="0">
              <a:buNone/>
            </a:pPr>
            <a:r>
              <a:rPr lang="en-US" sz="1500" dirty="0">
                <a:solidFill>
                  <a:srgbClr val="A7CBC4"/>
                </a:solidFill>
                <a:latin typeface="Malgun Gothic" pitchFamily="34" charset="0"/>
                <a:ea typeface="Malgun Gothic" pitchFamily="34" charset="-122"/>
                <a:cs typeface="Malgun Gothic" pitchFamily="34" charset="-120"/>
              </a:rPr>
              <a:t>매물 탐색 · 위험 진단 · 금융 정책 · 방문 예약을 하나의 여정으로</a:t>
            </a:r>
            <a:endParaRPr lang="en-US" sz="1500" dirty="0"/>
          </a:p>
        </p:txBody>
      </p:sp>
      <p:sp>
        <p:nvSpPr>
          <p:cNvPr id="9" name="Text 7"/>
          <p:cNvSpPr txBox="1"/>
          <p:nvPr/>
        </p:nvSpPr>
        <p:spPr>
          <a:xfrm>
            <a:off x="685800" y="6080760"/>
            <a:ext cx="5486400" cy="219456"/>
          </a:xfrm>
          <a:prstGeom prst="rect">
            <a:avLst/>
          </a:prstGeom>
          <a:noFill/>
          <a:ln/>
        </p:spPr>
        <p:txBody>
          <a:bodyPr wrap="square" lIns="0" tIns="0" rIns="0" bIns="0" rtlCol="0" anchor="t">
            <a:normAutofit/>
          </a:bodyPr>
          <a:lstStyle/>
          <a:p>
            <a:pPr algn="l" indent="0" marL="0">
              <a:buNone/>
            </a:pPr>
            <a:r>
              <a:rPr lang="en-US" sz="1100" dirty="0">
                <a:solidFill>
                  <a:srgbClr val="86AAA3"/>
                </a:solidFill>
                <a:latin typeface="Malgun Gothic" pitchFamily="34" charset="0"/>
                <a:ea typeface="Malgun Gothic" pitchFamily="34" charset="-122"/>
                <a:cs typeface="Malgun Gothic" pitchFamily="34" charset="-120"/>
              </a:rPr>
              <a:t>ZipAI 팀 프로젝트 발표  |  2026</a:t>
            </a:r>
            <a:endParaRPr lang="en-US" sz="1100" dirty="0"/>
          </a:p>
        </p:txBody>
      </p:sp>
    </p:spTree>
  </p:cSld>
  <p:clrMapOvr>
    <a:masterClrMapping/>
  </p:clrMapOvr>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01 · PROJECT</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집을 찾는 문제는 가격 검색만으로 끝나지 않습니다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흩어진 매물·안전·계약·정책 정보를 하나의 사용자 여정으로 연결했습니다.</a:t>
            </a:r>
            <a:endParaRPr lang="en-US" sz="1300"/>
          </a:p>
        </p:txBody>
      </p:sp>
      <p:sp>
        <p:nvSpPr>
          <p:cNvPr id="5" name="Shape 3"/>
          <p:cNvSpPr/>
          <p:nvPr/>
        </p:nvSpPr>
        <p:spPr>
          <a:xfrm>
            <a:off x="566928" y="1993392"/>
            <a:ext cx="3401568" cy="2240280"/>
          </a:xfrm>
          <a:prstGeom prst="roundRect">
            <a:avLst>
              <a:gd name="adj" fmla="val 4898"/>
            </a:avLst>
          </a:prstGeom>
          <a:solidFill>
            <a:srgbClr val="fce9e2"/>
          </a:solidFill>
          <a:ln w="12700">
            <a:solidFill>
              <a:srgbClr val="fce9e2"/>
            </a:solidFill>
            <a:prstDash val="solid"/>
          </a:ln>
        </p:spPr>
        <p:txBody>
          <a:bodyPr anchor="ctr"/>
          <a:p>
            <a:pPr algn="ctr">
              <a:defRPr/>
            </a:pPr>
            <a:endParaRPr lang="ko-KR" altLang="en-US"/>
          </a:p>
        </p:txBody>
      </p:sp>
      <p:sp>
        <p:nvSpPr>
          <p:cNvPr id="6" name="Shape 4"/>
          <p:cNvSpPr/>
          <p:nvPr/>
        </p:nvSpPr>
        <p:spPr>
          <a:xfrm>
            <a:off x="786384" y="2231136"/>
            <a:ext cx="749808"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7" name="Text 5"/>
          <p:cNvSpPr txBox="1"/>
          <p:nvPr/>
        </p:nvSpPr>
        <p:spPr>
          <a:xfrm>
            <a:off x="786384" y="2299716"/>
            <a:ext cx="74980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f07c55"/>
                </a:solidFill>
                <a:latin typeface="맑은 고딕"/>
                <a:ea typeface="맑은 고딕"/>
                <a:cs typeface="맑은 고딕"/>
              </a:rPr>
              <a:t>문제</a:t>
            </a:r>
            <a:endParaRPr lang="en-US" sz="1000"/>
          </a:p>
        </p:txBody>
      </p:sp>
      <p:sp>
        <p:nvSpPr>
          <p:cNvPr id="8" name="Text 6"/>
          <p:cNvSpPr txBox="1"/>
          <p:nvPr/>
        </p:nvSpPr>
        <p:spPr>
          <a:xfrm>
            <a:off x="795528" y="2816352"/>
            <a:ext cx="2926080" cy="941832"/>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치안·사기·정책 정보를 여러 기관과 사이트에서 각각 확인해야 합니다.</a:t>
            </a:r>
            <a:endParaRPr lang="en-US" sz="1600"/>
          </a:p>
        </p:txBody>
      </p:sp>
      <p:sp>
        <p:nvSpPr>
          <p:cNvPr id="9" name="Shape 7"/>
          <p:cNvSpPr/>
          <p:nvPr/>
        </p:nvSpPr>
        <p:spPr>
          <a:xfrm>
            <a:off x="4334256" y="1993392"/>
            <a:ext cx="3401568" cy="2240280"/>
          </a:xfrm>
          <a:prstGeom prst="roundRect">
            <a:avLst>
              <a:gd name="adj" fmla="val 4898"/>
            </a:avLst>
          </a:prstGeom>
          <a:solidFill>
            <a:srgbClr val="ddf3ec"/>
          </a:solidFill>
          <a:ln w="12700">
            <a:solidFill>
              <a:srgbClr val="ddf3ec"/>
            </a:solidFill>
            <a:prstDash val="solid"/>
          </a:ln>
        </p:spPr>
        <p:txBody>
          <a:bodyPr anchor="ctr"/>
          <a:p>
            <a:pPr algn="ctr">
              <a:defRPr/>
            </a:pPr>
            <a:endParaRPr lang="ko-KR" altLang="en-US"/>
          </a:p>
        </p:txBody>
      </p:sp>
      <p:sp>
        <p:nvSpPr>
          <p:cNvPr id="10" name="Shape 8"/>
          <p:cNvSpPr/>
          <p:nvPr/>
        </p:nvSpPr>
        <p:spPr>
          <a:xfrm>
            <a:off x="4553712" y="2231136"/>
            <a:ext cx="749808"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11" name="Text 9"/>
          <p:cNvSpPr txBox="1"/>
          <p:nvPr/>
        </p:nvSpPr>
        <p:spPr>
          <a:xfrm>
            <a:off x="4553712" y="2299716"/>
            <a:ext cx="74980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해결</a:t>
            </a:r>
            <a:endParaRPr lang="en-US" sz="1000"/>
          </a:p>
        </p:txBody>
      </p:sp>
      <p:sp>
        <p:nvSpPr>
          <p:cNvPr id="12" name="Text 10"/>
          <p:cNvSpPr txBox="1"/>
          <p:nvPr/>
        </p:nvSpPr>
        <p:spPr>
          <a:xfrm>
            <a:off x="4562856" y="2816352"/>
            <a:ext cx="2926080" cy="941832"/>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지도 탐색에서 계약 안전 진단과 정책 확인까지 한 서비스에서 이어집니다.</a:t>
            </a:r>
            <a:endParaRPr lang="en-US" sz="1600"/>
          </a:p>
        </p:txBody>
      </p:sp>
      <p:sp>
        <p:nvSpPr>
          <p:cNvPr id="13" name="Shape 11"/>
          <p:cNvSpPr/>
          <p:nvPr/>
        </p:nvSpPr>
        <p:spPr>
          <a:xfrm>
            <a:off x="8101584" y="1993392"/>
            <a:ext cx="3401568" cy="2240280"/>
          </a:xfrm>
          <a:prstGeom prst="roundRect">
            <a:avLst>
              <a:gd name="adj" fmla="val 4898"/>
            </a:avLst>
          </a:prstGeom>
          <a:solidFill>
            <a:srgbClr val="eaf1ff"/>
          </a:solidFill>
          <a:ln w="12700">
            <a:solidFill>
              <a:srgbClr val="eaf1ff"/>
            </a:solidFill>
            <a:prstDash val="solid"/>
          </a:ln>
        </p:spPr>
        <p:txBody>
          <a:bodyPr anchor="ctr"/>
          <a:p>
            <a:pPr algn="ctr">
              <a:defRPr/>
            </a:pPr>
            <a:endParaRPr lang="ko-KR" altLang="en-US"/>
          </a:p>
        </p:txBody>
      </p:sp>
      <p:sp>
        <p:nvSpPr>
          <p:cNvPr id="14" name="Shape 12"/>
          <p:cNvSpPr/>
          <p:nvPr/>
        </p:nvSpPr>
        <p:spPr>
          <a:xfrm>
            <a:off x="8321040" y="2231136"/>
            <a:ext cx="749808"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15" name="Text 13"/>
          <p:cNvSpPr txBox="1"/>
          <p:nvPr/>
        </p:nvSpPr>
        <p:spPr>
          <a:xfrm>
            <a:off x="8321040" y="2299716"/>
            <a:ext cx="74980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2f6fed"/>
                </a:solidFill>
                <a:latin typeface="맑은 고딕"/>
                <a:ea typeface="맑은 고딕"/>
                <a:cs typeface="맑은 고딕"/>
              </a:rPr>
              <a:t>목표</a:t>
            </a:r>
            <a:endParaRPr lang="en-US" sz="1000"/>
          </a:p>
        </p:txBody>
      </p:sp>
      <p:sp>
        <p:nvSpPr>
          <p:cNvPr id="16" name="Text 14"/>
          <p:cNvSpPr txBox="1"/>
          <p:nvPr/>
        </p:nvSpPr>
        <p:spPr>
          <a:xfrm>
            <a:off x="8330184" y="2816352"/>
            <a:ext cx="2926080" cy="941832"/>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초보 임차인이 복잡한 정보를 이해하고 다음 행동을 선택하도록 돕습니다.</a:t>
            </a:r>
            <a:endParaRPr lang="en-US" sz="1600"/>
          </a:p>
        </p:txBody>
      </p:sp>
      <p:sp>
        <p:nvSpPr>
          <p:cNvPr id="17" name="Text 15"/>
          <p:cNvSpPr txBox="1"/>
          <p:nvPr/>
        </p:nvSpPr>
        <p:spPr>
          <a:xfrm>
            <a:off x="594360" y="4773168"/>
            <a:ext cx="2011680" cy="274320"/>
          </a:xfrm>
          <a:prstGeom prst="rect">
            <a:avLst/>
          </a:prstGeom>
          <a:noFill/>
          <a:ln/>
        </p:spPr>
        <p:txBody>
          <a:bodyPr wrap="square" lIns="0" tIns="0" rIns="0" bIns="0" anchor="t">
            <a:normAutofit/>
          </a:bodyPr>
          <a:lstStyle/>
          <a:p>
            <a:pPr marL="0" indent="0" algn="l">
              <a:buNone/>
              <a:defRPr/>
            </a:pPr>
            <a:r>
              <a:rPr lang="en-US" sz="1600" b="1">
                <a:solidFill>
                  <a:srgbClr val="1b7f6b"/>
                </a:solidFill>
                <a:latin typeface="맑은 고딕"/>
                <a:ea typeface="맑은 고딕"/>
                <a:cs typeface="맑은 고딕"/>
              </a:rPr>
              <a:t>핵심 기대 효과</a:t>
            </a:r>
            <a:endParaRPr lang="en-US" sz="1600"/>
          </a:p>
        </p:txBody>
      </p:sp>
      <p:sp>
        <p:nvSpPr>
          <p:cNvPr id="18" name="Text 16"/>
          <p:cNvSpPr txBox="1"/>
          <p:nvPr/>
        </p:nvSpPr>
        <p:spPr>
          <a:xfrm>
            <a:off x="2240280" y="4754880"/>
            <a:ext cx="9098280" cy="329184"/>
          </a:xfrm>
          <a:prstGeom prst="rect">
            <a:avLst/>
          </a:prstGeom>
          <a:noFill/>
          <a:ln/>
        </p:spPr>
        <p:txBody>
          <a:bodyPr wrap="square" lIns="0" tIns="0" rIns="0" bIns="0" anchor="t">
            <a:normAutofit/>
          </a:bodyPr>
          <a:lstStyle/>
          <a:p>
            <a:pPr marL="0" indent="0" algn="l">
              <a:buNone/>
              <a:defRPr/>
            </a:pPr>
            <a:r>
              <a:rPr lang="en-US" sz="1700" b="1">
                <a:solidFill>
                  <a:srgbClr val="173b36"/>
                </a:solidFill>
                <a:latin typeface="맑은 고딕"/>
                <a:ea typeface="맑은 고딕"/>
                <a:cs typeface="맑은 고딕"/>
              </a:rPr>
              <a:t>탐색 시간 단축  ·  계약 위험 신호 조기 발견  ·  청년 주거 정보 접근성 향상</a:t>
            </a:r>
            <a:endParaRPr lang="en-US" sz="1700"/>
          </a:p>
        </p:txBody>
      </p:sp>
      <p:sp>
        <p:nvSpPr>
          <p:cNvPr id="25"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2</a:t>
            </a:fld>
            <a:endParaRPr 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02 · TEAM</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기능 영역을 나누고 공통 사용자 경험으로 결합했습니다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README에 명시된 담당 범위를 기준으로 정리했습니다.</a:t>
            </a:r>
            <a:endParaRPr lang="en-US" sz="1300"/>
          </a:p>
        </p:txBody>
      </p:sp>
      <p:sp>
        <p:nvSpPr>
          <p:cNvPr id="5" name="Shape 3"/>
          <p:cNvSpPr/>
          <p:nvPr/>
        </p:nvSpPr>
        <p:spPr>
          <a:xfrm>
            <a:off x="658368" y="1764792"/>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6" name="Text 4"/>
          <p:cNvSpPr txBox="1"/>
          <p:nvPr/>
        </p:nvSpPr>
        <p:spPr>
          <a:xfrm>
            <a:off x="658368" y="1883664"/>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1</a:t>
            </a:r>
            <a:endParaRPr lang="en-US" sz="1100"/>
          </a:p>
        </p:txBody>
      </p:sp>
      <p:sp>
        <p:nvSpPr>
          <p:cNvPr id="7" name="Text 5"/>
          <p:cNvSpPr txBox="1"/>
          <p:nvPr/>
        </p:nvSpPr>
        <p:spPr>
          <a:xfrm>
            <a:off x="1298448" y="1719072"/>
            <a:ext cx="1234440" cy="283464"/>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윤태석</a:t>
            </a:r>
            <a:endParaRPr lang="en-US" sz="1700"/>
          </a:p>
        </p:txBody>
      </p:sp>
      <p:sp>
        <p:nvSpPr>
          <p:cNvPr id="8" name="Text 6"/>
          <p:cNvSpPr txBox="1"/>
          <p:nvPr/>
        </p:nvSpPr>
        <p:spPr>
          <a:xfrm>
            <a:off x="2606040" y="1737360"/>
            <a:ext cx="1143000" cy="237744"/>
          </a:xfrm>
          <a:prstGeom prst="rect">
            <a:avLst/>
          </a:prstGeom>
          <a:noFill/>
          <a:ln/>
        </p:spPr>
        <p:txBody>
          <a:bodyPr wrap="square" lIns="0" tIns="0" rIns="0" bIns="0" anchor="t">
            <a:normAutofit/>
          </a:bodyPr>
          <a:lstStyle/>
          <a:p>
            <a:pPr marL="0" indent="0" algn="l">
              <a:buNone/>
              <a:defRPr/>
            </a:pPr>
            <a:r>
              <a:rPr lang="en-US" sz="1200" b="1">
                <a:solidFill>
                  <a:srgbClr val="1b7f6b"/>
                </a:solidFill>
                <a:latin typeface="맑은 고딕"/>
                <a:ea typeface="맑은 고딕"/>
                <a:cs typeface="맑은 고딕"/>
              </a:rPr>
              <a:t>팀장</a:t>
            </a:r>
            <a:endParaRPr lang="en-US" sz="1200"/>
          </a:p>
        </p:txBody>
      </p:sp>
      <p:sp>
        <p:nvSpPr>
          <p:cNvPr id="9" name="Text 7"/>
          <p:cNvSpPr txBox="1"/>
          <p:nvPr/>
        </p:nvSpPr>
        <p:spPr>
          <a:xfrm>
            <a:off x="3931920" y="1719072"/>
            <a:ext cx="7223760" cy="329184"/>
          </a:xfrm>
          <a:prstGeom prst="rect">
            <a:avLst/>
          </a:prstGeom>
          <a:noFill/>
          <a:ln/>
        </p:spPr>
        <p:txBody>
          <a:bodyPr wrap="square" lIns="0" tIns="0" rIns="0" bIns="0" anchor="t">
            <a:normAutofit/>
          </a:bodyPr>
          <a:lstStyle/>
          <a:p>
            <a:pPr marL="0" indent="0" algn="l">
              <a:buNone/>
              <a:defRPr/>
            </a:pPr>
            <a:r>
              <a:rPr lang="en-US" sz="1500">
                <a:solidFill>
                  <a:srgbClr val="173b36"/>
                </a:solidFill>
                <a:latin typeface="맑은 고딕"/>
                <a:ea typeface="맑은 고딕"/>
                <a:cs typeface="맑은 고딕"/>
              </a:rPr>
              <a:t>프로젝트</a:t>
            </a:r>
            <a:r>
              <a:rPr lang="ko-KR" altLang="en-US" sz="1500">
                <a:solidFill>
                  <a:srgbClr val="173b36"/>
                </a:solidFill>
                <a:latin typeface="맑은 고딕"/>
                <a:ea typeface="맑은 고딕"/>
                <a:cs typeface="맑은 고딕"/>
              </a:rPr>
              <a:t> </a:t>
            </a:r>
            <a:r>
              <a:rPr lang="en-US" sz="1500">
                <a:solidFill>
                  <a:srgbClr val="173b36"/>
                </a:solidFill>
                <a:latin typeface="맑은 고딕"/>
                <a:ea typeface="맑은 고딕"/>
                <a:cs typeface="맑은 고딕"/>
              </a:rPr>
              <a:t>조율</a:t>
            </a:r>
            <a:endParaRPr lang="en-US" sz="1500">
              <a:solidFill>
                <a:srgbClr val="173b36"/>
              </a:solidFill>
              <a:latin typeface="맑은 고딕"/>
              <a:ea typeface="맑은 고딕"/>
              <a:cs typeface="맑은 고딕"/>
            </a:endParaRPr>
          </a:p>
        </p:txBody>
      </p:sp>
      <p:sp>
        <p:nvSpPr>
          <p:cNvPr id="10" name="Shape 8"/>
          <p:cNvSpPr/>
          <p:nvPr/>
        </p:nvSpPr>
        <p:spPr>
          <a:xfrm>
            <a:off x="1280160" y="2240280"/>
            <a:ext cx="9784080" cy="0"/>
          </a:xfrm>
          <a:prstGeom prst="line">
            <a:avLst/>
          </a:prstGeom>
          <a:noFill/>
          <a:ln w="12700">
            <a:solidFill>
              <a:srgbClr val="d9e7e2"/>
            </a:solidFill>
            <a:prstDash val="solid"/>
          </a:ln>
        </p:spPr>
        <p:txBody>
          <a:bodyPr wrap="square" anchor="ctr"/>
          <a:p>
            <a:pPr algn="ctr">
              <a:defRPr/>
            </a:pPr>
            <a:endParaRPr lang="ko-KR" altLang="en-US"/>
          </a:p>
        </p:txBody>
      </p:sp>
      <p:sp>
        <p:nvSpPr>
          <p:cNvPr id="11" name="Shape 9"/>
          <p:cNvSpPr/>
          <p:nvPr/>
        </p:nvSpPr>
        <p:spPr>
          <a:xfrm>
            <a:off x="658368" y="2496312"/>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12" name="Text 10"/>
          <p:cNvSpPr txBox="1"/>
          <p:nvPr/>
        </p:nvSpPr>
        <p:spPr>
          <a:xfrm>
            <a:off x="658368" y="2615184"/>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2</a:t>
            </a:r>
            <a:endParaRPr lang="en-US" sz="1100"/>
          </a:p>
        </p:txBody>
      </p:sp>
      <p:sp>
        <p:nvSpPr>
          <p:cNvPr id="13" name="Text 11"/>
          <p:cNvSpPr txBox="1"/>
          <p:nvPr/>
        </p:nvSpPr>
        <p:spPr>
          <a:xfrm>
            <a:off x="1298448" y="2450592"/>
            <a:ext cx="1234440" cy="283464"/>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유준서</a:t>
            </a:r>
            <a:endParaRPr lang="en-US" sz="1700"/>
          </a:p>
        </p:txBody>
      </p:sp>
      <p:sp>
        <p:nvSpPr>
          <p:cNvPr id="14" name="Text 12"/>
          <p:cNvSpPr txBox="1"/>
          <p:nvPr/>
        </p:nvSpPr>
        <p:spPr>
          <a:xfrm>
            <a:off x="2606040" y="2468880"/>
            <a:ext cx="1143000" cy="237744"/>
          </a:xfrm>
          <a:prstGeom prst="rect">
            <a:avLst/>
          </a:prstGeom>
          <a:noFill/>
          <a:ln/>
        </p:spPr>
        <p:txBody>
          <a:bodyPr wrap="square" lIns="0" tIns="0" rIns="0" bIns="0" anchor="t">
            <a:normAutofit/>
          </a:bodyPr>
          <a:lstStyle/>
          <a:p>
            <a:pPr marL="0" indent="0" algn="l">
              <a:buNone/>
              <a:defRPr/>
            </a:pPr>
            <a:r>
              <a:rPr lang="en-US" sz="1200" b="1">
                <a:solidFill>
                  <a:srgbClr val="1b7f6b"/>
                </a:solidFill>
                <a:latin typeface="맑은 고딕"/>
                <a:ea typeface="맑은 고딕"/>
                <a:cs typeface="맑은 고딕"/>
              </a:rPr>
              <a:t>팀원</a:t>
            </a:r>
            <a:endParaRPr lang="en-US" sz="1200"/>
          </a:p>
        </p:txBody>
      </p:sp>
      <p:sp>
        <p:nvSpPr>
          <p:cNvPr id="15" name="Text 13"/>
          <p:cNvSpPr txBox="1"/>
          <p:nvPr/>
        </p:nvSpPr>
        <p:spPr>
          <a:xfrm>
            <a:off x="3931920" y="2450592"/>
            <a:ext cx="7223760" cy="329184"/>
          </a:xfrm>
          <a:prstGeom prst="rect">
            <a:avLst/>
          </a:prstGeom>
          <a:noFill/>
          <a:ln/>
        </p:spPr>
        <p:txBody>
          <a:bodyPr wrap="square" lIns="0" tIns="0" rIns="0" bIns="0" anchor="t">
            <a:normAutofit/>
          </a:bodyPr>
          <a:lstStyle/>
          <a:p>
            <a:pPr marL="0" indent="0" algn="l">
              <a:buNone/>
              <a:defRPr/>
            </a:pPr>
            <a:r>
              <a:rPr lang="en-US" sz="1500">
                <a:solidFill>
                  <a:srgbClr val="173b36"/>
                </a:solidFill>
                <a:latin typeface="맑은 고딕"/>
                <a:ea typeface="맑은 고딕"/>
                <a:cs typeface="맑은 고딕"/>
              </a:rPr>
              <a:t>공통 협</a:t>
            </a:r>
            <a:r>
              <a:rPr lang="ko-KR" altLang="en-US" sz="1500">
                <a:solidFill>
                  <a:srgbClr val="173b36"/>
                </a:solidFill>
                <a:latin typeface="맑은 고딕"/>
                <a:ea typeface="맑은 고딕"/>
                <a:cs typeface="맑은 고딕"/>
              </a:rPr>
              <a:t>업</a:t>
            </a:r>
            <a:endParaRPr lang="ko-KR" altLang="en-US" sz="1500">
              <a:solidFill>
                <a:srgbClr val="173b36"/>
              </a:solidFill>
              <a:latin typeface="맑은 고딕"/>
              <a:ea typeface="맑은 고딕"/>
              <a:cs typeface="맑은 고딕"/>
            </a:endParaRPr>
          </a:p>
        </p:txBody>
      </p:sp>
      <p:sp>
        <p:nvSpPr>
          <p:cNvPr id="16" name="Shape 14"/>
          <p:cNvSpPr/>
          <p:nvPr/>
        </p:nvSpPr>
        <p:spPr>
          <a:xfrm>
            <a:off x="1280160" y="2971800"/>
            <a:ext cx="9784080" cy="0"/>
          </a:xfrm>
          <a:prstGeom prst="line">
            <a:avLst/>
          </a:prstGeom>
          <a:noFill/>
          <a:ln w="12700">
            <a:solidFill>
              <a:srgbClr val="d9e7e2"/>
            </a:solidFill>
            <a:prstDash val="solid"/>
          </a:ln>
        </p:spPr>
        <p:txBody>
          <a:bodyPr wrap="square" anchor="ctr"/>
          <a:p>
            <a:pPr algn="ctr">
              <a:defRPr/>
            </a:pPr>
            <a:endParaRPr lang="ko-KR" altLang="en-US"/>
          </a:p>
        </p:txBody>
      </p:sp>
      <p:sp>
        <p:nvSpPr>
          <p:cNvPr id="19" name="Text 17"/>
          <p:cNvSpPr txBox="1"/>
          <p:nvPr/>
        </p:nvSpPr>
        <p:spPr>
          <a:xfrm>
            <a:off x="1298448" y="3182112"/>
            <a:ext cx="1234440" cy="283464"/>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송성근</a:t>
            </a:r>
            <a:endParaRPr lang="en-US" sz="1700"/>
          </a:p>
        </p:txBody>
      </p:sp>
      <p:sp>
        <p:nvSpPr>
          <p:cNvPr id="20" name="Text 18"/>
          <p:cNvSpPr txBox="1"/>
          <p:nvPr/>
        </p:nvSpPr>
        <p:spPr>
          <a:xfrm>
            <a:off x="2606040" y="3200400"/>
            <a:ext cx="1143000" cy="237744"/>
          </a:xfrm>
          <a:prstGeom prst="rect">
            <a:avLst/>
          </a:prstGeom>
          <a:noFill/>
          <a:ln/>
        </p:spPr>
        <p:txBody>
          <a:bodyPr wrap="square" lIns="0" tIns="0" rIns="0" bIns="0" anchor="t">
            <a:normAutofit/>
          </a:bodyPr>
          <a:lstStyle/>
          <a:p>
            <a:pPr marL="0" indent="0" algn="l">
              <a:buNone/>
              <a:defRPr/>
            </a:pPr>
            <a:r>
              <a:rPr lang="ko-KR" altLang="en-US" sz="1200" b="1">
                <a:solidFill>
                  <a:srgbClr val="1b7f6b"/>
                </a:solidFill>
                <a:latin typeface="맑은 고딕"/>
                <a:ea typeface="맑은 고딕"/>
                <a:cs typeface="맑은 고딕"/>
              </a:rPr>
              <a:t>사기방지</a:t>
            </a:r>
            <a:endParaRPr lang="ko-KR" altLang="en-US" sz="1200" b="1">
              <a:solidFill>
                <a:srgbClr val="1b7f6b"/>
              </a:solidFill>
              <a:latin typeface="맑은 고딕"/>
              <a:ea typeface="맑은 고딕"/>
              <a:cs typeface="맑은 고딕"/>
            </a:endParaRPr>
          </a:p>
        </p:txBody>
      </p:sp>
      <p:sp>
        <p:nvSpPr>
          <p:cNvPr id="21" name="Text 19"/>
          <p:cNvSpPr txBox="1"/>
          <p:nvPr/>
        </p:nvSpPr>
        <p:spPr>
          <a:xfrm>
            <a:off x="3931920" y="3182112"/>
            <a:ext cx="7223760" cy="713232"/>
          </a:xfrm>
          <a:prstGeom prst="rect">
            <a:avLst/>
          </a:prstGeom>
          <a:noFill/>
          <a:ln/>
        </p:spPr>
        <p:txBody>
          <a:bodyPr wrap="square" lIns="0" tIns="0" rIns="0" bIns="0" anchor="t">
            <a:normAutofit/>
          </a:bodyPr>
          <a:lstStyle/>
          <a:p>
            <a:pPr marL="0" indent="0" algn="l">
              <a:buNone/>
              <a:defRPr/>
            </a:pPr>
            <a:r>
              <a:rPr lang="en-US" sz="1350">
                <a:solidFill>
                  <a:srgbClr val="173b36"/>
                </a:solidFill>
                <a:latin typeface="맑은 고딕"/>
                <a:ea typeface="맑은 고딕"/>
                <a:cs typeface="맑은 고딕"/>
              </a:rPr>
              <a:t>회원가입·로그인·마이페이지</a:t>
            </a:r>
            <a:r>
              <a:rPr lang="en-US" altLang="ko-KR" sz="1350">
                <a:solidFill>
                  <a:srgbClr val="173b36"/>
                </a:solidFill>
                <a:latin typeface="맑은 고딕"/>
                <a:ea typeface="맑은 고딕"/>
                <a:cs typeface="맑은 고딕"/>
              </a:rPr>
              <a:t>,</a:t>
            </a:r>
            <a:r>
              <a:rPr lang="ko-KR" altLang="en-US" sz="1350">
                <a:solidFill>
                  <a:srgbClr val="173b36"/>
                </a:solidFill>
                <a:latin typeface="맑은 고딕"/>
                <a:ea typeface="맑은 고딕"/>
                <a:cs typeface="맑은 고딕"/>
              </a:rPr>
              <a:t>관리자페이지 </a:t>
            </a:r>
            <a:r>
              <a:rPr lang="en-US" sz="1350">
                <a:solidFill>
                  <a:srgbClr val="173b36"/>
                </a:solidFill>
                <a:latin typeface="맑은 고딕"/>
                <a:ea typeface="맑은 고딕"/>
                <a:cs typeface="맑은 고딕"/>
              </a:rPr>
              <a:t>와 공통 헤더·푸터</a:t>
            </a:r>
            <a:endParaRPr lang="en-US" sz="1350">
              <a:solidFill>
                <a:srgbClr val="173b36"/>
              </a:solidFill>
              <a:latin typeface="맑은 고딕"/>
              <a:ea typeface="맑은 고딕"/>
              <a:cs typeface="맑은 고딕"/>
            </a:endParaRPr>
          </a:p>
          <a:p>
            <a:pPr marL="0" indent="0" algn="l">
              <a:buNone/>
              <a:defRPr/>
            </a:pPr>
            <a:endParaRPr lang="en-US" sz="1350">
              <a:solidFill>
                <a:srgbClr val="173b36"/>
              </a:solidFill>
              <a:latin typeface="맑은 고딕"/>
              <a:ea typeface="맑은 고딕"/>
              <a:cs typeface="맑은 고딕"/>
            </a:endParaRPr>
          </a:p>
          <a:p>
            <a:pPr marL="0" indent="0" algn="l">
              <a:buNone/>
              <a:defRPr/>
            </a:pPr>
            <a:r>
              <a:rPr lang="en-US" sz="1350">
                <a:solidFill>
                  <a:srgbClr val="173b36"/>
                </a:solidFill>
                <a:latin typeface="맑은 고딕"/>
                <a:ea typeface="맑은 고딕"/>
                <a:cs typeface="맑은 고딕"/>
              </a:rPr>
              <a:t>지도 기반 매물 탐색·필터·찜하기 / 사기방지·계약 안전·지역 위험안전도</a:t>
            </a:r>
            <a:endParaRPr lang="en-US" sz="1350"/>
          </a:p>
        </p:txBody>
      </p:sp>
      <p:sp>
        <p:nvSpPr>
          <p:cNvPr id="22" name="Shape 20"/>
          <p:cNvSpPr/>
          <p:nvPr/>
        </p:nvSpPr>
        <p:spPr>
          <a:xfrm>
            <a:off x="1280160" y="4041648"/>
            <a:ext cx="9784080" cy="0"/>
          </a:xfrm>
          <a:prstGeom prst="line">
            <a:avLst/>
          </a:prstGeom>
          <a:noFill/>
          <a:ln w="12700">
            <a:solidFill>
              <a:srgbClr val="d9e7e2"/>
            </a:solidFill>
            <a:prstDash val="solid"/>
          </a:ln>
        </p:spPr>
        <p:txBody>
          <a:bodyPr wrap="square" anchor="ctr"/>
          <a:p>
            <a:pPr algn="ctr">
              <a:defRPr/>
            </a:pPr>
            <a:endParaRPr lang="ko-KR" altLang="en-US"/>
          </a:p>
        </p:txBody>
      </p:sp>
      <p:sp>
        <p:nvSpPr>
          <p:cNvPr id="23" name="Shape 21"/>
          <p:cNvSpPr/>
          <p:nvPr/>
        </p:nvSpPr>
        <p:spPr>
          <a:xfrm>
            <a:off x="658368" y="4361688"/>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24" name="Text 22"/>
          <p:cNvSpPr txBox="1"/>
          <p:nvPr/>
        </p:nvSpPr>
        <p:spPr>
          <a:xfrm>
            <a:off x="658368" y="4480560"/>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4</a:t>
            </a:r>
            <a:endParaRPr lang="en-US" sz="1100"/>
          </a:p>
        </p:txBody>
      </p:sp>
      <p:sp>
        <p:nvSpPr>
          <p:cNvPr id="25" name="Text 23"/>
          <p:cNvSpPr txBox="1"/>
          <p:nvPr/>
        </p:nvSpPr>
        <p:spPr>
          <a:xfrm>
            <a:off x="1298448" y="4315968"/>
            <a:ext cx="1234440" cy="283464"/>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김해원</a:t>
            </a:r>
            <a:endParaRPr lang="en-US" sz="1700"/>
          </a:p>
        </p:txBody>
      </p:sp>
      <p:sp>
        <p:nvSpPr>
          <p:cNvPr id="26" name="Text 24"/>
          <p:cNvSpPr txBox="1"/>
          <p:nvPr/>
        </p:nvSpPr>
        <p:spPr>
          <a:xfrm>
            <a:off x="2606040" y="4315968"/>
            <a:ext cx="1143000" cy="237744"/>
          </a:xfrm>
          <a:prstGeom prst="rect">
            <a:avLst/>
          </a:prstGeom>
          <a:noFill/>
          <a:ln/>
        </p:spPr>
        <p:txBody>
          <a:bodyPr wrap="square" lIns="0" tIns="0" rIns="0" bIns="0" anchor="t">
            <a:normAutofit/>
          </a:bodyPr>
          <a:lstStyle/>
          <a:p>
            <a:pPr marL="0" indent="0" algn="l">
              <a:buNone/>
              <a:defRPr/>
            </a:pPr>
            <a:r>
              <a:rPr lang="en-US" sz="1200" b="1">
                <a:solidFill>
                  <a:srgbClr val="1b7f6b"/>
                </a:solidFill>
                <a:latin typeface="맑은 고딕"/>
                <a:ea typeface="맑은 고딕"/>
                <a:cs typeface="맑은 고딕"/>
              </a:rPr>
              <a:t>금융지원</a:t>
            </a:r>
            <a:endParaRPr lang="en-US" sz="1200"/>
          </a:p>
        </p:txBody>
      </p:sp>
      <p:sp>
        <p:nvSpPr>
          <p:cNvPr id="27" name="Text 25"/>
          <p:cNvSpPr txBox="1"/>
          <p:nvPr/>
        </p:nvSpPr>
        <p:spPr>
          <a:xfrm>
            <a:off x="3931920" y="4315968"/>
            <a:ext cx="7223760" cy="329184"/>
          </a:xfrm>
          <a:prstGeom prst="rect">
            <a:avLst/>
          </a:prstGeom>
          <a:noFill/>
          <a:ln/>
        </p:spPr>
        <p:txBody>
          <a:bodyPr wrap="square" lIns="0" tIns="0" rIns="0" bIns="0" anchor="t">
            <a:normAutofit/>
          </a:bodyPr>
          <a:lstStyle/>
          <a:p>
            <a:pPr marL="0" indent="0" algn="l">
              <a:buNone/>
              <a:defRPr/>
            </a:pPr>
            <a:r>
              <a:rPr lang="en-US" sz="1500">
                <a:solidFill>
                  <a:srgbClr val="173b36"/>
                </a:solidFill>
                <a:latin typeface="맑은 고딕"/>
                <a:ea typeface="맑은 고딕"/>
                <a:cs typeface="맑은 고딕"/>
              </a:rPr>
              <a:t>청년 정책·대출 추천·금리 계산</a:t>
            </a:r>
            <a:endParaRPr lang="en-US" sz="1500"/>
          </a:p>
        </p:txBody>
      </p:sp>
      <p:sp>
        <p:nvSpPr>
          <p:cNvPr id="28" name="Shape 26"/>
          <p:cNvSpPr/>
          <p:nvPr/>
        </p:nvSpPr>
        <p:spPr>
          <a:xfrm>
            <a:off x="1280160" y="4837176"/>
            <a:ext cx="9784080" cy="0"/>
          </a:xfrm>
          <a:prstGeom prst="line">
            <a:avLst/>
          </a:prstGeom>
          <a:noFill/>
          <a:ln w="12700">
            <a:solidFill>
              <a:srgbClr val="d9e7e2"/>
            </a:solidFill>
            <a:prstDash val="solid"/>
          </a:ln>
        </p:spPr>
        <p:txBody>
          <a:bodyPr wrap="square" anchor="ctr"/>
          <a:p>
            <a:pPr algn="ctr">
              <a:defRPr/>
            </a:pPr>
            <a:endParaRPr lang="ko-KR" altLang="en-US"/>
          </a:p>
        </p:txBody>
      </p:sp>
      <p:sp>
        <p:nvSpPr>
          <p:cNvPr id="29" name="Shape 27"/>
          <p:cNvSpPr/>
          <p:nvPr/>
        </p:nvSpPr>
        <p:spPr>
          <a:xfrm>
            <a:off x="658368" y="5093208"/>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30" name="Text 28"/>
          <p:cNvSpPr txBox="1"/>
          <p:nvPr/>
        </p:nvSpPr>
        <p:spPr>
          <a:xfrm>
            <a:off x="658368" y="5212080"/>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5</a:t>
            </a:r>
            <a:endParaRPr lang="en-US" sz="1100"/>
          </a:p>
        </p:txBody>
      </p:sp>
      <p:sp>
        <p:nvSpPr>
          <p:cNvPr id="31" name="Text 29"/>
          <p:cNvSpPr txBox="1"/>
          <p:nvPr/>
        </p:nvSpPr>
        <p:spPr>
          <a:xfrm>
            <a:off x="1298448" y="5047488"/>
            <a:ext cx="1234440" cy="283464"/>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이혜경</a:t>
            </a:r>
            <a:endParaRPr lang="en-US" sz="1700"/>
          </a:p>
        </p:txBody>
      </p:sp>
      <p:sp>
        <p:nvSpPr>
          <p:cNvPr id="32" name="Text 30"/>
          <p:cNvSpPr txBox="1"/>
          <p:nvPr/>
        </p:nvSpPr>
        <p:spPr>
          <a:xfrm>
            <a:off x="2606040" y="5065776"/>
            <a:ext cx="1143000" cy="237744"/>
          </a:xfrm>
          <a:prstGeom prst="rect">
            <a:avLst/>
          </a:prstGeom>
          <a:noFill/>
          <a:ln/>
        </p:spPr>
        <p:txBody>
          <a:bodyPr wrap="square" lIns="0" tIns="0" rIns="0" bIns="0" anchor="t">
            <a:normAutofit/>
          </a:bodyPr>
          <a:lstStyle/>
          <a:p>
            <a:pPr marL="0" indent="0" algn="l">
              <a:buNone/>
              <a:defRPr/>
            </a:pPr>
            <a:r>
              <a:rPr lang="en-US" sz="1200" b="1">
                <a:solidFill>
                  <a:srgbClr val="1b7f6b"/>
                </a:solidFill>
                <a:latin typeface="맑은 고딕"/>
                <a:ea typeface="맑은 고딕"/>
                <a:cs typeface="맑은 고딕"/>
              </a:rPr>
              <a:t>위험도 진단</a:t>
            </a:r>
            <a:endParaRPr lang="en-US" sz="1200"/>
          </a:p>
        </p:txBody>
      </p:sp>
      <p:sp>
        <p:nvSpPr>
          <p:cNvPr id="33" name="Text 31"/>
          <p:cNvSpPr txBox="1"/>
          <p:nvPr/>
        </p:nvSpPr>
        <p:spPr>
          <a:xfrm>
            <a:off x="3931920" y="5047488"/>
            <a:ext cx="7223760" cy="329184"/>
          </a:xfrm>
          <a:prstGeom prst="rect">
            <a:avLst/>
          </a:prstGeom>
          <a:noFill/>
          <a:ln/>
        </p:spPr>
        <p:txBody>
          <a:bodyPr wrap="square" lIns="0" tIns="0" rIns="0" bIns="0" anchor="t">
            <a:normAutofit/>
          </a:bodyPr>
          <a:lstStyle/>
          <a:p>
            <a:pPr marL="0" indent="0" algn="l">
              <a:buNone/>
              <a:defRPr/>
            </a:pPr>
            <a:r>
              <a:rPr lang="en-US" sz="1500">
                <a:solidFill>
                  <a:srgbClr val="173b36"/>
                </a:solidFill>
                <a:latin typeface="맑은 고딕"/>
                <a:ea typeface="맑은 고딕"/>
                <a:cs typeface="맑은 고딕"/>
              </a:rPr>
              <a:t>지역 검색·치안시설·위험안전도 화면</a:t>
            </a:r>
            <a:endParaRPr lang="en-US" sz="1500"/>
          </a:p>
        </p:txBody>
      </p:sp>
      <p:sp>
        <p:nvSpPr>
          <p:cNvPr id="34" name="Shape 32"/>
          <p:cNvSpPr/>
          <p:nvPr/>
        </p:nvSpPr>
        <p:spPr>
          <a:xfrm>
            <a:off x="1280160" y="5568696"/>
            <a:ext cx="9784080" cy="0"/>
          </a:xfrm>
          <a:prstGeom prst="line">
            <a:avLst/>
          </a:prstGeom>
          <a:noFill/>
          <a:ln w="12700">
            <a:solidFill>
              <a:srgbClr val="d9e7e2"/>
            </a:solidFill>
            <a:prstDash val="solid"/>
          </a:ln>
        </p:spPr>
        <p:txBody>
          <a:bodyPr wrap="square" anchor="ctr"/>
          <a:p>
            <a:pPr algn="ctr">
              <a:defRPr/>
            </a:pPr>
            <a:endParaRPr lang="ko-KR" altLang="en-US"/>
          </a:p>
        </p:txBody>
      </p:sp>
      <p:sp>
        <p:nvSpPr>
          <p:cNvPr id="35"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3</a:t>
            </a:fld>
            <a:endParaRPr lang="en-US"/>
          </a:p>
        </p:txBody>
      </p:sp>
      <p:sp>
        <p:nvSpPr>
          <p:cNvPr id="37" name="Shape 21"/>
          <p:cNvSpPr/>
          <p:nvPr/>
        </p:nvSpPr>
        <p:spPr>
          <a:xfrm>
            <a:off x="658367" y="3323844"/>
            <a:ext cx="438912" cy="438912"/>
          </a:xfrm>
          <a:prstGeom prst="ellipse">
            <a:avLst/>
          </a:prstGeom>
          <a:solidFill>
            <a:srgbClr val="1b7f6b"/>
          </a:solidFill>
          <a:ln w="12700">
            <a:solidFill>
              <a:srgbClr val="1b7f6b"/>
            </a:solidFill>
            <a:prstDash val="solid"/>
          </a:ln>
        </p:spPr>
        <p:txBody>
          <a:bodyPr anchor="ctr"/>
          <a:lstStyle/>
          <a:p>
            <a:pPr algn="ctr">
              <a:defRPr/>
            </a:pPr>
            <a:endParaRPr lang="ko-KR" altLang="en-US"/>
          </a:p>
        </p:txBody>
      </p:sp>
      <p:sp>
        <p:nvSpPr>
          <p:cNvPr id="38" name="Text 22"/>
          <p:cNvSpPr txBox="1"/>
          <p:nvPr/>
        </p:nvSpPr>
        <p:spPr>
          <a:xfrm>
            <a:off x="658367" y="3442716"/>
            <a:ext cx="438912" cy="146304"/>
          </a:xfrm>
          <a:prstGeom prst="rect">
            <a:avLst/>
          </a:prstGeom>
          <a:noFill/>
          <a:ln/>
        </p:spPr>
        <p:txBody>
          <a:bodyPr wrap="square" lIns="0" tIns="0" rIns="0" bIns="0" anchor="t">
            <a:normAutofit fontScale="92500" lnSpcReduction="10000"/>
          </a:bodyPr>
          <a:lstStyle/>
          <a:p>
            <a:pPr marL="0" indent="0" algn="ctr">
              <a:buNone/>
              <a:defRPr/>
            </a:pPr>
            <a:r>
              <a:rPr lang="en-US" altLang="ko-KR" sz="1100" b="1">
                <a:solidFill>
                  <a:srgbClr val="ffffff"/>
                </a:solidFill>
                <a:latin typeface="맑은 고딕"/>
                <a:ea typeface="맑은 고딕"/>
                <a:cs typeface="맑은 고딕"/>
              </a:rPr>
              <a:t>3</a:t>
            </a:r>
            <a:endParaRPr lang="en-US" sz="1100" b="1">
              <a:solidFill>
                <a:srgbClr val="ffffff"/>
              </a:solidFill>
              <a:latin typeface="맑은 고딕"/>
              <a:ea typeface="맑은 고딕"/>
              <a:cs typeface="맑은 고딕"/>
            </a:endParaRPr>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03 · DEVELOPMENT</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빠른 프로토타입과 확장 가능한 백엔드를 함께 구성했습니다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프론트 시연성과 서버 확장성을 동시에 확보한 하이브리드 구조입니다.</a:t>
            </a:r>
            <a:endParaRPr lang="en-US" sz="1300"/>
          </a:p>
        </p:txBody>
      </p:sp>
      <p:sp>
        <p:nvSpPr>
          <p:cNvPr id="5" name="Text 3"/>
          <p:cNvSpPr txBox="1"/>
          <p:nvPr/>
        </p:nvSpPr>
        <p:spPr>
          <a:xfrm>
            <a:off x="566928" y="1901952"/>
            <a:ext cx="3154680" cy="274320"/>
          </a:xfrm>
          <a:prstGeom prst="rect">
            <a:avLst/>
          </a:prstGeom>
          <a:noFill/>
          <a:ln/>
        </p:spPr>
        <p:txBody>
          <a:bodyPr wrap="square" lIns="0" tIns="0" rIns="0" bIns="0" anchor="t">
            <a:normAutofit/>
          </a:bodyPr>
          <a:lstStyle/>
          <a:p>
            <a:pPr marL="0" indent="0" algn="l">
              <a:buNone/>
              <a:defRPr/>
            </a:pPr>
            <a:r>
              <a:rPr lang="en-US" sz="1400" b="1">
                <a:solidFill>
                  <a:srgbClr val="2f6fed"/>
                </a:solidFill>
                <a:latin typeface="맑은 고딕"/>
                <a:ea typeface="맑은 고딕"/>
                <a:cs typeface="맑은 고딕"/>
              </a:rPr>
              <a:t>FRONTEND</a:t>
            </a:r>
            <a:endParaRPr lang="en-US" sz="1400"/>
          </a:p>
        </p:txBody>
      </p:sp>
      <p:sp>
        <p:nvSpPr>
          <p:cNvPr id="6" name="Shape 4"/>
          <p:cNvSpPr/>
          <p:nvPr/>
        </p:nvSpPr>
        <p:spPr>
          <a:xfrm>
            <a:off x="566928" y="2304288"/>
            <a:ext cx="3200400" cy="0"/>
          </a:xfrm>
          <a:prstGeom prst="line">
            <a:avLst/>
          </a:prstGeom>
          <a:noFill/>
          <a:ln w="50800">
            <a:solidFill>
              <a:srgbClr val="2f6fed"/>
            </a:solidFill>
            <a:prstDash val="solid"/>
          </a:ln>
        </p:spPr>
        <p:txBody>
          <a:bodyPr wrap="square" anchor="ctr"/>
          <a:p>
            <a:pPr algn="ctr">
              <a:defRPr/>
            </a:pPr>
            <a:endParaRPr lang="ko-KR" altLang="en-US"/>
          </a:p>
        </p:txBody>
      </p:sp>
      <p:sp>
        <p:nvSpPr>
          <p:cNvPr id="7" name="Text 5"/>
          <p:cNvSpPr txBox="1"/>
          <p:nvPr/>
        </p:nvSpPr>
        <p:spPr>
          <a:xfrm>
            <a:off x="566928" y="2651760"/>
            <a:ext cx="3246120" cy="292608"/>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HTML5 · CSS3 · JavaScript</a:t>
            </a:r>
            <a:endParaRPr lang="en-US" sz="1600"/>
          </a:p>
        </p:txBody>
      </p:sp>
      <p:sp>
        <p:nvSpPr>
          <p:cNvPr id="8" name="Text 6"/>
          <p:cNvSpPr txBox="1"/>
          <p:nvPr/>
        </p:nvSpPr>
        <p:spPr>
          <a:xfrm>
            <a:off x="566928" y="3364992"/>
            <a:ext cx="3246120" cy="292608"/>
          </a:xfrm>
          <a:prstGeom prst="rect">
            <a:avLst/>
          </a:prstGeom>
          <a:noFill/>
          <a:ln/>
        </p:spPr>
        <p:txBody>
          <a:bodyPr wrap="square" lIns="0" tIns="0" rIns="0" bIns="0" anchor="t">
            <a:normAutofit/>
          </a:bodyPr>
          <a:lstStyle/>
          <a:p>
            <a:pPr marL="0" indent="0" algn="l">
              <a:buNone/>
              <a:defRPr/>
            </a:pPr>
            <a:r>
              <a:rPr lang="en-US" sz="1600">
                <a:solidFill>
                  <a:srgbClr val="102a43"/>
                </a:solidFill>
                <a:latin typeface="맑은 고딕"/>
                <a:ea typeface="맑은 고딕"/>
                <a:cs typeface="맑은 고딕"/>
              </a:rPr>
              <a:t>Leaflet.js 지도·마커·오버레이</a:t>
            </a:r>
            <a:endParaRPr lang="en-US" sz="1600"/>
          </a:p>
        </p:txBody>
      </p:sp>
      <p:sp>
        <p:nvSpPr>
          <p:cNvPr id="9" name="Text 7"/>
          <p:cNvSpPr txBox="1"/>
          <p:nvPr/>
        </p:nvSpPr>
        <p:spPr>
          <a:xfrm>
            <a:off x="566928" y="4078224"/>
            <a:ext cx="3246120" cy="292608"/>
          </a:xfrm>
          <a:prstGeom prst="rect">
            <a:avLst/>
          </a:prstGeom>
          <a:noFill/>
          <a:ln/>
        </p:spPr>
        <p:txBody>
          <a:bodyPr wrap="square" lIns="0" tIns="0" rIns="0" bIns="0" anchor="t">
            <a:normAutofit/>
          </a:bodyPr>
          <a:lstStyle/>
          <a:p>
            <a:pPr marL="0" indent="0" algn="l">
              <a:buNone/>
              <a:defRPr/>
            </a:pPr>
            <a:r>
              <a:rPr lang="en-US" sz="1600">
                <a:solidFill>
                  <a:srgbClr val="102a43"/>
                </a:solidFill>
                <a:latin typeface="맑은 고딕"/>
                <a:ea typeface="맑은 고딕"/>
                <a:cs typeface="맑은 고딕"/>
              </a:rPr>
              <a:t>반응형 UI · localStorage</a:t>
            </a:r>
            <a:endParaRPr lang="en-US" sz="1600"/>
          </a:p>
        </p:txBody>
      </p:sp>
      <p:sp>
        <p:nvSpPr>
          <p:cNvPr id="10" name="Text 8"/>
          <p:cNvSpPr txBox="1"/>
          <p:nvPr/>
        </p:nvSpPr>
        <p:spPr>
          <a:xfrm>
            <a:off x="4343400" y="1901952"/>
            <a:ext cx="3154680" cy="274320"/>
          </a:xfrm>
          <a:prstGeom prst="rect">
            <a:avLst/>
          </a:prstGeom>
          <a:noFill/>
          <a:ln/>
        </p:spPr>
        <p:txBody>
          <a:bodyPr wrap="square" lIns="0" tIns="0" rIns="0" bIns="0" anchor="t">
            <a:normAutofit/>
          </a:bodyPr>
          <a:lstStyle/>
          <a:p>
            <a:pPr marL="0" indent="0" algn="l">
              <a:buNone/>
              <a:defRPr/>
            </a:pPr>
            <a:r>
              <a:rPr lang="en-US" sz="1400" b="1">
                <a:solidFill>
                  <a:srgbClr val="1b7f6b"/>
                </a:solidFill>
                <a:latin typeface="맑은 고딕"/>
                <a:ea typeface="맑은 고딕"/>
                <a:cs typeface="맑은 고딕"/>
              </a:rPr>
              <a:t>BACKEND</a:t>
            </a:r>
            <a:endParaRPr lang="en-US" sz="1400"/>
          </a:p>
        </p:txBody>
      </p:sp>
      <p:sp>
        <p:nvSpPr>
          <p:cNvPr id="11" name="Shape 9"/>
          <p:cNvSpPr/>
          <p:nvPr/>
        </p:nvSpPr>
        <p:spPr>
          <a:xfrm>
            <a:off x="4343400" y="2304288"/>
            <a:ext cx="3200400" cy="0"/>
          </a:xfrm>
          <a:prstGeom prst="line">
            <a:avLst/>
          </a:prstGeom>
          <a:noFill/>
          <a:ln w="50800">
            <a:solidFill>
              <a:srgbClr val="1b7f6b"/>
            </a:solidFill>
            <a:prstDash val="solid"/>
          </a:ln>
        </p:spPr>
        <p:txBody>
          <a:bodyPr wrap="square" anchor="ctr"/>
          <a:p>
            <a:pPr algn="ctr">
              <a:defRPr/>
            </a:pPr>
            <a:endParaRPr lang="ko-KR" altLang="en-US"/>
          </a:p>
        </p:txBody>
      </p:sp>
      <p:sp>
        <p:nvSpPr>
          <p:cNvPr id="12" name="Text 10"/>
          <p:cNvSpPr txBox="1"/>
          <p:nvPr/>
        </p:nvSpPr>
        <p:spPr>
          <a:xfrm>
            <a:off x="4343400" y="2651760"/>
            <a:ext cx="3246120" cy="292608"/>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Java 21 · Spring Boot 3.5.x</a:t>
            </a:r>
            <a:endParaRPr lang="en-US" sz="1600"/>
          </a:p>
        </p:txBody>
      </p:sp>
      <p:sp>
        <p:nvSpPr>
          <p:cNvPr id="13" name="Text 11"/>
          <p:cNvSpPr txBox="1"/>
          <p:nvPr/>
        </p:nvSpPr>
        <p:spPr>
          <a:xfrm>
            <a:off x="4343400" y="3364992"/>
            <a:ext cx="3246120" cy="292608"/>
          </a:xfrm>
          <a:prstGeom prst="rect">
            <a:avLst/>
          </a:prstGeom>
          <a:noFill/>
          <a:ln/>
        </p:spPr>
        <p:txBody>
          <a:bodyPr wrap="square" lIns="0" tIns="0" rIns="0" bIns="0" anchor="t">
            <a:normAutofit/>
          </a:bodyPr>
          <a:lstStyle/>
          <a:p>
            <a:pPr marL="0" indent="0" algn="l">
              <a:buNone/>
              <a:defRPr/>
            </a:pPr>
            <a:r>
              <a:rPr lang="en-US" sz="1600">
                <a:solidFill>
                  <a:srgbClr val="102a43"/>
                </a:solidFill>
                <a:latin typeface="맑은 고딕"/>
                <a:ea typeface="맑은 고딕"/>
                <a:cs typeface="맑은 고딕"/>
              </a:rPr>
              <a:t>REST API · JPA · Flyway</a:t>
            </a:r>
            <a:endParaRPr lang="en-US" sz="1600"/>
          </a:p>
        </p:txBody>
      </p:sp>
      <p:sp>
        <p:nvSpPr>
          <p:cNvPr id="14" name="Text 12"/>
          <p:cNvSpPr txBox="1"/>
          <p:nvPr/>
        </p:nvSpPr>
        <p:spPr>
          <a:xfrm>
            <a:off x="4343400" y="4078224"/>
            <a:ext cx="3246120" cy="292608"/>
          </a:xfrm>
          <a:prstGeom prst="rect">
            <a:avLst/>
          </a:prstGeom>
          <a:noFill/>
          <a:ln/>
        </p:spPr>
        <p:txBody>
          <a:bodyPr wrap="square" lIns="0" tIns="0" rIns="0" bIns="0" anchor="t">
            <a:normAutofit/>
          </a:bodyPr>
          <a:lstStyle/>
          <a:p>
            <a:pPr marL="0" indent="0" algn="l">
              <a:buNone/>
              <a:defRPr/>
            </a:pPr>
            <a:r>
              <a:rPr lang="en-US" sz="1600">
                <a:solidFill>
                  <a:srgbClr val="102a43"/>
                </a:solidFill>
                <a:latin typeface="맑은 고딕"/>
                <a:ea typeface="맑은 고딕"/>
                <a:cs typeface="맑은 고딕"/>
              </a:rPr>
              <a:t>Node.js 데이터 중계</a:t>
            </a:r>
            <a:endParaRPr lang="en-US" sz="1600"/>
          </a:p>
        </p:txBody>
      </p:sp>
      <p:sp>
        <p:nvSpPr>
          <p:cNvPr id="15" name="Text 13"/>
          <p:cNvSpPr txBox="1"/>
          <p:nvPr/>
        </p:nvSpPr>
        <p:spPr>
          <a:xfrm>
            <a:off x="8119872" y="1901952"/>
            <a:ext cx="3154680" cy="274320"/>
          </a:xfrm>
          <a:prstGeom prst="rect">
            <a:avLst/>
          </a:prstGeom>
          <a:noFill/>
          <a:ln/>
        </p:spPr>
        <p:txBody>
          <a:bodyPr wrap="square" lIns="0" tIns="0" rIns="0" bIns="0" anchor="t">
            <a:normAutofit/>
          </a:bodyPr>
          <a:lstStyle/>
          <a:p>
            <a:pPr marL="0" indent="0" algn="l">
              <a:buNone/>
              <a:defRPr/>
            </a:pPr>
            <a:r>
              <a:rPr lang="en-US" sz="1400" b="1">
                <a:solidFill>
                  <a:srgbClr val="f07c55"/>
                </a:solidFill>
                <a:latin typeface="맑은 고딕"/>
                <a:ea typeface="맑은 고딕"/>
                <a:cs typeface="맑은 고딕"/>
              </a:rPr>
              <a:t>DATA &amp; OPS</a:t>
            </a:r>
            <a:endParaRPr lang="en-US" sz="1400"/>
          </a:p>
        </p:txBody>
      </p:sp>
      <p:sp>
        <p:nvSpPr>
          <p:cNvPr id="16" name="Shape 14"/>
          <p:cNvSpPr/>
          <p:nvPr/>
        </p:nvSpPr>
        <p:spPr>
          <a:xfrm>
            <a:off x="8119872" y="2304288"/>
            <a:ext cx="3200400" cy="0"/>
          </a:xfrm>
          <a:prstGeom prst="line">
            <a:avLst/>
          </a:prstGeom>
          <a:noFill/>
          <a:ln w="50800">
            <a:solidFill>
              <a:srgbClr val="f07c55"/>
            </a:solidFill>
            <a:prstDash val="solid"/>
          </a:ln>
        </p:spPr>
        <p:txBody>
          <a:bodyPr wrap="square" anchor="ctr"/>
          <a:p>
            <a:pPr algn="ctr">
              <a:defRPr/>
            </a:pPr>
            <a:endParaRPr lang="ko-KR" altLang="en-US"/>
          </a:p>
        </p:txBody>
      </p:sp>
      <p:sp>
        <p:nvSpPr>
          <p:cNvPr id="17" name="Text 15"/>
          <p:cNvSpPr txBox="1"/>
          <p:nvPr/>
        </p:nvSpPr>
        <p:spPr>
          <a:xfrm>
            <a:off x="8119872" y="2651760"/>
            <a:ext cx="3246120" cy="292608"/>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MySQL 8.4 · Aiven</a:t>
            </a:r>
            <a:endParaRPr lang="en-US" sz="1600"/>
          </a:p>
        </p:txBody>
      </p:sp>
      <p:sp>
        <p:nvSpPr>
          <p:cNvPr id="18" name="Text 16"/>
          <p:cNvSpPr txBox="1"/>
          <p:nvPr/>
        </p:nvSpPr>
        <p:spPr>
          <a:xfrm>
            <a:off x="8119872" y="3364992"/>
            <a:ext cx="3246120" cy="292608"/>
          </a:xfrm>
          <a:prstGeom prst="rect">
            <a:avLst/>
          </a:prstGeom>
          <a:noFill/>
          <a:ln/>
        </p:spPr>
        <p:txBody>
          <a:bodyPr wrap="square" lIns="0" tIns="0" rIns="0" bIns="0" anchor="t">
            <a:normAutofit/>
          </a:bodyPr>
          <a:lstStyle/>
          <a:p>
            <a:pPr marL="0" indent="0" algn="l">
              <a:buNone/>
              <a:defRPr/>
            </a:pPr>
            <a:r>
              <a:rPr lang="en-US" sz="1600">
                <a:solidFill>
                  <a:srgbClr val="102a43"/>
                </a:solidFill>
                <a:latin typeface="맑은 고딕"/>
                <a:ea typeface="맑은 고딕"/>
                <a:cs typeface="맑은 고딕"/>
              </a:rPr>
              <a:t>Netlify · Render · Docker</a:t>
            </a:r>
            <a:endParaRPr lang="en-US" sz="1600"/>
          </a:p>
        </p:txBody>
      </p:sp>
      <p:sp>
        <p:nvSpPr>
          <p:cNvPr id="19" name="Text 17"/>
          <p:cNvSpPr txBox="1"/>
          <p:nvPr/>
        </p:nvSpPr>
        <p:spPr>
          <a:xfrm>
            <a:off x="8119872" y="4078224"/>
            <a:ext cx="3246120" cy="292608"/>
          </a:xfrm>
          <a:prstGeom prst="rect">
            <a:avLst/>
          </a:prstGeom>
          <a:noFill/>
          <a:ln/>
        </p:spPr>
        <p:txBody>
          <a:bodyPr wrap="square" lIns="0" tIns="0" rIns="0" bIns="0" anchor="t">
            <a:normAutofit/>
          </a:bodyPr>
          <a:lstStyle/>
          <a:p>
            <a:pPr marL="0" indent="0" algn="l">
              <a:buNone/>
              <a:defRPr/>
            </a:pPr>
            <a:r>
              <a:rPr lang="en-US" sz="1600">
                <a:solidFill>
                  <a:srgbClr val="102a43"/>
                </a:solidFill>
                <a:latin typeface="맑은 고딕"/>
                <a:ea typeface="맑은 고딕"/>
                <a:cs typeface="맑은 고딕"/>
              </a:rPr>
              <a:t>Git · GitHub Actions</a:t>
            </a:r>
            <a:endParaRPr lang="en-US" sz="1600"/>
          </a:p>
        </p:txBody>
      </p:sp>
      <p:sp>
        <p:nvSpPr>
          <p:cNvPr id="20" name="Shape 18"/>
          <p:cNvSpPr/>
          <p:nvPr/>
        </p:nvSpPr>
        <p:spPr>
          <a:xfrm>
            <a:off x="566928" y="5074920"/>
            <a:ext cx="10927080" cy="731520"/>
          </a:xfrm>
          <a:prstGeom prst="roundRect">
            <a:avLst>
              <a:gd name="adj" fmla="val 15000"/>
            </a:avLst>
          </a:prstGeom>
          <a:solidFill>
            <a:srgbClr val="0f3b34"/>
          </a:solidFill>
          <a:ln w="12700">
            <a:solidFill>
              <a:srgbClr val="0f3b34"/>
            </a:solidFill>
            <a:prstDash val="solid"/>
          </a:ln>
        </p:spPr>
        <p:txBody>
          <a:bodyPr anchor="ctr"/>
          <a:p>
            <a:pPr algn="ctr">
              <a:defRPr/>
            </a:pPr>
            <a:endParaRPr lang="ko-KR" altLang="en-US"/>
          </a:p>
        </p:txBody>
      </p:sp>
      <p:sp>
        <p:nvSpPr>
          <p:cNvPr id="21" name="Text 19"/>
          <p:cNvSpPr txBox="1"/>
          <p:nvPr/>
        </p:nvSpPr>
        <p:spPr>
          <a:xfrm>
            <a:off x="841248" y="5321808"/>
            <a:ext cx="10378440" cy="237744"/>
          </a:xfrm>
          <a:prstGeom prst="rect">
            <a:avLst/>
          </a:prstGeom>
          <a:noFill/>
          <a:ln/>
        </p:spPr>
        <p:txBody>
          <a:bodyPr wrap="square" lIns="0" tIns="0" rIns="0" bIns="0" anchor="t">
            <a:normAutofit lnSpcReduction="10000"/>
          </a:bodyPr>
          <a:lstStyle/>
          <a:p>
            <a:pPr marL="0" indent="0" algn="ctr">
              <a:buNone/>
              <a:defRPr/>
            </a:pPr>
            <a:r>
              <a:rPr lang="en-US" sz="1600" b="1">
                <a:solidFill>
                  <a:srgbClr val="ffffff"/>
                </a:solidFill>
                <a:latin typeface="맑은 고딕"/>
                <a:ea typeface="맑은 고딕"/>
                <a:cs typeface="맑은 고딕"/>
              </a:rPr>
              <a:t>프로토타입은 브라우저만으로 시연하고, 핵심 도메인은 API·DB로 점진적 전환</a:t>
            </a:r>
            <a:endParaRPr lang="en-US" sz="1600"/>
          </a:p>
        </p:txBody>
      </p:sp>
      <p:sp>
        <p:nvSpPr>
          <p:cNvPr id="25"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4</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04 · ARCHITECTURE</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화면–API–서비스–DB를 분리해 기능 확장을 준비했습니다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브라우저 데모와 Spring Boot API가 공존하며 단계적으로 서버 기능을 넓힙니다.</a:t>
            </a:r>
            <a:endParaRPr lang="en-US" sz="1300"/>
          </a:p>
        </p:txBody>
      </p:sp>
      <p:sp>
        <p:nvSpPr>
          <p:cNvPr id="5" name="Shape 3"/>
          <p:cNvSpPr/>
          <p:nvPr/>
        </p:nvSpPr>
        <p:spPr>
          <a:xfrm>
            <a:off x="914400" y="1901952"/>
            <a:ext cx="10332720" cy="713232"/>
          </a:xfrm>
          <a:prstGeom prst="roundRect">
            <a:avLst>
              <a:gd name="adj" fmla="val 15385"/>
            </a:avLst>
          </a:prstGeom>
          <a:solidFill>
            <a:srgbClr val="eaf1ff"/>
          </a:solidFill>
          <a:ln w="12700">
            <a:solidFill>
              <a:srgbClr val="eaf1ff"/>
            </a:solidFill>
            <a:prstDash val="solid"/>
          </a:ln>
        </p:spPr>
        <p:txBody>
          <a:bodyPr anchor="ctr"/>
          <a:p>
            <a:pPr algn="ctr">
              <a:defRPr/>
            </a:pPr>
            <a:endParaRPr lang="ko-KR" altLang="en-US"/>
          </a:p>
        </p:txBody>
      </p:sp>
      <p:sp>
        <p:nvSpPr>
          <p:cNvPr id="6" name="Shape 4"/>
          <p:cNvSpPr/>
          <p:nvPr/>
        </p:nvSpPr>
        <p:spPr>
          <a:xfrm>
            <a:off x="1143000" y="2103120"/>
            <a:ext cx="1325880"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7" name="Text 5"/>
          <p:cNvSpPr txBox="1"/>
          <p:nvPr/>
        </p:nvSpPr>
        <p:spPr>
          <a:xfrm>
            <a:off x="1143000" y="2171700"/>
            <a:ext cx="1325880"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2f6fed"/>
                </a:solidFill>
                <a:latin typeface="맑은 고딕"/>
                <a:ea typeface="맑은 고딕"/>
                <a:cs typeface="맑은 고딕"/>
              </a:rPr>
              <a:t>VIEW</a:t>
            </a:r>
            <a:endParaRPr lang="en-US" sz="1000"/>
          </a:p>
        </p:txBody>
      </p:sp>
      <p:sp>
        <p:nvSpPr>
          <p:cNvPr id="8" name="Text 6"/>
          <p:cNvSpPr txBox="1"/>
          <p:nvPr/>
        </p:nvSpPr>
        <p:spPr>
          <a:xfrm>
            <a:off x="2743200" y="2103120"/>
            <a:ext cx="7955280" cy="256032"/>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HTML templates · CSS · Vanilla JS</a:t>
            </a:r>
            <a:endParaRPr lang="en-US" sz="1700"/>
          </a:p>
        </p:txBody>
      </p:sp>
      <p:sp>
        <p:nvSpPr>
          <p:cNvPr id="9" name="Shape 7"/>
          <p:cNvSpPr/>
          <p:nvPr/>
        </p:nvSpPr>
        <p:spPr>
          <a:xfrm>
            <a:off x="5779008" y="2688336"/>
            <a:ext cx="384048" cy="274320"/>
          </a:xfrm>
          <a:prstGeom prst="downArrow">
            <a:avLst>
              <a:gd name="adj1" fmla="val 50000"/>
              <a:gd name="adj2" fmla="val 50000"/>
            </a:avLst>
          </a:prstGeom>
          <a:solidFill>
            <a:srgbClr val="60746f"/>
          </a:solidFill>
          <a:ln w="12700">
            <a:solidFill>
              <a:srgbClr val="60746f"/>
            </a:solidFill>
            <a:prstDash val="solid"/>
          </a:ln>
        </p:spPr>
        <p:txBody>
          <a:bodyPr anchor="ctr"/>
          <a:p>
            <a:pPr algn="ctr">
              <a:defRPr/>
            </a:pPr>
            <a:endParaRPr lang="ko-KR" altLang="en-US"/>
          </a:p>
        </p:txBody>
      </p:sp>
      <p:sp>
        <p:nvSpPr>
          <p:cNvPr id="10" name="Shape 8"/>
          <p:cNvSpPr/>
          <p:nvPr/>
        </p:nvSpPr>
        <p:spPr>
          <a:xfrm>
            <a:off x="914400" y="2999232"/>
            <a:ext cx="10332720" cy="713232"/>
          </a:xfrm>
          <a:prstGeom prst="roundRect">
            <a:avLst>
              <a:gd name="adj" fmla="val 15385"/>
            </a:avLst>
          </a:prstGeom>
          <a:solidFill>
            <a:srgbClr val="ddf3ec"/>
          </a:solidFill>
          <a:ln w="12700">
            <a:solidFill>
              <a:srgbClr val="ddf3ec"/>
            </a:solidFill>
            <a:prstDash val="solid"/>
          </a:ln>
        </p:spPr>
        <p:txBody>
          <a:bodyPr anchor="ctr"/>
          <a:p>
            <a:pPr algn="ctr">
              <a:defRPr/>
            </a:pPr>
            <a:endParaRPr lang="ko-KR" altLang="en-US"/>
          </a:p>
        </p:txBody>
      </p:sp>
      <p:sp>
        <p:nvSpPr>
          <p:cNvPr id="11" name="Shape 9"/>
          <p:cNvSpPr/>
          <p:nvPr/>
        </p:nvSpPr>
        <p:spPr>
          <a:xfrm>
            <a:off x="1143000" y="3200400"/>
            <a:ext cx="1325880"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12" name="Text 10"/>
          <p:cNvSpPr txBox="1"/>
          <p:nvPr/>
        </p:nvSpPr>
        <p:spPr>
          <a:xfrm>
            <a:off x="1143000" y="3268980"/>
            <a:ext cx="1325880"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API / DOMAIN</a:t>
            </a:r>
            <a:endParaRPr lang="en-US" sz="1000"/>
          </a:p>
        </p:txBody>
      </p:sp>
      <p:sp>
        <p:nvSpPr>
          <p:cNvPr id="13" name="Text 11"/>
          <p:cNvSpPr txBox="1"/>
          <p:nvPr/>
        </p:nvSpPr>
        <p:spPr>
          <a:xfrm>
            <a:off x="2743200" y="3200400"/>
            <a:ext cx="7955280" cy="256032"/>
          </a:xfrm>
          <a:prstGeom prst="rect">
            <a:avLst/>
          </a:prstGeom>
          <a:noFill/>
          <a:ln/>
        </p:spPr>
        <p:txBody>
          <a:bodyPr wrap="square" lIns="0" tIns="0" rIns="0" bIns="0" anchor="t">
            <a:normAutofit lnSpcReduction="10000"/>
          </a:bodyPr>
          <a:lstStyle/>
          <a:p>
            <a:pPr marL="0" indent="0" algn="l">
              <a:buNone/>
              <a:defRPr/>
            </a:pPr>
            <a:r>
              <a:rPr lang="en-US" sz="1700" b="1">
                <a:solidFill>
                  <a:srgbClr val="102a43"/>
                </a:solidFill>
                <a:latin typeface="맑은 고딕"/>
                <a:ea typeface="맑은 고딕"/>
                <a:cs typeface="맑은 고딕"/>
              </a:rPr>
              <a:t>Controller → Service → Repository</a:t>
            </a:r>
            <a:endParaRPr lang="en-US" sz="1700"/>
          </a:p>
        </p:txBody>
      </p:sp>
      <p:sp>
        <p:nvSpPr>
          <p:cNvPr id="14" name="Shape 12"/>
          <p:cNvSpPr/>
          <p:nvPr/>
        </p:nvSpPr>
        <p:spPr>
          <a:xfrm>
            <a:off x="5779008" y="3785616"/>
            <a:ext cx="384048" cy="274320"/>
          </a:xfrm>
          <a:prstGeom prst="downArrow">
            <a:avLst>
              <a:gd name="adj1" fmla="val 50000"/>
              <a:gd name="adj2" fmla="val 50000"/>
            </a:avLst>
          </a:prstGeom>
          <a:solidFill>
            <a:srgbClr val="60746f"/>
          </a:solidFill>
          <a:ln w="12700">
            <a:solidFill>
              <a:srgbClr val="60746f"/>
            </a:solidFill>
            <a:prstDash val="solid"/>
          </a:ln>
        </p:spPr>
        <p:txBody>
          <a:bodyPr anchor="ctr"/>
          <a:p>
            <a:pPr algn="ctr">
              <a:defRPr/>
            </a:pPr>
            <a:endParaRPr lang="ko-KR" altLang="en-US"/>
          </a:p>
        </p:txBody>
      </p:sp>
      <p:sp>
        <p:nvSpPr>
          <p:cNvPr id="15" name="Shape 13"/>
          <p:cNvSpPr/>
          <p:nvPr/>
        </p:nvSpPr>
        <p:spPr>
          <a:xfrm>
            <a:off x="914400" y="4096512"/>
            <a:ext cx="10332720" cy="713232"/>
          </a:xfrm>
          <a:prstGeom prst="roundRect">
            <a:avLst>
              <a:gd name="adj" fmla="val 15385"/>
            </a:avLst>
          </a:prstGeom>
          <a:solidFill>
            <a:srgbClr val="fce9e2"/>
          </a:solidFill>
          <a:ln w="12700">
            <a:solidFill>
              <a:srgbClr val="fce9e2"/>
            </a:solidFill>
            <a:prstDash val="solid"/>
          </a:ln>
        </p:spPr>
        <p:txBody>
          <a:bodyPr anchor="ctr"/>
          <a:p>
            <a:pPr algn="ctr">
              <a:defRPr/>
            </a:pPr>
            <a:endParaRPr lang="ko-KR" altLang="en-US"/>
          </a:p>
        </p:txBody>
      </p:sp>
      <p:sp>
        <p:nvSpPr>
          <p:cNvPr id="16" name="Shape 14"/>
          <p:cNvSpPr/>
          <p:nvPr/>
        </p:nvSpPr>
        <p:spPr>
          <a:xfrm>
            <a:off x="1143000" y="4297680"/>
            <a:ext cx="1325880"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17" name="Text 15"/>
          <p:cNvSpPr txBox="1"/>
          <p:nvPr/>
        </p:nvSpPr>
        <p:spPr>
          <a:xfrm>
            <a:off x="1143000" y="4366260"/>
            <a:ext cx="1325880"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f07c55"/>
                </a:solidFill>
                <a:latin typeface="맑은 고딕"/>
                <a:ea typeface="맑은 고딕"/>
                <a:cs typeface="맑은 고딕"/>
              </a:rPr>
              <a:t>DATA</a:t>
            </a:r>
            <a:endParaRPr lang="en-US" sz="1000"/>
          </a:p>
        </p:txBody>
      </p:sp>
      <p:sp>
        <p:nvSpPr>
          <p:cNvPr id="18" name="Text 16"/>
          <p:cNvSpPr txBox="1"/>
          <p:nvPr/>
        </p:nvSpPr>
        <p:spPr>
          <a:xfrm>
            <a:off x="2743200" y="4297680"/>
            <a:ext cx="7955280" cy="256032"/>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MySQL · Flyway migration · 외부 공공데이터</a:t>
            </a:r>
            <a:endParaRPr lang="en-US" sz="1700"/>
          </a:p>
        </p:txBody>
      </p:sp>
      <p:sp>
        <p:nvSpPr>
          <p:cNvPr id="19" name="Text 17"/>
          <p:cNvSpPr txBox="1"/>
          <p:nvPr/>
        </p:nvSpPr>
        <p:spPr>
          <a:xfrm>
            <a:off x="914400" y="5230368"/>
            <a:ext cx="1828800" cy="256032"/>
          </a:xfrm>
          <a:prstGeom prst="rect">
            <a:avLst/>
          </a:prstGeom>
          <a:noFill/>
          <a:ln/>
        </p:spPr>
        <p:txBody>
          <a:bodyPr wrap="square" lIns="0" tIns="0" rIns="0" bIns="0" anchor="t">
            <a:normAutofit/>
          </a:bodyPr>
          <a:lstStyle/>
          <a:p>
            <a:pPr marL="0" indent="0" algn="l">
              <a:buNone/>
              <a:defRPr/>
            </a:pPr>
            <a:r>
              <a:rPr lang="en-US" sz="1400" b="1">
                <a:solidFill>
                  <a:srgbClr val="1b7f6b"/>
                </a:solidFill>
                <a:latin typeface="맑은 고딕"/>
                <a:ea typeface="맑은 고딕"/>
                <a:cs typeface="맑은 고딕"/>
              </a:rPr>
              <a:t>대표 코드 흐름</a:t>
            </a:r>
            <a:endParaRPr lang="en-US" sz="1400"/>
          </a:p>
        </p:txBody>
      </p:sp>
      <p:sp>
        <p:nvSpPr>
          <p:cNvPr id="20" name="Text 18"/>
          <p:cNvSpPr txBox="1"/>
          <p:nvPr/>
        </p:nvSpPr>
        <p:spPr>
          <a:xfrm>
            <a:off x="2331720" y="5202936"/>
            <a:ext cx="8595360" cy="347472"/>
          </a:xfrm>
          <a:prstGeom prst="rect">
            <a:avLst/>
          </a:prstGeom>
          <a:noFill/>
          <a:ln/>
        </p:spPr>
        <p:txBody>
          <a:bodyPr wrap="square" lIns="0" tIns="0" rIns="0" bIns="0" anchor="t">
            <a:normAutofit fontScale="92500"/>
          </a:bodyPr>
          <a:lstStyle/>
          <a:p>
            <a:pPr marL="0" indent="0" algn="l">
              <a:buNone/>
              <a:defRPr/>
            </a:pPr>
            <a:r>
              <a:rPr lang="en-US" sz="1400" b="1">
                <a:solidFill>
                  <a:srgbClr val="173b36"/>
                </a:solidFill>
                <a:latin typeface="맑은 고딕"/>
                <a:ea typeface="맑은 고딕"/>
                <a:cs typeface="맑은 고딕"/>
              </a:rPr>
              <a:t>PropertyController → 서비스/저장소 → PropertyListing   |   AuthController → AuthService → UserRepository</a:t>
            </a:r>
            <a:endParaRPr lang="en-US" sz="1400"/>
          </a:p>
        </p:txBody>
      </p:sp>
      <p:sp>
        <p:nvSpPr>
          <p:cNvPr id="25"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5</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05 · USER JOURNEY</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사용자는 탐색에서 계약 준비까지 끊김 없이 이동합니다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각 기능의 결과가 다음 행동으로 자연스럽게 연결되도록 설계했습니다.</a:t>
            </a:r>
            <a:endParaRPr lang="en-US" sz="1300"/>
          </a:p>
        </p:txBody>
      </p:sp>
      <p:sp>
        <p:nvSpPr>
          <p:cNvPr id="5" name="Shape 3"/>
          <p:cNvSpPr/>
          <p:nvPr/>
        </p:nvSpPr>
        <p:spPr>
          <a:xfrm>
            <a:off x="960120" y="2926080"/>
            <a:ext cx="10149840" cy="0"/>
          </a:xfrm>
          <a:prstGeom prst="line">
            <a:avLst/>
          </a:prstGeom>
          <a:noFill/>
          <a:ln w="63500">
            <a:solidFill>
              <a:srgbClr val="d9e7e2"/>
            </a:solidFill>
            <a:prstDash val="solid"/>
          </a:ln>
        </p:spPr>
        <p:txBody>
          <a:bodyPr wrap="square" anchor="ctr"/>
          <a:p>
            <a:pPr algn="ctr">
              <a:defRPr/>
            </a:pPr>
            <a:endParaRPr lang="ko-KR" altLang="en-US"/>
          </a:p>
        </p:txBody>
      </p:sp>
      <p:sp>
        <p:nvSpPr>
          <p:cNvPr id="6" name="Shape 4"/>
          <p:cNvSpPr/>
          <p:nvPr/>
        </p:nvSpPr>
        <p:spPr>
          <a:xfrm>
            <a:off x="1399032" y="2706624"/>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7" name="Text 5"/>
          <p:cNvSpPr txBox="1"/>
          <p:nvPr/>
        </p:nvSpPr>
        <p:spPr>
          <a:xfrm>
            <a:off x="1399032" y="2825496"/>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1</a:t>
            </a:r>
            <a:endParaRPr lang="en-US" sz="1100"/>
          </a:p>
        </p:txBody>
      </p:sp>
      <p:sp>
        <p:nvSpPr>
          <p:cNvPr id="8" name="Text 6"/>
          <p:cNvSpPr txBox="1"/>
          <p:nvPr/>
        </p:nvSpPr>
        <p:spPr>
          <a:xfrm>
            <a:off x="713232" y="3438144"/>
            <a:ext cx="1828800" cy="292608"/>
          </a:xfrm>
          <a:prstGeom prst="rect">
            <a:avLst/>
          </a:prstGeom>
          <a:noFill/>
          <a:ln/>
        </p:spPr>
        <p:txBody>
          <a:bodyPr wrap="square" lIns="0" tIns="0" rIns="0" bIns="0" anchor="t">
            <a:normAutofit/>
          </a:bodyPr>
          <a:lstStyle/>
          <a:p>
            <a:pPr marL="0" indent="0" algn="ctr">
              <a:buNone/>
              <a:defRPr/>
            </a:pPr>
            <a:r>
              <a:rPr lang="en-US" sz="1700" b="1">
                <a:solidFill>
                  <a:srgbClr val="102a43"/>
                </a:solidFill>
                <a:latin typeface="맑은 고딕"/>
                <a:ea typeface="맑은 고딕"/>
                <a:cs typeface="맑은 고딕"/>
              </a:rPr>
              <a:t>매물 탐색</a:t>
            </a:r>
            <a:endParaRPr lang="en-US" sz="1700"/>
          </a:p>
        </p:txBody>
      </p:sp>
      <p:sp>
        <p:nvSpPr>
          <p:cNvPr id="9" name="Text 7"/>
          <p:cNvSpPr txBox="1"/>
          <p:nvPr/>
        </p:nvSpPr>
        <p:spPr>
          <a:xfrm>
            <a:off x="713232" y="3886200"/>
            <a:ext cx="1828800" cy="502920"/>
          </a:xfrm>
          <a:prstGeom prst="rect">
            <a:avLst/>
          </a:prstGeom>
          <a:noFill/>
          <a:ln/>
        </p:spPr>
        <p:txBody>
          <a:bodyPr wrap="square" lIns="0" tIns="0" rIns="0" bIns="0" anchor="t">
            <a:normAutofit/>
          </a:bodyPr>
          <a:lstStyle/>
          <a:p>
            <a:pPr marL="0" indent="0" algn="ctr">
              <a:buNone/>
              <a:defRPr/>
            </a:pPr>
            <a:r>
              <a:rPr lang="en-US" sz="1300">
                <a:solidFill>
                  <a:srgbClr val="60746f"/>
                </a:solidFill>
                <a:latin typeface="맑은 고딕"/>
                <a:ea typeface="맑은 고딕"/>
                <a:cs typeface="맑은 고딕"/>
              </a:rPr>
              <a:t>지도·목록·필터</a:t>
            </a:r>
            <a:endParaRPr lang="en-US" sz="1300"/>
          </a:p>
        </p:txBody>
      </p:sp>
      <p:sp>
        <p:nvSpPr>
          <p:cNvPr id="10" name="Shape 8"/>
          <p:cNvSpPr/>
          <p:nvPr/>
        </p:nvSpPr>
        <p:spPr>
          <a:xfrm>
            <a:off x="3657600" y="2706624"/>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11" name="Text 9"/>
          <p:cNvSpPr txBox="1"/>
          <p:nvPr/>
        </p:nvSpPr>
        <p:spPr>
          <a:xfrm>
            <a:off x="3657600" y="2825496"/>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2</a:t>
            </a:r>
            <a:endParaRPr lang="en-US" sz="1100"/>
          </a:p>
        </p:txBody>
      </p:sp>
      <p:sp>
        <p:nvSpPr>
          <p:cNvPr id="12" name="Text 10"/>
          <p:cNvSpPr txBox="1"/>
          <p:nvPr/>
        </p:nvSpPr>
        <p:spPr>
          <a:xfrm>
            <a:off x="2971800" y="3438144"/>
            <a:ext cx="1828800" cy="292608"/>
          </a:xfrm>
          <a:prstGeom prst="rect">
            <a:avLst/>
          </a:prstGeom>
          <a:noFill/>
          <a:ln/>
        </p:spPr>
        <p:txBody>
          <a:bodyPr wrap="square" lIns="0" tIns="0" rIns="0" bIns="0" anchor="t">
            <a:normAutofit/>
          </a:bodyPr>
          <a:lstStyle/>
          <a:p>
            <a:pPr marL="0" indent="0" algn="ctr">
              <a:buNone/>
              <a:defRPr/>
            </a:pPr>
            <a:r>
              <a:rPr lang="en-US" sz="1700" b="1">
                <a:solidFill>
                  <a:srgbClr val="102a43"/>
                </a:solidFill>
                <a:latin typeface="맑은 고딕"/>
                <a:ea typeface="맑은 고딕"/>
                <a:cs typeface="맑은 고딕"/>
              </a:rPr>
              <a:t>안전 비교</a:t>
            </a:r>
            <a:endParaRPr lang="en-US" sz="1700"/>
          </a:p>
        </p:txBody>
      </p:sp>
      <p:sp>
        <p:nvSpPr>
          <p:cNvPr id="13" name="Text 11"/>
          <p:cNvSpPr txBox="1"/>
          <p:nvPr/>
        </p:nvSpPr>
        <p:spPr>
          <a:xfrm>
            <a:off x="2971800" y="3886200"/>
            <a:ext cx="1828800" cy="502920"/>
          </a:xfrm>
          <a:prstGeom prst="rect">
            <a:avLst/>
          </a:prstGeom>
          <a:noFill/>
          <a:ln/>
        </p:spPr>
        <p:txBody>
          <a:bodyPr wrap="square" lIns="0" tIns="0" rIns="0" bIns="0" anchor="t">
            <a:normAutofit/>
          </a:bodyPr>
          <a:lstStyle/>
          <a:p>
            <a:pPr marL="0" indent="0" algn="ctr">
              <a:buNone/>
              <a:defRPr/>
            </a:pPr>
            <a:r>
              <a:rPr lang="en-US" sz="1300">
                <a:solidFill>
                  <a:srgbClr val="60746f"/>
                </a:solidFill>
                <a:latin typeface="맑은 고딕"/>
                <a:ea typeface="맑은 고딕"/>
                <a:cs typeface="맑은 고딕"/>
              </a:rPr>
              <a:t>치안시설·위험도</a:t>
            </a:r>
            <a:endParaRPr lang="en-US" sz="1300"/>
          </a:p>
        </p:txBody>
      </p:sp>
      <p:sp>
        <p:nvSpPr>
          <p:cNvPr id="14" name="Shape 12"/>
          <p:cNvSpPr/>
          <p:nvPr/>
        </p:nvSpPr>
        <p:spPr>
          <a:xfrm>
            <a:off x="5916168" y="2706624"/>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15" name="Text 13"/>
          <p:cNvSpPr txBox="1"/>
          <p:nvPr/>
        </p:nvSpPr>
        <p:spPr>
          <a:xfrm>
            <a:off x="5916168" y="2825496"/>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3</a:t>
            </a:r>
            <a:endParaRPr lang="en-US" sz="1100"/>
          </a:p>
        </p:txBody>
      </p:sp>
      <p:sp>
        <p:nvSpPr>
          <p:cNvPr id="16" name="Text 14"/>
          <p:cNvSpPr txBox="1"/>
          <p:nvPr/>
        </p:nvSpPr>
        <p:spPr>
          <a:xfrm>
            <a:off x="5230368" y="3438144"/>
            <a:ext cx="1828800" cy="292608"/>
          </a:xfrm>
          <a:prstGeom prst="rect">
            <a:avLst/>
          </a:prstGeom>
          <a:noFill/>
          <a:ln/>
        </p:spPr>
        <p:txBody>
          <a:bodyPr wrap="square" lIns="0" tIns="0" rIns="0" bIns="0" anchor="t">
            <a:normAutofit/>
          </a:bodyPr>
          <a:lstStyle/>
          <a:p>
            <a:pPr marL="0" indent="0" algn="ctr">
              <a:buNone/>
              <a:defRPr/>
            </a:pPr>
            <a:r>
              <a:rPr lang="en-US" sz="1700" b="1">
                <a:solidFill>
                  <a:srgbClr val="102a43"/>
                </a:solidFill>
                <a:latin typeface="맑은 고딕"/>
                <a:ea typeface="맑은 고딕"/>
                <a:cs typeface="맑은 고딕"/>
              </a:rPr>
              <a:t>계약 진단</a:t>
            </a:r>
            <a:endParaRPr lang="en-US" sz="1700"/>
          </a:p>
        </p:txBody>
      </p:sp>
      <p:sp>
        <p:nvSpPr>
          <p:cNvPr id="17" name="Text 15"/>
          <p:cNvSpPr txBox="1"/>
          <p:nvPr/>
        </p:nvSpPr>
        <p:spPr>
          <a:xfrm>
            <a:off x="5230368" y="3886200"/>
            <a:ext cx="1828800" cy="502920"/>
          </a:xfrm>
          <a:prstGeom prst="rect">
            <a:avLst/>
          </a:prstGeom>
          <a:noFill/>
          <a:ln/>
        </p:spPr>
        <p:txBody>
          <a:bodyPr wrap="square" lIns="0" tIns="0" rIns="0" bIns="0" anchor="t">
            <a:normAutofit/>
          </a:bodyPr>
          <a:lstStyle/>
          <a:p>
            <a:pPr marL="0" indent="0" algn="ctr">
              <a:buNone/>
              <a:defRPr/>
            </a:pPr>
            <a:r>
              <a:rPr lang="en-US" sz="1300">
                <a:solidFill>
                  <a:srgbClr val="60746f"/>
                </a:solidFill>
                <a:latin typeface="맑은 고딕"/>
                <a:ea typeface="맑은 고딕"/>
                <a:cs typeface="맑은 고딕"/>
              </a:rPr>
              <a:t>체크리스트·전세가율</a:t>
            </a:r>
            <a:endParaRPr lang="en-US" sz="1300"/>
          </a:p>
        </p:txBody>
      </p:sp>
      <p:sp>
        <p:nvSpPr>
          <p:cNvPr id="18" name="Shape 16"/>
          <p:cNvSpPr/>
          <p:nvPr/>
        </p:nvSpPr>
        <p:spPr>
          <a:xfrm>
            <a:off x="8174736" y="2706624"/>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19" name="Text 17"/>
          <p:cNvSpPr txBox="1"/>
          <p:nvPr/>
        </p:nvSpPr>
        <p:spPr>
          <a:xfrm>
            <a:off x="8174736" y="2825496"/>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4</a:t>
            </a:r>
            <a:endParaRPr lang="en-US" sz="1100"/>
          </a:p>
        </p:txBody>
      </p:sp>
      <p:sp>
        <p:nvSpPr>
          <p:cNvPr id="20" name="Text 18"/>
          <p:cNvSpPr txBox="1"/>
          <p:nvPr/>
        </p:nvSpPr>
        <p:spPr>
          <a:xfrm>
            <a:off x="7488936" y="3438144"/>
            <a:ext cx="1828800" cy="292608"/>
          </a:xfrm>
          <a:prstGeom prst="rect">
            <a:avLst/>
          </a:prstGeom>
          <a:noFill/>
          <a:ln/>
        </p:spPr>
        <p:txBody>
          <a:bodyPr wrap="square" lIns="0" tIns="0" rIns="0" bIns="0" anchor="t">
            <a:normAutofit/>
          </a:bodyPr>
          <a:lstStyle/>
          <a:p>
            <a:pPr marL="0" indent="0" algn="ctr">
              <a:buNone/>
              <a:defRPr/>
            </a:pPr>
            <a:r>
              <a:rPr lang="en-US" sz="1700" b="1">
                <a:solidFill>
                  <a:srgbClr val="102a43"/>
                </a:solidFill>
                <a:latin typeface="맑은 고딕"/>
                <a:ea typeface="맑은 고딕"/>
                <a:cs typeface="맑은 고딕"/>
              </a:rPr>
              <a:t>지원 확인</a:t>
            </a:r>
            <a:endParaRPr lang="en-US" sz="1700"/>
          </a:p>
        </p:txBody>
      </p:sp>
      <p:sp>
        <p:nvSpPr>
          <p:cNvPr id="21" name="Text 19"/>
          <p:cNvSpPr txBox="1"/>
          <p:nvPr/>
        </p:nvSpPr>
        <p:spPr>
          <a:xfrm>
            <a:off x="7488936" y="3886200"/>
            <a:ext cx="1828800" cy="502920"/>
          </a:xfrm>
          <a:prstGeom prst="rect">
            <a:avLst/>
          </a:prstGeom>
          <a:noFill/>
          <a:ln/>
        </p:spPr>
        <p:txBody>
          <a:bodyPr wrap="square" lIns="0" tIns="0" rIns="0" bIns="0" anchor="t">
            <a:normAutofit/>
          </a:bodyPr>
          <a:lstStyle/>
          <a:p>
            <a:pPr marL="0" indent="0" algn="ctr">
              <a:buNone/>
              <a:defRPr/>
            </a:pPr>
            <a:r>
              <a:rPr lang="en-US" sz="1300">
                <a:solidFill>
                  <a:srgbClr val="60746f"/>
                </a:solidFill>
                <a:latin typeface="맑은 고딕"/>
                <a:ea typeface="맑은 고딕"/>
                <a:cs typeface="맑은 고딕"/>
              </a:rPr>
              <a:t>금융정책·공공임대</a:t>
            </a:r>
            <a:endParaRPr lang="en-US" sz="1300"/>
          </a:p>
        </p:txBody>
      </p:sp>
      <p:sp>
        <p:nvSpPr>
          <p:cNvPr id="22" name="Shape 20"/>
          <p:cNvSpPr/>
          <p:nvPr/>
        </p:nvSpPr>
        <p:spPr>
          <a:xfrm>
            <a:off x="10433304" y="2706624"/>
            <a:ext cx="438912" cy="438912"/>
          </a:xfrm>
          <a:prstGeom prst="ellipse">
            <a:avLst/>
          </a:prstGeom>
          <a:solidFill>
            <a:srgbClr val="f07c55"/>
          </a:solidFill>
          <a:ln w="12700">
            <a:solidFill>
              <a:srgbClr val="f07c55"/>
            </a:solidFill>
            <a:prstDash val="solid"/>
          </a:ln>
        </p:spPr>
        <p:txBody>
          <a:bodyPr anchor="ctr"/>
          <a:p>
            <a:pPr algn="ctr">
              <a:defRPr/>
            </a:pPr>
            <a:endParaRPr lang="ko-KR" altLang="en-US"/>
          </a:p>
        </p:txBody>
      </p:sp>
      <p:sp>
        <p:nvSpPr>
          <p:cNvPr id="23" name="Text 21"/>
          <p:cNvSpPr txBox="1"/>
          <p:nvPr/>
        </p:nvSpPr>
        <p:spPr>
          <a:xfrm>
            <a:off x="10433304" y="2825496"/>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5</a:t>
            </a:r>
            <a:endParaRPr lang="en-US" sz="1100"/>
          </a:p>
        </p:txBody>
      </p:sp>
      <p:sp>
        <p:nvSpPr>
          <p:cNvPr id="24" name="Text 22"/>
          <p:cNvSpPr txBox="1"/>
          <p:nvPr/>
        </p:nvSpPr>
        <p:spPr>
          <a:xfrm>
            <a:off x="9747504" y="3438144"/>
            <a:ext cx="1828800" cy="292608"/>
          </a:xfrm>
          <a:prstGeom prst="rect">
            <a:avLst/>
          </a:prstGeom>
          <a:noFill/>
          <a:ln/>
        </p:spPr>
        <p:txBody>
          <a:bodyPr wrap="square" lIns="0" tIns="0" rIns="0" bIns="0" anchor="t">
            <a:normAutofit/>
          </a:bodyPr>
          <a:lstStyle/>
          <a:p>
            <a:pPr marL="0" indent="0" algn="ctr">
              <a:buNone/>
              <a:defRPr/>
            </a:pPr>
            <a:r>
              <a:rPr lang="en-US" sz="1700" b="1">
                <a:solidFill>
                  <a:srgbClr val="102a43"/>
                </a:solidFill>
                <a:latin typeface="맑은 고딕"/>
                <a:ea typeface="맑은 고딕"/>
                <a:cs typeface="맑은 고딕"/>
              </a:rPr>
              <a:t>행동</a:t>
            </a:r>
            <a:endParaRPr lang="en-US" sz="1700"/>
          </a:p>
        </p:txBody>
      </p:sp>
      <p:sp>
        <p:nvSpPr>
          <p:cNvPr id="25" name="Text 23"/>
          <p:cNvSpPr txBox="1"/>
          <p:nvPr/>
        </p:nvSpPr>
        <p:spPr>
          <a:xfrm>
            <a:off x="9747504" y="3886200"/>
            <a:ext cx="1828800" cy="502920"/>
          </a:xfrm>
          <a:prstGeom prst="rect">
            <a:avLst/>
          </a:prstGeom>
          <a:noFill/>
          <a:ln/>
        </p:spPr>
        <p:txBody>
          <a:bodyPr wrap="square" lIns="0" tIns="0" rIns="0" bIns="0" anchor="t">
            <a:normAutofit/>
          </a:bodyPr>
          <a:lstStyle/>
          <a:p>
            <a:pPr marL="0" indent="0" algn="ctr">
              <a:buNone/>
              <a:defRPr/>
            </a:pPr>
            <a:r>
              <a:rPr lang="en-US" sz="1300">
                <a:solidFill>
                  <a:srgbClr val="60746f"/>
                </a:solidFill>
                <a:latin typeface="맑은 고딕"/>
                <a:ea typeface="맑은 고딕"/>
                <a:cs typeface="맑은 고딕"/>
              </a:rPr>
              <a:t>찜·방문예약·문의</a:t>
            </a:r>
            <a:endParaRPr lang="en-US" sz="1300"/>
          </a:p>
        </p:txBody>
      </p:sp>
      <p:sp>
        <p:nvSpPr>
          <p:cNvPr id="26" name="Shape 24"/>
          <p:cNvSpPr/>
          <p:nvPr/>
        </p:nvSpPr>
        <p:spPr>
          <a:xfrm>
            <a:off x="1938528" y="5029200"/>
            <a:ext cx="8366760" cy="658368"/>
          </a:xfrm>
          <a:prstGeom prst="roundRect">
            <a:avLst>
              <a:gd name="adj" fmla="val 16667"/>
            </a:avLst>
          </a:prstGeom>
          <a:solidFill>
            <a:srgbClr val="102a43"/>
          </a:solidFill>
          <a:ln w="12700">
            <a:solidFill>
              <a:srgbClr val="102a43"/>
            </a:solidFill>
            <a:prstDash val="solid"/>
          </a:ln>
        </p:spPr>
        <p:txBody>
          <a:bodyPr anchor="ctr"/>
          <a:p>
            <a:pPr algn="ctr">
              <a:defRPr/>
            </a:pPr>
            <a:endParaRPr lang="ko-KR" altLang="en-US"/>
          </a:p>
        </p:txBody>
      </p:sp>
      <p:sp>
        <p:nvSpPr>
          <p:cNvPr id="27" name="Text 25"/>
          <p:cNvSpPr txBox="1"/>
          <p:nvPr/>
        </p:nvSpPr>
        <p:spPr>
          <a:xfrm>
            <a:off x="2212848" y="5239512"/>
            <a:ext cx="7818120" cy="228600"/>
          </a:xfrm>
          <a:prstGeom prst="rect">
            <a:avLst/>
          </a:prstGeom>
          <a:noFill/>
          <a:ln/>
        </p:spPr>
        <p:txBody>
          <a:bodyPr wrap="square" lIns="0" tIns="0" rIns="0" bIns="0" anchor="t">
            <a:normAutofit lnSpcReduction="10000"/>
          </a:bodyPr>
          <a:lstStyle/>
          <a:p>
            <a:pPr marL="0" indent="0" algn="ctr">
              <a:buNone/>
              <a:defRPr/>
            </a:pPr>
            <a:r>
              <a:rPr lang="en-US" sz="1600" b="1">
                <a:solidFill>
                  <a:srgbClr val="ffffff"/>
                </a:solidFill>
                <a:latin typeface="맑은 고딕"/>
                <a:ea typeface="맑은 고딕"/>
                <a:cs typeface="맑은 고딕"/>
              </a:rPr>
              <a:t>핵심 가치  |  정보 통합 → 판단 지원 → 다음 행동</a:t>
            </a:r>
            <a:endParaRPr lang="en-US" sz="1600"/>
          </a:p>
        </p:txBody>
      </p:sp>
      <p:sp>
        <p:nvSpPr>
          <p:cNvPr id="28"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6</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06 · CORE SCREEN</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지도와 목록을 함께 보며 후보를 빠르게 좁힙니다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매물 유형·가격·옵션 필터가 목록과 지도에 동시에 반영됩니다.</a:t>
            </a:r>
            <a:endParaRPr lang="en-US" sz="1300"/>
          </a:p>
        </p:txBody>
      </p:sp>
      <p:sp>
        <p:nvSpPr>
          <p:cNvPr id="5" name="Shape 3"/>
          <p:cNvSpPr/>
          <p:nvPr/>
        </p:nvSpPr>
        <p:spPr>
          <a:xfrm>
            <a:off x="566928" y="1783080"/>
            <a:ext cx="7178040" cy="4251960"/>
          </a:xfrm>
          <a:prstGeom prst="roundRect">
            <a:avLst>
              <a:gd name="adj" fmla="val 2581"/>
            </a:avLst>
          </a:prstGeom>
          <a:solidFill>
            <a:srgbClr val="e7f0e9"/>
          </a:solidFill>
          <a:ln w="12700">
            <a:solidFill>
              <a:srgbClr val="d9e7e2"/>
            </a:solidFill>
            <a:prstDash val="solid"/>
          </a:ln>
        </p:spPr>
        <p:txBody>
          <a:bodyPr anchor="ctr"/>
          <a:p>
            <a:pPr algn="ctr">
              <a:defRPr/>
            </a:pPr>
            <a:endParaRPr lang="ko-KR" altLang="en-US"/>
          </a:p>
        </p:txBody>
      </p:sp>
      <p:sp>
        <p:nvSpPr>
          <p:cNvPr id="6" name="Shape 4"/>
          <p:cNvSpPr/>
          <p:nvPr/>
        </p:nvSpPr>
        <p:spPr>
          <a:xfrm>
            <a:off x="1005840" y="2286000"/>
            <a:ext cx="6126480" cy="0"/>
          </a:xfrm>
          <a:prstGeom prst="line">
            <a:avLst/>
          </a:prstGeom>
          <a:noFill/>
          <a:ln w="114300">
            <a:solidFill>
              <a:srgbClr val="ffffff">
                <a:alpha val="90000"/>
              </a:srgbClr>
            </a:solidFill>
            <a:prstDash val="solid"/>
          </a:ln>
        </p:spPr>
        <p:txBody>
          <a:bodyPr wrap="square" anchor="ctr"/>
          <a:p>
            <a:pPr algn="ctr">
              <a:defRPr/>
            </a:pPr>
            <a:endParaRPr lang="ko-KR" altLang="en-US"/>
          </a:p>
        </p:txBody>
      </p:sp>
      <p:sp>
        <p:nvSpPr>
          <p:cNvPr id="7" name="Shape 5"/>
          <p:cNvSpPr/>
          <p:nvPr/>
        </p:nvSpPr>
        <p:spPr>
          <a:xfrm>
            <a:off x="2011680" y="1810512"/>
            <a:ext cx="0" cy="4160520"/>
          </a:xfrm>
          <a:prstGeom prst="line">
            <a:avLst/>
          </a:prstGeom>
          <a:noFill/>
          <a:ln w="114300">
            <a:solidFill>
              <a:srgbClr val="ffffff">
                <a:alpha val="90000"/>
              </a:srgbClr>
            </a:solidFill>
            <a:prstDash val="solid"/>
          </a:ln>
        </p:spPr>
        <p:txBody>
          <a:bodyPr wrap="square" anchor="ctr"/>
          <a:p>
            <a:pPr algn="ctr">
              <a:defRPr/>
            </a:pPr>
            <a:endParaRPr lang="ko-KR" altLang="en-US"/>
          </a:p>
        </p:txBody>
      </p:sp>
      <p:sp>
        <p:nvSpPr>
          <p:cNvPr id="8" name="Shape 6"/>
          <p:cNvSpPr/>
          <p:nvPr/>
        </p:nvSpPr>
        <p:spPr>
          <a:xfrm>
            <a:off x="4572000" y="1810512"/>
            <a:ext cx="0" cy="4160520"/>
          </a:xfrm>
          <a:prstGeom prst="line">
            <a:avLst/>
          </a:prstGeom>
          <a:noFill/>
          <a:ln w="114300">
            <a:solidFill>
              <a:srgbClr val="ffffff">
                <a:alpha val="90000"/>
              </a:srgbClr>
            </a:solidFill>
            <a:prstDash val="solid"/>
          </a:ln>
        </p:spPr>
        <p:txBody>
          <a:bodyPr wrap="square" anchor="ctr"/>
          <a:p>
            <a:pPr algn="ctr">
              <a:defRPr/>
            </a:pPr>
            <a:endParaRPr lang="ko-KR" altLang="en-US"/>
          </a:p>
        </p:txBody>
      </p:sp>
      <p:sp>
        <p:nvSpPr>
          <p:cNvPr id="9" name="Shape 7"/>
          <p:cNvSpPr/>
          <p:nvPr/>
        </p:nvSpPr>
        <p:spPr>
          <a:xfrm>
            <a:off x="640080" y="4754880"/>
            <a:ext cx="6995160" cy="0"/>
          </a:xfrm>
          <a:prstGeom prst="line">
            <a:avLst/>
          </a:prstGeom>
          <a:noFill/>
          <a:ln w="114300">
            <a:solidFill>
              <a:srgbClr val="ffffff">
                <a:alpha val="90000"/>
              </a:srgbClr>
            </a:solidFill>
            <a:prstDash val="solid"/>
          </a:ln>
        </p:spPr>
        <p:txBody>
          <a:bodyPr wrap="square" anchor="ctr"/>
          <a:p>
            <a:pPr algn="ctr">
              <a:defRPr/>
            </a:pPr>
            <a:endParaRPr lang="ko-KR" altLang="en-US"/>
          </a:p>
        </p:txBody>
      </p:sp>
      <p:sp>
        <p:nvSpPr>
          <p:cNvPr id="10" name="Shape 8"/>
          <p:cNvSpPr/>
          <p:nvPr/>
        </p:nvSpPr>
        <p:spPr>
          <a:xfrm>
            <a:off x="1417320" y="2743200"/>
            <a:ext cx="594360" cy="594360"/>
          </a:xfrm>
          <a:prstGeom prst="ellipse">
            <a:avLst/>
          </a:prstGeom>
          <a:solidFill>
            <a:srgbClr val="2f6fed"/>
          </a:solidFill>
          <a:ln w="25400">
            <a:solidFill>
              <a:srgbClr val="ffffff"/>
            </a:solidFill>
            <a:prstDash val="solid"/>
          </a:ln>
        </p:spPr>
        <p:txBody>
          <a:bodyPr anchor="ctr"/>
          <a:p>
            <a:pPr algn="ctr">
              <a:defRPr/>
            </a:pPr>
            <a:endParaRPr lang="ko-KR" altLang="en-US"/>
          </a:p>
        </p:txBody>
      </p:sp>
      <p:sp>
        <p:nvSpPr>
          <p:cNvPr id="11" name="Text 9"/>
          <p:cNvSpPr txBox="1"/>
          <p:nvPr/>
        </p:nvSpPr>
        <p:spPr>
          <a:xfrm>
            <a:off x="1417320" y="2926080"/>
            <a:ext cx="594360" cy="146304"/>
          </a:xfrm>
          <a:prstGeom prst="rect">
            <a:avLst/>
          </a:prstGeom>
          <a:noFill/>
          <a:ln/>
        </p:spPr>
        <p:txBody>
          <a:bodyPr wrap="square" lIns="0" tIns="0" rIns="0" bIns="0" anchor="t">
            <a:normAutofit/>
          </a:bodyPr>
          <a:lstStyle/>
          <a:p>
            <a:pPr marL="0" indent="0" algn="ctr">
              <a:buNone/>
              <a:defRPr/>
            </a:pPr>
            <a:r>
              <a:rPr lang="en-US" sz="900" b="1">
                <a:solidFill>
                  <a:srgbClr val="ffffff"/>
                </a:solidFill>
                <a:latin typeface="맑은 고딕"/>
                <a:ea typeface="맑은 고딕"/>
                <a:cs typeface="맑은 고딕"/>
              </a:rPr>
              <a:t>55</a:t>
            </a:r>
            <a:endParaRPr lang="en-US" sz="900"/>
          </a:p>
        </p:txBody>
      </p:sp>
      <p:sp>
        <p:nvSpPr>
          <p:cNvPr id="12" name="Shape 10"/>
          <p:cNvSpPr/>
          <p:nvPr/>
        </p:nvSpPr>
        <p:spPr>
          <a:xfrm>
            <a:off x="3886200" y="2514600"/>
            <a:ext cx="594360" cy="594360"/>
          </a:xfrm>
          <a:prstGeom prst="ellipse">
            <a:avLst/>
          </a:prstGeom>
          <a:solidFill>
            <a:srgbClr val="f07c55"/>
          </a:solidFill>
          <a:ln w="25400">
            <a:solidFill>
              <a:srgbClr val="ffffff"/>
            </a:solidFill>
            <a:prstDash val="solid"/>
          </a:ln>
        </p:spPr>
        <p:txBody>
          <a:bodyPr anchor="ctr"/>
          <a:p>
            <a:pPr algn="ctr">
              <a:defRPr/>
            </a:pPr>
            <a:endParaRPr lang="ko-KR" altLang="en-US"/>
          </a:p>
        </p:txBody>
      </p:sp>
      <p:sp>
        <p:nvSpPr>
          <p:cNvPr id="13" name="Text 11"/>
          <p:cNvSpPr txBox="1"/>
          <p:nvPr/>
        </p:nvSpPr>
        <p:spPr>
          <a:xfrm>
            <a:off x="3886200" y="2697480"/>
            <a:ext cx="594360" cy="146304"/>
          </a:xfrm>
          <a:prstGeom prst="rect">
            <a:avLst/>
          </a:prstGeom>
          <a:noFill/>
          <a:ln/>
        </p:spPr>
        <p:txBody>
          <a:bodyPr wrap="square" lIns="0" tIns="0" rIns="0" bIns="0" anchor="t">
            <a:normAutofit/>
          </a:bodyPr>
          <a:lstStyle/>
          <a:p>
            <a:pPr marL="0" indent="0" algn="ctr">
              <a:buNone/>
              <a:defRPr/>
            </a:pPr>
            <a:r>
              <a:rPr lang="en-US" sz="900" b="1">
                <a:solidFill>
                  <a:srgbClr val="ffffff"/>
                </a:solidFill>
                <a:latin typeface="맑은 고딕"/>
                <a:ea typeface="맑은 고딕"/>
                <a:cs typeface="맑은 고딕"/>
              </a:rPr>
              <a:t>LH</a:t>
            </a:r>
            <a:endParaRPr lang="en-US" sz="900"/>
          </a:p>
        </p:txBody>
      </p:sp>
      <p:sp>
        <p:nvSpPr>
          <p:cNvPr id="14" name="Shape 12"/>
          <p:cNvSpPr/>
          <p:nvPr/>
        </p:nvSpPr>
        <p:spPr>
          <a:xfrm>
            <a:off x="5303520" y="3886200"/>
            <a:ext cx="594360" cy="594360"/>
          </a:xfrm>
          <a:prstGeom prst="ellipse">
            <a:avLst/>
          </a:prstGeom>
          <a:solidFill>
            <a:srgbClr val="2f6fed"/>
          </a:solidFill>
          <a:ln w="25400">
            <a:solidFill>
              <a:srgbClr val="ffffff"/>
            </a:solidFill>
            <a:prstDash val="solid"/>
          </a:ln>
        </p:spPr>
        <p:txBody>
          <a:bodyPr anchor="ctr"/>
          <a:p>
            <a:pPr algn="ctr">
              <a:defRPr/>
            </a:pPr>
            <a:endParaRPr lang="ko-KR" altLang="en-US"/>
          </a:p>
        </p:txBody>
      </p:sp>
      <p:sp>
        <p:nvSpPr>
          <p:cNvPr id="15" name="Text 13"/>
          <p:cNvSpPr txBox="1"/>
          <p:nvPr/>
        </p:nvSpPr>
        <p:spPr>
          <a:xfrm>
            <a:off x="5303520" y="4069080"/>
            <a:ext cx="594360" cy="146304"/>
          </a:xfrm>
          <a:prstGeom prst="rect">
            <a:avLst/>
          </a:prstGeom>
          <a:noFill/>
          <a:ln/>
        </p:spPr>
        <p:txBody>
          <a:bodyPr wrap="square" lIns="0" tIns="0" rIns="0" bIns="0" anchor="t">
            <a:normAutofit/>
          </a:bodyPr>
          <a:lstStyle/>
          <a:p>
            <a:pPr marL="0" indent="0" algn="ctr">
              <a:buNone/>
              <a:defRPr/>
            </a:pPr>
            <a:r>
              <a:rPr lang="en-US" sz="900" b="1">
                <a:solidFill>
                  <a:srgbClr val="ffffff"/>
                </a:solidFill>
                <a:latin typeface="맑은 고딕"/>
                <a:ea typeface="맑은 고딕"/>
                <a:cs typeface="맑은 고딕"/>
              </a:rPr>
              <a:t>48</a:t>
            </a:r>
            <a:endParaRPr lang="en-US" sz="900"/>
          </a:p>
        </p:txBody>
      </p:sp>
      <p:sp>
        <p:nvSpPr>
          <p:cNvPr id="16" name="Shape 14"/>
          <p:cNvSpPr/>
          <p:nvPr/>
        </p:nvSpPr>
        <p:spPr>
          <a:xfrm>
            <a:off x="2743200" y="4956048"/>
            <a:ext cx="594360" cy="594360"/>
          </a:xfrm>
          <a:prstGeom prst="ellipse">
            <a:avLst/>
          </a:prstGeom>
          <a:solidFill>
            <a:srgbClr val="2f6fed"/>
          </a:solidFill>
          <a:ln w="25400">
            <a:solidFill>
              <a:srgbClr val="ffffff"/>
            </a:solidFill>
            <a:prstDash val="solid"/>
          </a:ln>
        </p:spPr>
        <p:txBody>
          <a:bodyPr anchor="ctr"/>
          <a:p>
            <a:pPr algn="ctr">
              <a:defRPr/>
            </a:pPr>
            <a:endParaRPr lang="ko-KR" altLang="en-US"/>
          </a:p>
        </p:txBody>
      </p:sp>
      <p:sp>
        <p:nvSpPr>
          <p:cNvPr id="17" name="Text 15"/>
          <p:cNvSpPr txBox="1"/>
          <p:nvPr/>
        </p:nvSpPr>
        <p:spPr>
          <a:xfrm>
            <a:off x="2743200" y="5138928"/>
            <a:ext cx="594360" cy="146304"/>
          </a:xfrm>
          <a:prstGeom prst="rect">
            <a:avLst/>
          </a:prstGeom>
          <a:noFill/>
          <a:ln/>
        </p:spPr>
        <p:txBody>
          <a:bodyPr wrap="square" lIns="0" tIns="0" rIns="0" bIns="0" anchor="t">
            <a:normAutofit/>
          </a:bodyPr>
          <a:lstStyle/>
          <a:p>
            <a:pPr marL="0" indent="0" algn="ctr">
              <a:buNone/>
              <a:defRPr/>
            </a:pPr>
            <a:r>
              <a:rPr lang="en-US" sz="900" b="1">
                <a:solidFill>
                  <a:srgbClr val="ffffff"/>
                </a:solidFill>
                <a:latin typeface="맑은 고딕"/>
                <a:ea typeface="맑은 고딕"/>
                <a:cs typeface="맑은 고딕"/>
              </a:rPr>
              <a:t>1.6억</a:t>
            </a:r>
            <a:endParaRPr lang="en-US" sz="900"/>
          </a:p>
        </p:txBody>
      </p:sp>
      <p:sp>
        <p:nvSpPr>
          <p:cNvPr id="18" name="Text 16"/>
          <p:cNvSpPr txBox="1"/>
          <p:nvPr/>
        </p:nvSpPr>
        <p:spPr>
          <a:xfrm>
            <a:off x="8138160" y="1847088"/>
            <a:ext cx="2926080" cy="320040"/>
          </a:xfrm>
          <a:prstGeom prst="rect">
            <a:avLst/>
          </a:prstGeom>
          <a:noFill/>
          <a:ln/>
        </p:spPr>
        <p:txBody>
          <a:bodyPr wrap="square" lIns="0" tIns="0" rIns="0" bIns="0" anchor="t">
            <a:normAutofit/>
          </a:bodyPr>
          <a:lstStyle/>
          <a:p>
            <a:pPr marL="0" indent="0" algn="l">
              <a:buNone/>
              <a:defRPr/>
            </a:pPr>
            <a:r>
              <a:rPr lang="en-US" sz="1800" b="1">
                <a:solidFill>
                  <a:srgbClr val="1b7f6b"/>
                </a:solidFill>
                <a:latin typeface="맑은 고딕"/>
                <a:ea typeface="맑은 고딕"/>
                <a:cs typeface="맑은 고딕"/>
              </a:rPr>
              <a:t>실제 구현 기능</a:t>
            </a:r>
            <a:endParaRPr lang="en-US" sz="1800"/>
          </a:p>
        </p:txBody>
      </p:sp>
      <p:sp>
        <p:nvSpPr>
          <p:cNvPr id="19" name="Shape 17"/>
          <p:cNvSpPr/>
          <p:nvPr/>
        </p:nvSpPr>
        <p:spPr>
          <a:xfrm>
            <a:off x="8156448" y="2432304"/>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20" name="Text 18"/>
          <p:cNvSpPr txBox="1"/>
          <p:nvPr/>
        </p:nvSpPr>
        <p:spPr>
          <a:xfrm>
            <a:off x="8156448" y="2551176"/>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a:t>
            </a:r>
            <a:endParaRPr lang="en-US" sz="1100"/>
          </a:p>
        </p:txBody>
      </p:sp>
      <p:sp>
        <p:nvSpPr>
          <p:cNvPr id="21" name="Text 19"/>
          <p:cNvSpPr txBox="1"/>
          <p:nvPr/>
        </p:nvSpPr>
        <p:spPr>
          <a:xfrm>
            <a:off x="8759952" y="2487168"/>
            <a:ext cx="2606040" cy="256032"/>
          </a:xfrm>
          <a:prstGeom prst="rect">
            <a:avLst/>
          </a:prstGeom>
          <a:noFill/>
          <a:ln/>
        </p:spPr>
        <p:txBody>
          <a:bodyPr wrap="square" lIns="0" tIns="0" rIns="0" bIns="0" anchor="t">
            <a:normAutofit/>
          </a:bodyPr>
          <a:lstStyle/>
          <a:p>
            <a:pPr marL="0" indent="0" algn="l">
              <a:buNone/>
              <a:defRPr/>
            </a:pPr>
            <a:r>
              <a:rPr lang="en-US" sz="1400">
                <a:solidFill>
                  <a:srgbClr val="173b36"/>
                </a:solidFill>
                <a:latin typeface="맑은 고딕"/>
                <a:ea typeface="맑은 고딕"/>
                <a:cs typeface="맑은 고딕"/>
              </a:rPr>
              <a:t>경기도 31개 시·군 검색</a:t>
            </a:r>
            <a:endParaRPr lang="en-US" sz="1400"/>
          </a:p>
        </p:txBody>
      </p:sp>
      <p:sp>
        <p:nvSpPr>
          <p:cNvPr id="22" name="Shape 20"/>
          <p:cNvSpPr/>
          <p:nvPr/>
        </p:nvSpPr>
        <p:spPr>
          <a:xfrm>
            <a:off x="8156448" y="3054096"/>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23" name="Text 21"/>
          <p:cNvSpPr txBox="1"/>
          <p:nvPr/>
        </p:nvSpPr>
        <p:spPr>
          <a:xfrm>
            <a:off x="8156448" y="3172968"/>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a:t>
            </a:r>
            <a:endParaRPr lang="en-US" sz="1100"/>
          </a:p>
        </p:txBody>
      </p:sp>
      <p:sp>
        <p:nvSpPr>
          <p:cNvPr id="24" name="Text 22"/>
          <p:cNvSpPr txBox="1"/>
          <p:nvPr/>
        </p:nvSpPr>
        <p:spPr>
          <a:xfrm>
            <a:off x="8759952" y="3108960"/>
            <a:ext cx="2606040" cy="256032"/>
          </a:xfrm>
          <a:prstGeom prst="rect">
            <a:avLst/>
          </a:prstGeom>
          <a:noFill/>
          <a:ln/>
        </p:spPr>
        <p:txBody>
          <a:bodyPr wrap="square" lIns="0" tIns="0" rIns="0" bIns="0" anchor="t">
            <a:normAutofit/>
          </a:bodyPr>
          <a:lstStyle/>
          <a:p>
            <a:pPr marL="0" indent="0" algn="l">
              <a:buNone/>
              <a:defRPr/>
            </a:pPr>
            <a:r>
              <a:rPr lang="en-US" sz="1400">
                <a:solidFill>
                  <a:srgbClr val="173b36"/>
                </a:solidFill>
                <a:latin typeface="맑은 고딕"/>
                <a:ea typeface="맑은 고딕"/>
                <a:cs typeface="맑은 고딕"/>
              </a:rPr>
              <a:t>보증금·월세·주택 유형 필터</a:t>
            </a:r>
            <a:endParaRPr lang="en-US" sz="1400"/>
          </a:p>
        </p:txBody>
      </p:sp>
      <p:sp>
        <p:nvSpPr>
          <p:cNvPr id="25" name="Shape 23"/>
          <p:cNvSpPr/>
          <p:nvPr/>
        </p:nvSpPr>
        <p:spPr>
          <a:xfrm>
            <a:off x="8156448" y="3675888"/>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26" name="Text 24"/>
          <p:cNvSpPr txBox="1"/>
          <p:nvPr/>
        </p:nvSpPr>
        <p:spPr>
          <a:xfrm>
            <a:off x="8156448" y="3794760"/>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a:t>
            </a:r>
            <a:endParaRPr lang="en-US" sz="1100"/>
          </a:p>
        </p:txBody>
      </p:sp>
      <p:sp>
        <p:nvSpPr>
          <p:cNvPr id="27" name="Text 25"/>
          <p:cNvSpPr txBox="1"/>
          <p:nvPr/>
        </p:nvSpPr>
        <p:spPr>
          <a:xfrm>
            <a:off x="8759952" y="3730752"/>
            <a:ext cx="2606040" cy="256032"/>
          </a:xfrm>
          <a:prstGeom prst="rect">
            <a:avLst/>
          </a:prstGeom>
          <a:noFill/>
          <a:ln/>
        </p:spPr>
        <p:txBody>
          <a:bodyPr wrap="square" lIns="0" tIns="0" rIns="0" bIns="0" anchor="t">
            <a:normAutofit/>
          </a:bodyPr>
          <a:lstStyle/>
          <a:p>
            <a:pPr marL="0" indent="0" algn="l">
              <a:buNone/>
              <a:defRPr/>
            </a:pPr>
            <a:r>
              <a:rPr lang="en-US" sz="1400">
                <a:solidFill>
                  <a:srgbClr val="173b36"/>
                </a:solidFill>
                <a:latin typeface="맑은 고딕"/>
                <a:ea typeface="맑은 고딕"/>
                <a:cs typeface="맑은 고딕"/>
              </a:rPr>
              <a:t>주차·엘리베이터·반려동물 옵션</a:t>
            </a:r>
            <a:endParaRPr lang="en-US" sz="1400"/>
          </a:p>
        </p:txBody>
      </p:sp>
      <p:sp>
        <p:nvSpPr>
          <p:cNvPr id="28" name="Shape 26"/>
          <p:cNvSpPr/>
          <p:nvPr/>
        </p:nvSpPr>
        <p:spPr>
          <a:xfrm>
            <a:off x="8156448" y="4297680"/>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29" name="Text 27"/>
          <p:cNvSpPr txBox="1"/>
          <p:nvPr/>
        </p:nvSpPr>
        <p:spPr>
          <a:xfrm>
            <a:off x="8156448" y="4416552"/>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a:t>
            </a:r>
            <a:endParaRPr lang="en-US" sz="1100"/>
          </a:p>
        </p:txBody>
      </p:sp>
      <p:sp>
        <p:nvSpPr>
          <p:cNvPr id="30" name="Text 28"/>
          <p:cNvSpPr txBox="1"/>
          <p:nvPr/>
        </p:nvSpPr>
        <p:spPr>
          <a:xfrm>
            <a:off x="8759952" y="4352544"/>
            <a:ext cx="2606040" cy="256032"/>
          </a:xfrm>
          <a:prstGeom prst="rect">
            <a:avLst/>
          </a:prstGeom>
          <a:noFill/>
          <a:ln/>
        </p:spPr>
        <p:txBody>
          <a:bodyPr wrap="square" lIns="0" tIns="0" rIns="0" bIns="0" anchor="t">
            <a:normAutofit/>
          </a:bodyPr>
          <a:lstStyle/>
          <a:p>
            <a:pPr marL="0" indent="0" algn="l">
              <a:buNone/>
              <a:defRPr/>
            </a:pPr>
            <a:r>
              <a:rPr lang="en-US" sz="1400" b="1">
                <a:solidFill>
                  <a:srgbClr val="173b36"/>
                </a:solidFill>
                <a:latin typeface="맑은 고딕"/>
                <a:ea typeface="맑은 고딕"/>
                <a:cs typeface="맑은 고딕"/>
              </a:rPr>
              <a:t>상세 패널·찜하기 동기화</a:t>
            </a:r>
            <a:endParaRPr lang="en-US" sz="1400"/>
          </a:p>
        </p:txBody>
      </p:sp>
      <p:sp>
        <p:nvSpPr>
          <p:cNvPr id="31" name="Shape 29"/>
          <p:cNvSpPr/>
          <p:nvPr/>
        </p:nvSpPr>
        <p:spPr>
          <a:xfrm>
            <a:off x="8156448" y="4919472"/>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32" name="Text 30"/>
          <p:cNvSpPr txBox="1"/>
          <p:nvPr/>
        </p:nvSpPr>
        <p:spPr>
          <a:xfrm>
            <a:off x="8156448" y="5038344"/>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a:t>
            </a:r>
            <a:endParaRPr lang="en-US" sz="1100"/>
          </a:p>
        </p:txBody>
      </p:sp>
      <p:sp>
        <p:nvSpPr>
          <p:cNvPr id="33" name="Text 31"/>
          <p:cNvSpPr txBox="1"/>
          <p:nvPr/>
        </p:nvSpPr>
        <p:spPr>
          <a:xfrm>
            <a:off x="8759952" y="4974336"/>
            <a:ext cx="2606040" cy="256032"/>
          </a:xfrm>
          <a:prstGeom prst="rect">
            <a:avLst/>
          </a:prstGeom>
          <a:noFill/>
          <a:ln/>
        </p:spPr>
        <p:txBody>
          <a:bodyPr wrap="square" lIns="0" tIns="0" rIns="0" bIns="0" anchor="t">
            <a:normAutofit/>
          </a:bodyPr>
          <a:lstStyle/>
          <a:p>
            <a:pPr marL="0" indent="0" algn="l">
              <a:buNone/>
              <a:defRPr/>
            </a:pPr>
            <a:r>
              <a:rPr lang="en-US" sz="1400">
                <a:solidFill>
                  <a:srgbClr val="173b36"/>
                </a:solidFill>
                <a:latin typeface="맑은 고딕"/>
                <a:ea typeface="맑은 고딕"/>
                <a:cs typeface="맑은 고딕"/>
              </a:rPr>
              <a:t>일반 매물 등록 흐름</a:t>
            </a:r>
            <a:endParaRPr lang="en-US" sz="1400"/>
          </a:p>
        </p:txBody>
      </p:sp>
      <p:sp>
        <p:nvSpPr>
          <p:cNvPr id="34"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7</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07 · SAFETY</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복잡한 계약 위험을 점수와 행동 가이드로 바꿨습니다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‘위험하다’는 경고에서 끝나지 않고 무엇을 확인할지 안내합니다.</a:t>
            </a:r>
            <a:endParaRPr lang="en-US" sz="1300"/>
          </a:p>
        </p:txBody>
      </p:sp>
      <p:sp>
        <p:nvSpPr>
          <p:cNvPr id="5" name="Shape 3"/>
          <p:cNvSpPr/>
          <p:nvPr/>
        </p:nvSpPr>
        <p:spPr>
          <a:xfrm>
            <a:off x="640080" y="1837944"/>
            <a:ext cx="438912" cy="438912"/>
          </a:xfrm>
          <a:prstGeom prst="ellipse">
            <a:avLst/>
          </a:prstGeom>
          <a:solidFill>
            <a:srgbClr val="1b7f6b"/>
          </a:solidFill>
          <a:ln w="12700">
            <a:solidFill>
              <a:srgbClr val="1b7f6b"/>
            </a:solidFill>
            <a:prstDash val="solid"/>
          </a:ln>
        </p:spPr>
        <p:txBody>
          <a:bodyPr anchor="ctr"/>
          <a:p>
            <a:pPr algn="ctr">
              <a:defRPr/>
            </a:pPr>
            <a:endParaRPr lang="ko-KR" altLang="en-US"/>
          </a:p>
        </p:txBody>
      </p:sp>
      <p:sp>
        <p:nvSpPr>
          <p:cNvPr id="6" name="Text 4"/>
          <p:cNvSpPr txBox="1"/>
          <p:nvPr/>
        </p:nvSpPr>
        <p:spPr>
          <a:xfrm>
            <a:off x="640080" y="1956816"/>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1</a:t>
            </a:r>
            <a:endParaRPr lang="en-US" sz="1100"/>
          </a:p>
        </p:txBody>
      </p:sp>
      <p:sp>
        <p:nvSpPr>
          <p:cNvPr id="7" name="Text 5"/>
          <p:cNvSpPr txBox="1"/>
          <p:nvPr/>
        </p:nvSpPr>
        <p:spPr>
          <a:xfrm>
            <a:off x="1261872" y="1810512"/>
            <a:ext cx="2926080" cy="256032"/>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3단계 체크리스트</a:t>
            </a:r>
            <a:endParaRPr lang="en-US" sz="1600"/>
          </a:p>
        </p:txBody>
      </p:sp>
      <p:sp>
        <p:nvSpPr>
          <p:cNvPr id="8" name="Text 6"/>
          <p:cNvSpPr txBox="1"/>
          <p:nvPr/>
        </p:nvSpPr>
        <p:spPr>
          <a:xfrm>
            <a:off x="1261872" y="2194560"/>
            <a:ext cx="4389120" cy="2743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계약 전·당일·입주 후 확인 항목</a:t>
            </a:r>
            <a:endParaRPr lang="en-US" sz="1300"/>
          </a:p>
        </p:txBody>
      </p:sp>
      <p:sp>
        <p:nvSpPr>
          <p:cNvPr id="9" name="Shape 7"/>
          <p:cNvSpPr/>
          <p:nvPr/>
        </p:nvSpPr>
        <p:spPr>
          <a:xfrm>
            <a:off x="640080" y="2825496"/>
            <a:ext cx="438912" cy="438912"/>
          </a:xfrm>
          <a:prstGeom prst="ellipse">
            <a:avLst/>
          </a:prstGeom>
          <a:solidFill>
            <a:srgbClr val="f07c55"/>
          </a:solidFill>
          <a:ln w="12700">
            <a:solidFill>
              <a:srgbClr val="f07c55"/>
            </a:solidFill>
            <a:prstDash val="solid"/>
          </a:ln>
        </p:spPr>
        <p:txBody>
          <a:bodyPr anchor="ctr"/>
          <a:p>
            <a:pPr algn="ctr">
              <a:defRPr/>
            </a:pPr>
            <a:endParaRPr lang="ko-KR" altLang="en-US"/>
          </a:p>
        </p:txBody>
      </p:sp>
      <p:sp>
        <p:nvSpPr>
          <p:cNvPr id="10" name="Text 8"/>
          <p:cNvSpPr txBox="1"/>
          <p:nvPr/>
        </p:nvSpPr>
        <p:spPr>
          <a:xfrm>
            <a:off x="640080" y="2944368"/>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2</a:t>
            </a:r>
            <a:endParaRPr lang="en-US" sz="1100"/>
          </a:p>
        </p:txBody>
      </p:sp>
      <p:sp>
        <p:nvSpPr>
          <p:cNvPr id="11" name="Text 9"/>
          <p:cNvSpPr txBox="1"/>
          <p:nvPr/>
        </p:nvSpPr>
        <p:spPr>
          <a:xfrm>
            <a:off x="1261872" y="2798064"/>
            <a:ext cx="2926080" cy="256032"/>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전세가율 계산기</a:t>
            </a:r>
            <a:endParaRPr lang="en-US" sz="1600"/>
          </a:p>
        </p:txBody>
      </p:sp>
      <p:sp>
        <p:nvSpPr>
          <p:cNvPr id="12" name="Text 10"/>
          <p:cNvSpPr txBox="1"/>
          <p:nvPr/>
        </p:nvSpPr>
        <p:spPr>
          <a:xfrm>
            <a:off x="1261872" y="3182112"/>
            <a:ext cx="4389120" cy="2743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매매가·보증금·선순위 채권 반영</a:t>
            </a:r>
            <a:endParaRPr lang="en-US" sz="1300"/>
          </a:p>
        </p:txBody>
      </p:sp>
      <p:sp>
        <p:nvSpPr>
          <p:cNvPr id="13" name="Shape 11"/>
          <p:cNvSpPr/>
          <p:nvPr/>
        </p:nvSpPr>
        <p:spPr>
          <a:xfrm>
            <a:off x="640080" y="3813048"/>
            <a:ext cx="438912" cy="438912"/>
          </a:xfrm>
          <a:prstGeom prst="ellipse">
            <a:avLst/>
          </a:prstGeom>
          <a:solidFill>
            <a:srgbClr val="2f6fed"/>
          </a:solidFill>
          <a:ln w="12700">
            <a:solidFill>
              <a:srgbClr val="2f6fed"/>
            </a:solidFill>
            <a:prstDash val="solid"/>
          </a:ln>
        </p:spPr>
        <p:txBody>
          <a:bodyPr anchor="ctr"/>
          <a:p>
            <a:pPr algn="ctr">
              <a:defRPr/>
            </a:pPr>
            <a:endParaRPr lang="ko-KR" altLang="en-US"/>
          </a:p>
        </p:txBody>
      </p:sp>
      <p:sp>
        <p:nvSpPr>
          <p:cNvPr id="14" name="Text 12"/>
          <p:cNvSpPr txBox="1"/>
          <p:nvPr/>
        </p:nvSpPr>
        <p:spPr>
          <a:xfrm>
            <a:off x="640080" y="3931920"/>
            <a:ext cx="438912" cy="146304"/>
          </a:xfrm>
          <a:prstGeom prst="rect">
            <a:avLst/>
          </a:prstGeom>
          <a:noFill/>
          <a:ln/>
        </p:spPr>
        <p:txBody>
          <a:bodyPr wrap="square" lIns="0" tIns="0" rIns="0" bIns="0" anchor="t">
            <a:normAutofit lnSpcReduction="10000"/>
          </a:bodyPr>
          <a:lstStyle/>
          <a:p>
            <a:pPr marL="0" indent="0" algn="ctr">
              <a:buNone/>
              <a:defRPr/>
            </a:pPr>
            <a:r>
              <a:rPr lang="en-US" sz="1100" b="1">
                <a:solidFill>
                  <a:srgbClr val="ffffff"/>
                </a:solidFill>
                <a:latin typeface="맑은 고딕"/>
                <a:ea typeface="맑은 고딕"/>
                <a:cs typeface="맑은 고딕"/>
              </a:rPr>
              <a:t>3</a:t>
            </a:r>
            <a:endParaRPr lang="en-US" sz="1100"/>
          </a:p>
        </p:txBody>
      </p:sp>
      <p:sp>
        <p:nvSpPr>
          <p:cNvPr id="15" name="Text 13"/>
          <p:cNvSpPr txBox="1"/>
          <p:nvPr/>
        </p:nvSpPr>
        <p:spPr>
          <a:xfrm>
            <a:off x="1261872" y="3785616"/>
            <a:ext cx="2926080" cy="256032"/>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안전 결과 리포트</a:t>
            </a:r>
            <a:endParaRPr lang="en-US" sz="1600"/>
          </a:p>
        </p:txBody>
      </p:sp>
      <p:sp>
        <p:nvSpPr>
          <p:cNvPr id="16" name="Text 14"/>
          <p:cNvSpPr txBox="1"/>
          <p:nvPr/>
        </p:nvSpPr>
        <p:spPr>
          <a:xfrm>
            <a:off x="1261872" y="4169664"/>
            <a:ext cx="4389120" cy="2743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안전/주의/위험 등급과 취약점</a:t>
            </a:r>
            <a:endParaRPr lang="en-US" sz="1300"/>
          </a:p>
        </p:txBody>
      </p:sp>
      <p:sp>
        <p:nvSpPr>
          <p:cNvPr id="17" name="Shape 15"/>
          <p:cNvSpPr/>
          <p:nvPr/>
        </p:nvSpPr>
        <p:spPr>
          <a:xfrm>
            <a:off x="640080" y="4800600"/>
            <a:ext cx="438912" cy="438912"/>
          </a:xfrm>
          <a:prstGeom prst="ellipse">
            <a:avLst/>
          </a:prstGeom>
          <a:solidFill>
            <a:srgbClr val="52c7b8"/>
          </a:solidFill>
          <a:ln w="12700">
            <a:solidFill>
              <a:srgbClr val="52c7b8"/>
            </a:solidFill>
            <a:prstDash val="solid"/>
          </a:ln>
        </p:spPr>
        <p:txBody>
          <a:bodyPr anchor="ctr"/>
          <a:p>
            <a:pPr algn="ctr">
              <a:defRPr/>
            </a:pPr>
            <a:endParaRPr lang="ko-KR" altLang="en-US"/>
          </a:p>
        </p:txBody>
      </p:sp>
      <p:sp>
        <p:nvSpPr>
          <p:cNvPr id="18" name="Text 16"/>
          <p:cNvSpPr txBox="1"/>
          <p:nvPr/>
        </p:nvSpPr>
        <p:spPr>
          <a:xfrm>
            <a:off x="640080" y="4919472"/>
            <a:ext cx="438912" cy="146304"/>
          </a:xfrm>
          <a:prstGeom prst="rect">
            <a:avLst/>
          </a:prstGeom>
          <a:noFill/>
          <a:ln/>
        </p:spPr>
        <p:txBody>
          <a:bodyPr wrap="square" lIns="0" tIns="0" rIns="0" bIns="0" anchor="t">
            <a:normAutofit fontScale="92500" lnSpcReduction="10000"/>
          </a:bodyPr>
          <a:lstStyle/>
          <a:p>
            <a:pPr marL="0" indent="0" algn="ctr">
              <a:buNone/>
              <a:defRPr/>
            </a:pPr>
            <a:r>
              <a:rPr lang="en-US" sz="1100" b="1">
                <a:solidFill>
                  <a:srgbClr val="ffffff"/>
                </a:solidFill>
                <a:latin typeface="맑은 고딕"/>
                <a:ea typeface="맑은 고딕"/>
                <a:cs typeface="맑은 고딕"/>
              </a:rPr>
              <a:t>4</a:t>
            </a:r>
            <a:endParaRPr lang="en-US" sz="1100"/>
          </a:p>
        </p:txBody>
      </p:sp>
      <p:sp>
        <p:nvSpPr>
          <p:cNvPr id="19" name="Text 17"/>
          <p:cNvSpPr txBox="1"/>
          <p:nvPr/>
        </p:nvSpPr>
        <p:spPr>
          <a:xfrm>
            <a:off x="1261872" y="4773168"/>
            <a:ext cx="2926080" cy="256032"/>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지역 안전 지도</a:t>
            </a:r>
            <a:endParaRPr lang="en-US" sz="1600"/>
          </a:p>
        </p:txBody>
      </p:sp>
      <p:sp>
        <p:nvSpPr>
          <p:cNvPr id="20" name="Text 18"/>
          <p:cNvSpPr txBox="1"/>
          <p:nvPr/>
        </p:nvSpPr>
        <p:spPr>
          <a:xfrm>
            <a:off x="1261872" y="5157216"/>
            <a:ext cx="4389120" cy="2743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CCTV·비상벨·지구대·주의구간</a:t>
            </a:r>
            <a:endParaRPr lang="en-US" sz="1300"/>
          </a:p>
        </p:txBody>
      </p:sp>
      <p:sp>
        <p:nvSpPr>
          <p:cNvPr id="21" name="Shape 19"/>
          <p:cNvSpPr/>
          <p:nvPr/>
        </p:nvSpPr>
        <p:spPr>
          <a:xfrm>
            <a:off x="6629400" y="1810512"/>
            <a:ext cx="4663440" cy="4069080"/>
          </a:xfrm>
          <a:prstGeom prst="roundRect">
            <a:avLst>
              <a:gd name="adj" fmla="val 2697"/>
            </a:avLst>
          </a:prstGeom>
          <a:solidFill>
            <a:srgbClr val="102a43"/>
          </a:solidFill>
          <a:ln w="12700">
            <a:solidFill>
              <a:srgbClr val="102a43"/>
            </a:solidFill>
            <a:prstDash val="solid"/>
          </a:ln>
        </p:spPr>
        <p:txBody>
          <a:bodyPr anchor="ctr"/>
          <a:p>
            <a:pPr algn="ctr">
              <a:defRPr/>
            </a:pPr>
            <a:endParaRPr lang="ko-KR" altLang="en-US"/>
          </a:p>
        </p:txBody>
      </p:sp>
      <p:sp>
        <p:nvSpPr>
          <p:cNvPr id="22" name="Text 20"/>
          <p:cNvSpPr txBox="1"/>
          <p:nvPr/>
        </p:nvSpPr>
        <p:spPr>
          <a:xfrm>
            <a:off x="7022592" y="2148840"/>
            <a:ext cx="2011680" cy="274320"/>
          </a:xfrm>
          <a:prstGeom prst="rect">
            <a:avLst/>
          </a:prstGeom>
          <a:noFill/>
          <a:ln/>
        </p:spPr>
        <p:txBody>
          <a:bodyPr wrap="square" lIns="0" tIns="0" rIns="0" bIns="0" anchor="t">
            <a:normAutofit/>
          </a:bodyPr>
          <a:lstStyle/>
          <a:p>
            <a:pPr marL="0" indent="0" algn="l">
              <a:buNone/>
              <a:defRPr/>
            </a:pPr>
            <a:r>
              <a:rPr lang="en-US" sz="1600" b="1">
                <a:solidFill>
                  <a:srgbClr val="bcece3"/>
                </a:solidFill>
                <a:latin typeface="맑은 고딕"/>
                <a:ea typeface="맑은 고딕"/>
                <a:cs typeface="맑은 고딕"/>
              </a:rPr>
              <a:t>안전 결과</a:t>
            </a:r>
            <a:endParaRPr lang="en-US" sz="1600"/>
          </a:p>
        </p:txBody>
      </p:sp>
      <p:sp>
        <p:nvSpPr>
          <p:cNvPr id="23" name="Text 21"/>
          <p:cNvSpPr txBox="1"/>
          <p:nvPr/>
        </p:nvSpPr>
        <p:spPr>
          <a:xfrm>
            <a:off x="7040880" y="2697480"/>
            <a:ext cx="1828800" cy="822960"/>
          </a:xfrm>
          <a:prstGeom prst="rect">
            <a:avLst/>
          </a:prstGeom>
          <a:noFill/>
          <a:ln/>
        </p:spPr>
        <p:txBody>
          <a:bodyPr wrap="square" lIns="0" tIns="0" rIns="0" bIns="0" anchor="t">
            <a:normAutofit/>
          </a:bodyPr>
          <a:lstStyle/>
          <a:p>
            <a:pPr marL="0" indent="0" algn="l">
              <a:buNone/>
              <a:defRPr/>
            </a:pPr>
            <a:r>
              <a:rPr lang="en-US" sz="5000" b="1">
                <a:solidFill>
                  <a:srgbClr val="ffffff"/>
                </a:solidFill>
                <a:latin typeface="맑은 고딕"/>
                <a:ea typeface="맑은 고딕"/>
                <a:cs typeface="맑은 고딕"/>
              </a:rPr>
              <a:t>76</a:t>
            </a:r>
            <a:endParaRPr lang="en-US" sz="5000"/>
          </a:p>
        </p:txBody>
      </p:sp>
      <p:sp>
        <p:nvSpPr>
          <p:cNvPr id="24" name="Text 22"/>
          <p:cNvSpPr txBox="1"/>
          <p:nvPr/>
        </p:nvSpPr>
        <p:spPr>
          <a:xfrm>
            <a:off x="8366760" y="3127248"/>
            <a:ext cx="1005840" cy="274320"/>
          </a:xfrm>
          <a:prstGeom prst="rect">
            <a:avLst/>
          </a:prstGeom>
          <a:noFill/>
          <a:ln/>
        </p:spPr>
        <p:txBody>
          <a:bodyPr wrap="square" lIns="0" tIns="0" rIns="0" bIns="0" anchor="t">
            <a:normAutofit/>
          </a:bodyPr>
          <a:lstStyle/>
          <a:p>
            <a:pPr marL="0" indent="0" algn="l">
              <a:buNone/>
              <a:defRPr/>
            </a:pPr>
            <a:r>
              <a:rPr lang="en-US" sz="1500" b="1">
                <a:solidFill>
                  <a:srgbClr val="a7cbc4"/>
                </a:solidFill>
                <a:latin typeface="맑은 고딕"/>
                <a:ea typeface="맑은 고딕"/>
                <a:cs typeface="맑은 고딕"/>
              </a:rPr>
              <a:t>/ 100</a:t>
            </a:r>
            <a:endParaRPr lang="en-US" sz="1500"/>
          </a:p>
        </p:txBody>
      </p:sp>
      <p:sp>
        <p:nvSpPr>
          <p:cNvPr id="25" name="Shape 23"/>
          <p:cNvSpPr/>
          <p:nvPr/>
        </p:nvSpPr>
        <p:spPr>
          <a:xfrm>
            <a:off x="9582912" y="2359152"/>
            <a:ext cx="1097280" cy="310896"/>
          </a:xfrm>
          <a:prstGeom prst="roundRect">
            <a:avLst>
              <a:gd name="adj" fmla="val 50000"/>
            </a:avLst>
          </a:prstGeom>
          <a:solidFill>
            <a:srgbClr val="fce9e2"/>
          </a:solidFill>
          <a:ln w="12700">
            <a:solidFill>
              <a:srgbClr val="fce9e2"/>
            </a:solidFill>
            <a:prstDash val="solid"/>
          </a:ln>
        </p:spPr>
        <p:txBody>
          <a:bodyPr anchor="ctr"/>
          <a:p>
            <a:pPr algn="ctr">
              <a:defRPr/>
            </a:pPr>
            <a:endParaRPr lang="ko-KR" altLang="en-US"/>
          </a:p>
        </p:txBody>
      </p:sp>
      <p:sp>
        <p:nvSpPr>
          <p:cNvPr id="26" name="Text 24"/>
          <p:cNvSpPr txBox="1"/>
          <p:nvPr/>
        </p:nvSpPr>
        <p:spPr>
          <a:xfrm>
            <a:off x="9582912" y="2427732"/>
            <a:ext cx="1097280" cy="146304"/>
          </a:xfrm>
          <a:prstGeom prst="rect">
            <a:avLst/>
          </a:prstGeom>
          <a:noFill/>
          <a:ln/>
        </p:spPr>
        <p:txBody>
          <a:bodyPr wrap="square" lIns="0" tIns="0" rIns="0" bIns="0" anchor="t">
            <a:normAutofit/>
          </a:bodyPr>
          <a:lstStyle/>
          <a:p>
            <a:pPr marL="0" indent="0" algn="ctr">
              <a:buNone/>
              <a:defRPr/>
            </a:pPr>
            <a:r>
              <a:rPr lang="en-US" sz="1000" b="1">
                <a:solidFill>
                  <a:srgbClr val="f07c55"/>
                </a:solidFill>
                <a:latin typeface="맑은 고딕"/>
                <a:ea typeface="맑은 고딕"/>
                <a:cs typeface="맑은 고딕"/>
              </a:rPr>
              <a:t>주의</a:t>
            </a:r>
            <a:endParaRPr lang="en-US" sz="1000"/>
          </a:p>
        </p:txBody>
      </p:sp>
      <p:sp>
        <p:nvSpPr>
          <p:cNvPr id="27" name="Text 25"/>
          <p:cNvSpPr txBox="1"/>
          <p:nvPr/>
        </p:nvSpPr>
        <p:spPr>
          <a:xfrm>
            <a:off x="7040880" y="3730752"/>
            <a:ext cx="3383280" cy="292608"/>
          </a:xfrm>
          <a:prstGeom prst="rect">
            <a:avLst/>
          </a:prstGeom>
          <a:noFill/>
          <a:ln/>
        </p:spPr>
        <p:txBody>
          <a:bodyPr wrap="square" lIns="0" tIns="0" rIns="0" bIns="0" anchor="t">
            <a:normAutofit/>
          </a:bodyPr>
          <a:lstStyle/>
          <a:p>
            <a:pPr marL="0" indent="0" algn="l">
              <a:buNone/>
              <a:defRPr/>
            </a:pPr>
            <a:r>
              <a:rPr lang="en-US" sz="1800" b="1">
                <a:solidFill>
                  <a:srgbClr val="ffffff"/>
                </a:solidFill>
                <a:latin typeface="맑은 고딕"/>
                <a:ea typeface="맑은 고딕"/>
                <a:cs typeface="맑은 고딕"/>
              </a:rPr>
              <a:t>계약 전 확인 필요</a:t>
            </a:r>
            <a:endParaRPr lang="en-US" sz="1800"/>
          </a:p>
        </p:txBody>
      </p:sp>
      <p:sp>
        <p:nvSpPr>
          <p:cNvPr id="28" name="Text 26"/>
          <p:cNvSpPr txBox="1"/>
          <p:nvPr/>
        </p:nvSpPr>
        <p:spPr>
          <a:xfrm>
            <a:off x="7040880" y="4315968"/>
            <a:ext cx="3657600" cy="1051560"/>
          </a:xfrm>
          <a:prstGeom prst="rect">
            <a:avLst/>
          </a:prstGeom>
          <a:noFill/>
          <a:ln/>
        </p:spPr>
        <p:txBody>
          <a:bodyPr wrap="square" lIns="0" tIns="0" rIns="0" bIns="0" anchor="t">
            <a:normAutofit/>
          </a:bodyPr>
          <a:lstStyle/>
          <a:p>
            <a:pPr marL="0" indent="0" algn="l">
              <a:buNone/>
              <a:defRPr/>
            </a:pPr>
            <a:r>
              <a:rPr lang="en-US" sz="1400">
                <a:solidFill>
                  <a:srgbClr val="d7ece8"/>
                </a:solidFill>
                <a:latin typeface="맑은 고딕"/>
                <a:ea typeface="맑은 고딕"/>
                <a:cs typeface="맑은 고딕"/>
              </a:rPr>
              <a:t>• 최신 등기부등본 재확인</a:t>
            </a:r>
            <a:endParaRPr lang="en-US" sz="1400">
              <a:solidFill>
                <a:srgbClr val="d7ece8"/>
              </a:solidFill>
              <a:latin typeface="맑은 고딕"/>
              <a:ea typeface="맑은 고딕"/>
              <a:cs typeface="맑은 고딕"/>
            </a:endParaRPr>
          </a:p>
          <a:p>
            <a:pPr marL="0" indent="0" algn="l">
              <a:buNone/>
              <a:defRPr/>
            </a:pPr>
            <a:r>
              <a:rPr lang="en-US" sz="1400">
                <a:solidFill>
                  <a:srgbClr val="d7ece8"/>
                </a:solidFill>
                <a:latin typeface="맑은 고딕"/>
                <a:ea typeface="맑은 고딕"/>
                <a:cs typeface="맑은 고딕"/>
              </a:rPr>
              <a:t>• 보증보험 가입 가능 여부 확인</a:t>
            </a:r>
            <a:endParaRPr lang="en-US" sz="1400">
              <a:solidFill>
                <a:srgbClr val="d7ece8"/>
              </a:solidFill>
              <a:latin typeface="맑은 고딕"/>
              <a:ea typeface="맑은 고딕"/>
              <a:cs typeface="맑은 고딕"/>
            </a:endParaRPr>
          </a:p>
          <a:p>
            <a:pPr marL="0" indent="0" algn="l">
              <a:buNone/>
              <a:defRPr/>
            </a:pPr>
            <a:r>
              <a:rPr lang="en-US" sz="1400">
                <a:solidFill>
                  <a:srgbClr val="d7ece8"/>
                </a:solidFill>
                <a:latin typeface="맑은 고딕"/>
                <a:ea typeface="맑은 고딕"/>
                <a:cs typeface="맑은 고딕"/>
              </a:rPr>
              <a:t>• 특약 사항을 계약서에 기록</a:t>
            </a:r>
            <a:endParaRPr lang="en-US" sz="1400"/>
          </a:p>
        </p:txBody>
      </p:sp>
      <p:sp>
        <p:nvSpPr>
          <p:cNvPr id="29"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8</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rtlCol="0" anchor="t">
            <a:normAutofit/>
          </a:bodyPr>
          <a:lstStyle/>
          <a:p>
            <a:pPr algn="l" indent="0" marL="0">
              <a:buNone/>
            </a:pPr>
            <a:r>
              <a:rPr lang="en-US" sz="1100" b="1" dirty="0">
                <a:solidFill>
                  <a:srgbClr val="1B7F6B"/>
                </a:solidFill>
                <a:latin typeface="Malgun Gothic" pitchFamily="34" charset="0"/>
                <a:ea typeface="Malgun Gothic" pitchFamily="34" charset="-122"/>
                <a:cs typeface="Malgun Gothic" pitchFamily="34" charset="-120"/>
              </a:rPr>
              <a:t>08 · EXTENDED EXPERIENCE</a:t>
            </a:r>
            <a:endParaRPr lang="en-US" sz="1100" dirty="0"/>
          </a:p>
        </p:txBody>
      </p:sp>
      <p:sp>
        <p:nvSpPr>
          <p:cNvPr id="3" name="Text 1"/>
          <p:cNvSpPr txBox="1"/>
          <p:nvPr/>
        </p:nvSpPr>
        <p:spPr>
          <a:xfrm>
            <a:off x="566928" y="713232"/>
            <a:ext cx="11018520" cy="530352"/>
          </a:xfrm>
          <a:prstGeom prst="rect">
            <a:avLst/>
          </a:prstGeom>
          <a:noFill/>
          <a:ln/>
        </p:spPr>
        <p:txBody>
          <a:bodyPr wrap="square" lIns="0" tIns="0" rIns="0" bIns="0" rtlCol="0" anchor="t">
            <a:normAutofit/>
          </a:bodyPr>
          <a:lstStyle/>
          <a:p>
            <a:pPr algn="l" indent="0" marL="0">
              <a:buNone/>
            </a:pPr>
            <a:r>
              <a:rPr lang="en-US" sz="2600" b="1" dirty="0">
                <a:solidFill>
                  <a:srgbClr val="102A43"/>
                </a:solidFill>
                <a:latin typeface="Malgun Gothic" pitchFamily="34" charset="0"/>
                <a:ea typeface="Malgun Gothic" pitchFamily="34" charset="-122"/>
                <a:cs typeface="Malgun Gothic" pitchFamily="34" charset="-120"/>
              </a:rPr>
              <a:t>집을 고른 뒤 필요한 정보와 행동까지 지원합니다</a:t>
            </a:r>
            <a:endParaRPr lang="en-US" sz="2600" dirty="0"/>
          </a:p>
        </p:txBody>
      </p:sp>
      <p:sp>
        <p:nvSpPr>
          <p:cNvPr id="4" name="Text 2"/>
          <p:cNvSpPr txBox="1"/>
          <p:nvPr/>
        </p:nvSpPr>
        <p:spPr>
          <a:xfrm>
            <a:off x="566928" y="1298448"/>
            <a:ext cx="10789920" cy="347472"/>
          </a:xfrm>
          <a:prstGeom prst="rect">
            <a:avLst/>
          </a:prstGeom>
          <a:noFill/>
          <a:ln/>
        </p:spPr>
        <p:txBody>
          <a:bodyPr wrap="square" lIns="0" tIns="0" rIns="0" bIns="0" rtlCol="0" anchor="t">
            <a:normAutofit/>
          </a:bodyPr>
          <a:lstStyle/>
          <a:p>
            <a:pPr algn="l" indent="0" marL="0">
              <a:buNone/>
            </a:pPr>
            <a:r>
              <a:rPr lang="en-US" sz="1300" dirty="0">
                <a:solidFill>
                  <a:srgbClr val="60746F"/>
                </a:solidFill>
                <a:latin typeface="Malgun Gothic" pitchFamily="34" charset="0"/>
                <a:ea typeface="Malgun Gothic" pitchFamily="34" charset="-122"/>
                <a:cs typeface="Malgun Gothic" pitchFamily="34" charset="-120"/>
              </a:rPr>
              <a:t>공공임대·금융정책·방문·커뮤니티가 핵심 여정을 보완합니다.</a:t>
            </a:r>
            <a:endParaRPr lang="en-US" sz="1300" dirty="0"/>
          </a:p>
        </p:txBody>
      </p:sp>
      <p:sp>
        <p:nvSpPr>
          <p:cNvPr id="5" name="Shape 3"/>
          <p:cNvSpPr/>
          <p:nvPr/>
        </p:nvSpPr>
        <p:spPr>
          <a:xfrm>
            <a:off x="566928" y="1810512"/>
            <a:ext cx="3401568" cy="3977640"/>
          </a:xfrm>
          <a:prstGeom prst="roundRect">
            <a:avLst>
              <a:gd name="adj" fmla="val 3226"/>
            </a:avLst>
          </a:prstGeom>
          <a:solidFill>
            <a:srgbClr val="FFFFFF"/>
          </a:solidFill>
          <a:ln w="12700">
            <a:solidFill>
              <a:srgbClr val="D9E7E2"/>
            </a:solidFill>
            <a:prstDash val="solid"/>
          </a:ln>
        </p:spPr>
      </p:sp>
      <p:pic>
        <p:nvPicPr>
          <p:cNvPr id="6" name="Image 0" descr="D:\송성근(파이썬)\git\homepick\zipai\static\images\happy-housing-hero-v3.png">    </p:cNvPr>
          <p:cNvPicPr>
            <a:picLocks noChangeAspect="1"/>
          </p:cNvPicPr>
          <p:nvPr/>
        </p:nvPicPr>
        <p:blipFill>
          <a:blip r:embed="rId1"/>
          <a:stretch>
            <a:fillRect/>
          </a:stretch>
        </p:blipFill>
        <p:spPr>
          <a:xfrm>
            <a:off x="640080" y="1883664"/>
            <a:ext cx="3255264" cy="1517904"/>
          </a:xfrm>
          <a:prstGeom prst="rect">
            <a:avLst/>
          </a:prstGeom>
        </p:spPr>
      </p:pic>
      <p:sp>
        <p:nvSpPr>
          <p:cNvPr id="7" name="Text 4"/>
          <p:cNvSpPr txBox="1"/>
          <p:nvPr/>
        </p:nvSpPr>
        <p:spPr>
          <a:xfrm>
            <a:off x="777240" y="3685032"/>
            <a:ext cx="2377440" cy="292608"/>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공공임대</a:t>
            </a:r>
            <a:endParaRPr lang="en-US" sz="1900" dirty="0"/>
          </a:p>
        </p:txBody>
      </p:sp>
      <p:sp>
        <p:nvSpPr>
          <p:cNvPr id="8" name="Text 5"/>
          <p:cNvSpPr txBox="1"/>
          <p:nvPr/>
        </p:nvSpPr>
        <p:spPr>
          <a:xfrm>
            <a:off x="777240" y="4187952"/>
            <a:ext cx="2880360" cy="6400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LH 공고·행복주택 안내</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자격 조건 사전 확인</a:t>
            </a:r>
            <a:endParaRPr lang="en-US" sz="1400" dirty="0"/>
          </a:p>
        </p:txBody>
      </p:sp>
      <p:sp>
        <p:nvSpPr>
          <p:cNvPr id="9" name="Shape 6"/>
          <p:cNvSpPr/>
          <p:nvPr/>
        </p:nvSpPr>
        <p:spPr>
          <a:xfrm>
            <a:off x="777240" y="5175504"/>
            <a:ext cx="2651760" cy="0"/>
          </a:xfrm>
          <a:prstGeom prst="line">
            <a:avLst/>
          </a:prstGeom>
          <a:noFill/>
          <a:ln w="50800">
            <a:solidFill>
              <a:srgbClr val="1B7F6B"/>
            </a:solidFill>
            <a:prstDash val="solid"/>
          </a:ln>
        </p:spPr>
      </p:sp>
      <p:sp>
        <p:nvSpPr>
          <p:cNvPr id="10" name="Shape 7"/>
          <p:cNvSpPr/>
          <p:nvPr/>
        </p:nvSpPr>
        <p:spPr>
          <a:xfrm>
            <a:off x="4343400" y="1810512"/>
            <a:ext cx="3401568" cy="3977640"/>
          </a:xfrm>
          <a:prstGeom prst="roundRect">
            <a:avLst>
              <a:gd name="adj" fmla="val 3226"/>
            </a:avLst>
          </a:prstGeom>
          <a:solidFill>
            <a:srgbClr val="FFFFFF"/>
          </a:solidFill>
          <a:ln w="12700">
            <a:solidFill>
              <a:srgbClr val="D9E7E2"/>
            </a:solidFill>
            <a:prstDash val="solid"/>
          </a:ln>
        </p:spPr>
      </p:sp>
      <p:pic>
        <p:nvPicPr>
          <p:cNvPr id="11" name="Image 1" descr="D:\송성근(파이썬)\git\homepick\zipai\static\img\properties\public-housing.jpg">    </p:cNvPr>
          <p:cNvPicPr>
            <a:picLocks noChangeAspect="1"/>
          </p:cNvPicPr>
          <p:nvPr/>
        </p:nvPicPr>
        <p:blipFill>
          <a:blip r:embed="rId2"/>
          <a:stretch>
            <a:fillRect/>
          </a:stretch>
        </p:blipFill>
        <p:spPr>
          <a:xfrm>
            <a:off x="4416552" y="1883664"/>
            <a:ext cx="3255264" cy="1517904"/>
          </a:xfrm>
          <a:prstGeom prst="rect">
            <a:avLst/>
          </a:prstGeom>
        </p:spPr>
      </p:pic>
      <p:sp>
        <p:nvSpPr>
          <p:cNvPr id="12" name="Text 8"/>
          <p:cNvSpPr txBox="1"/>
          <p:nvPr/>
        </p:nvSpPr>
        <p:spPr>
          <a:xfrm>
            <a:off x="4553712" y="3685032"/>
            <a:ext cx="2377440" cy="292608"/>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금융 정책</a:t>
            </a:r>
            <a:endParaRPr lang="en-US" sz="1900" dirty="0"/>
          </a:p>
        </p:txBody>
      </p:sp>
      <p:sp>
        <p:nvSpPr>
          <p:cNvPr id="13" name="Text 9"/>
          <p:cNvSpPr txBox="1"/>
          <p:nvPr/>
        </p:nvSpPr>
        <p:spPr>
          <a:xfrm>
            <a:off x="4553712" y="4187952"/>
            <a:ext cx="2880360" cy="6400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대상·목적별 상품 필터</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금리·상환 스케줄 계산</a:t>
            </a:r>
            <a:endParaRPr lang="en-US" sz="1400" dirty="0"/>
          </a:p>
        </p:txBody>
      </p:sp>
      <p:sp>
        <p:nvSpPr>
          <p:cNvPr id="14" name="Shape 10"/>
          <p:cNvSpPr/>
          <p:nvPr/>
        </p:nvSpPr>
        <p:spPr>
          <a:xfrm>
            <a:off x="4553712" y="5175504"/>
            <a:ext cx="2651760" cy="0"/>
          </a:xfrm>
          <a:prstGeom prst="line">
            <a:avLst/>
          </a:prstGeom>
          <a:noFill/>
          <a:ln w="50800">
            <a:solidFill>
              <a:srgbClr val="2F6FED"/>
            </a:solidFill>
            <a:prstDash val="solid"/>
          </a:ln>
        </p:spPr>
      </p:sp>
      <p:sp>
        <p:nvSpPr>
          <p:cNvPr id="15" name="Shape 11"/>
          <p:cNvSpPr/>
          <p:nvPr/>
        </p:nvSpPr>
        <p:spPr>
          <a:xfrm>
            <a:off x="8119872" y="1810512"/>
            <a:ext cx="3401568" cy="3977640"/>
          </a:xfrm>
          <a:prstGeom prst="roundRect">
            <a:avLst>
              <a:gd name="adj" fmla="val 3226"/>
            </a:avLst>
          </a:prstGeom>
          <a:solidFill>
            <a:srgbClr val="FFFFFF"/>
          </a:solidFill>
          <a:ln w="12700">
            <a:solidFill>
              <a:srgbClr val="D9E7E2"/>
            </a:solidFill>
            <a:prstDash val="solid"/>
          </a:ln>
        </p:spPr>
      </p:sp>
      <p:pic>
        <p:nvPicPr>
          <p:cNvPr id="16" name="Image 2" descr="D:\송성근(파이썬)\git\homepick\zipai\static\images\room-connect\visit-reservation.png">    </p:cNvPr>
          <p:cNvPicPr>
            <a:picLocks noChangeAspect="1"/>
          </p:cNvPicPr>
          <p:nvPr/>
        </p:nvPicPr>
        <p:blipFill>
          <a:blip r:embed="rId3"/>
          <a:stretch>
            <a:fillRect/>
          </a:stretch>
        </p:blipFill>
        <p:spPr>
          <a:xfrm>
            <a:off x="8193024" y="1883664"/>
            <a:ext cx="3255264" cy="1517904"/>
          </a:xfrm>
          <a:prstGeom prst="rect">
            <a:avLst/>
          </a:prstGeom>
        </p:spPr>
      </p:pic>
      <p:sp>
        <p:nvSpPr>
          <p:cNvPr id="17" name="Text 12"/>
          <p:cNvSpPr txBox="1"/>
          <p:nvPr/>
        </p:nvSpPr>
        <p:spPr>
          <a:xfrm>
            <a:off x="8330184" y="3685032"/>
            <a:ext cx="2377440" cy="292608"/>
          </a:xfrm>
          <a:prstGeom prst="rect">
            <a:avLst/>
          </a:prstGeom>
          <a:noFill/>
          <a:ln/>
        </p:spPr>
        <p:txBody>
          <a:bodyPr wrap="square" lIns="0" tIns="0" rIns="0" bIns="0" rtlCol="0" anchor="t">
            <a:normAutofit/>
          </a:bodyPr>
          <a:lstStyle/>
          <a:p>
            <a:pPr algn="l" indent="0" marL="0">
              <a:buNone/>
            </a:pPr>
            <a:r>
              <a:rPr lang="en-US" sz="1900" b="1" dirty="0">
                <a:solidFill>
                  <a:srgbClr val="102A43"/>
                </a:solidFill>
                <a:latin typeface="Malgun Gothic" pitchFamily="34" charset="0"/>
                <a:ea typeface="Malgun Gothic" pitchFamily="34" charset="-122"/>
                <a:cs typeface="Malgun Gothic" pitchFamily="34" charset="-120"/>
              </a:rPr>
              <a:t>방문과 계약</a:t>
            </a:r>
            <a:endParaRPr lang="en-US" sz="1900" dirty="0"/>
          </a:p>
        </p:txBody>
      </p:sp>
      <p:sp>
        <p:nvSpPr>
          <p:cNvPr id="18" name="Text 13"/>
          <p:cNvSpPr txBox="1"/>
          <p:nvPr/>
        </p:nvSpPr>
        <p:spPr>
          <a:xfrm>
            <a:off x="8330184" y="4187952"/>
            <a:ext cx="2880360" cy="640080"/>
          </a:xfrm>
          <a:prstGeom prst="rect">
            <a:avLst/>
          </a:prstGeom>
          <a:noFill/>
          <a:ln/>
        </p:spPr>
        <p:txBody>
          <a:bodyPr wrap="square" lIns="0" tIns="0" rIns="0" bIns="0" rtlCol="0" anchor="t">
            <a:normAutofit/>
          </a:bodyPr>
          <a:lstStyle/>
          <a:p>
            <a:pPr algn="l" indent="0" marL="0">
              <a:buNone/>
            </a:pPr>
            <a:r>
              <a:rPr lang="en-US" sz="1400" dirty="0">
                <a:solidFill>
                  <a:srgbClr val="60746F"/>
                </a:solidFill>
                <a:latin typeface="Malgun Gothic" pitchFamily="34" charset="0"/>
                <a:ea typeface="Malgun Gothic" pitchFamily="34" charset="-122"/>
                <a:cs typeface="Malgun Gothic" pitchFamily="34" charset="-120"/>
              </a:rPr>
              <a:t>방문 예약·상태 알림</a:t>
            </a:r>
            <a:endParaRPr lang="en-US" sz="1400" dirty="0"/>
          </a:p>
          <a:p>
            <a:pPr algn="l" indent="0" marL="0">
              <a:buNone/>
            </a:pPr>
            <a:r>
              <a:rPr lang="en-US" sz="1400" dirty="0">
                <a:solidFill>
                  <a:srgbClr val="60746F"/>
                </a:solidFill>
                <a:latin typeface="Malgun Gothic" pitchFamily="34" charset="0"/>
                <a:ea typeface="Malgun Gothic" pitchFamily="34" charset="-122"/>
                <a:cs typeface="Malgun Gothic" pitchFamily="34" charset="-120"/>
              </a:rPr>
              <a:t>안전 계약 흐름</a:t>
            </a:r>
            <a:endParaRPr lang="en-US" sz="1400" dirty="0"/>
          </a:p>
        </p:txBody>
      </p:sp>
      <p:sp>
        <p:nvSpPr>
          <p:cNvPr id="19" name="Shape 14"/>
          <p:cNvSpPr/>
          <p:nvPr/>
        </p:nvSpPr>
        <p:spPr>
          <a:xfrm>
            <a:off x="8330184" y="5175504"/>
            <a:ext cx="2651760" cy="0"/>
          </a:xfrm>
          <a:prstGeom prst="line">
            <a:avLst/>
          </a:prstGeom>
          <a:noFill/>
          <a:ln w="50800">
            <a:solidFill>
              <a:srgbClr val="F07C55"/>
            </a:solidFill>
            <a:prstDash val="solid"/>
          </a:ln>
        </p:spPr>
      </p:sp>
      <p:sp>
        <p:nvSpPr>
          <p:cNvPr id="25" name="Slide Number Placeholder 0"/>
          <p:cNvSpPr>
            <a:spLocks noGrp="1"/>
          </p:cNvSpPr>
          <p:nvPr>
            <p:ph type="sldNum" sz="quarter" idx="4294967295"/>
          </p:nvPr>
        </p:nvSpPr>
        <p:spPr>
          <a:xfrm>
            <a:off x="11064240" y="6547104"/>
            <a:ext cx="50292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8078"/>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09 · IMPLEMENTATION</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시연용 기능을 실제 서비스 구조로 전환하고 있습니다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동일한 사용자 경험을 유지하면서 저장·권한·운영 기능을 서버로 확장했습니다.</a:t>
            </a:r>
            <a:endParaRPr lang="en-US" sz="1300"/>
          </a:p>
        </p:txBody>
      </p:sp>
      <p:sp>
        <p:nvSpPr>
          <p:cNvPr id="5" name="Shape 3"/>
          <p:cNvSpPr/>
          <p:nvPr/>
        </p:nvSpPr>
        <p:spPr>
          <a:xfrm>
            <a:off x="566928" y="1783080"/>
            <a:ext cx="1581912" cy="502920"/>
          </a:xfrm>
          <a:prstGeom prst="rect">
            <a:avLst/>
          </a:prstGeom>
          <a:solidFill>
            <a:srgbClr val="1b7f6b"/>
          </a:solidFill>
          <a:ln w="12700">
            <a:solidFill>
              <a:srgbClr val="ffffff"/>
            </a:solidFill>
            <a:prstDash val="solid"/>
          </a:ln>
        </p:spPr>
        <p:txBody>
          <a:bodyPr anchor="ctr"/>
          <a:p>
            <a:pPr algn="ctr">
              <a:defRPr/>
            </a:pPr>
            <a:endParaRPr lang="ko-KR" altLang="en-US"/>
          </a:p>
        </p:txBody>
      </p:sp>
      <p:sp>
        <p:nvSpPr>
          <p:cNvPr id="6" name="Text 4"/>
          <p:cNvSpPr txBox="1"/>
          <p:nvPr/>
        </p:nvSpPr>
        <p:spPr>
          <a:xfrm>
            <a:off x="566928" y="1947672"/>
            <a:ext cx="1581912" cy="164592"/>
          </a:xfrm>
          <a:prstGeom prst="rect">
            <a:avLst/>
          </a:prstGeom>
          <a:noFill/>
          <a:ln/>
        </p:spPr>
        <p:txBody>
          <a:bodyPr wrap="square" lIns="0" tIns="0" rIns="0" bIns="0" anchor="t">
            <a:normAutofit lnSpcReduction="10000"/>
          </a:bodyPr>
          <a:lstStyle/>
          <a:p>
            <a:pPr marL="0" indent="0" algn="ctr">
              <a:buNone/>
              <a:defRPr/>
            </a:pPr>
            <a:r>
              <a:rPr lang="en-US" sz="1200" b="1">
                <a:solidFill>
                  <a:srgbClr val="ffffff"/>
                </a:solidFill>
                <a:latin typeface="맑은 고딕"/>
                <a:ea typeface="맑은 고딕"/>
                <a:cs typeface="맑은 고딕"/>
              </a:rPr>
              <a:t>영역</a:t>
            </a:r>
            <a:endParaRPr lang="en-US" sz="1200"/>
          </a:p>
        </p:txBody>
      </p:sp>
      <p:sp>
        <p:nvSpPr>
          <p:cNvPr id="7" name="Shape 5"/>
          <p:cNvSpPr/>
          <p:nvPr/>
        </p:nvSpPr>
        <p:spPr>
          <a:xfrm>
            <a:off x="2148840" y="1783080"/>
            <a:ext cx="4251960" cy="502920"/>
          </a:xfrm>
          <a:prstGeom prst="rect">
            <a:avLst/>
          </a:prstGeom>
          <a:solidFill>
            <a:srgbClr val="102a43"/>
          </a:solidFill>
          <a:ln w="12700">
            <a:solidFill>
              <a:srgbClr val="ffffff"/>
            </a:solidFill>
            <a:prstDash val="solid"/>
          </a:ln>
        </p:spPr>
        <p:txBody>
          <a:bodyPr anchor="ctr"/>
          <a:p>
            <a:pPr algn="ctr">
              <a:defRPr/>
            </a:pPr>
            <a:endParaRPr lang="ko-KR" altLang="en-US"/>
          </a:p>
        </p:txBody>
      </p:sp>
      <p:sp>
        <p:nvSpPr>
          <p:cNvPr id="8" name="Text 6"/>
          <p:cNvSpPr txBox="1"/>
          <p:nvPr/>
        </p:nvSpPr>
        <p:spPr>
          <a:xfrm>
            <a:off x="2148840" y="1947672"/>
            <a:ext cx="4251960" cy="164592"/>
          </a:xfrm>
          <a:prstGeom prst="rect">
            <a:avLst/>
          </a:prstGeom>
          <a:noFill/>
          <a:ln/>
        </p:spPr>
        <p:txBody>
          <a:bodyPr wrap="square" lIns="0" tIns="0" rIns="0" bIns="0" anchor="t">
            <a:normAutofit lnSpcReduction="10000"/>
          </a:bodyPr>
          <a:lstStyle/>
          <a:p>
            <a:pPr marL="0" indent="0" algn="ctr">
              <a:buNone/>
              <a:defRPr/>
            </a:pPr>
            <a:r>
              <a:rPr lang="en-US" sz="1200" b="1">
                <a:solidFill>
                  <a:srgbClr val="ffffff"/>
                </a:solidFill>
                <a:latin typeface="맑은 고딕"/>
                <a:ea typeface="맑은 고딕"/>
                <a:cs typeface="맑은 고딕"/>
              </a:rPr>
              <a:t>사용자 가치</a:t>
            </a:r>
            <a:endParaRPr lang="en-US" sz="1200"/>
          </a:p>
        </p:txBody>
      </p:sp>
      <p:sp>
        <p:nvSpPr>
          <p:cNvPr id="9" name="Shape 7"/>
          <p:cNvSpPr/>
          <p:nvPr/>
        </p:nvSpPr>
        <p:spPr>
          <a:xfrm>
            <a:off x="6400800" y="1783080"/>
            <a:ext cx="5074920" cy="502920"/>
          </a:xfrm>
          <a:prstGeom prst="rect">
            <a:avLst/>
          </a:prstGeom>
          <a:solidFill>
            <a:srgbClr val="102a43"/>
          </a:solidFill>
          <a:ln w="12700">
            <a:solidFill>
              <a:srgbClr val="ffffff"/>
            </a:solidFill>
            <a:prstDash val="solid"/>
          </a:ln>
        </p:spPr>
        <p:txBody>
          <a:bodyPr anchor="ctr"/>
          <a:p>
            <a:pPr algn="ctr">
              <a:defRPr/>
            </a:pPr>
            <a:endParaRPr lang="ko-KR" altLang="en-US"/>
          </a:p>
        </p:txBody>
      </p:sp>
      <p:sp>
        <p:nvSpPr>
          <p:cNvPr id="10" name="Text 8"/>
          <p:cNvSpPr txBox="1"/>
          <p:nvPr/>
        </p:nvSpPr>
        <p:spPr>
          <a:xfrm>
            <a:off x="6400800" y="1947672"/>
            <a:ext cx="5074920" cy="164592"/>
          </a:xfrm>
          <a:prstGeom prst="rect">
            <a:avLst/>
          </a:prstGeom>
          <a:noFill/>
          <a:ln/>
        </p:spPr>
        <p:txBody>
          <a:bodyPr wrap="square" lIns="0" tIns="0" rIns="0" bIns="0" anchor="t">
            <a:normAutofit lnSpcReduction="10000"/>
          </a:bodyPr>
          <a:lstStyle/>
          <a:p>
            <a:pPr marL="0" indent="0" algn="ctr">
              <a:buNone/>
              <a:defRPr/>
            </a:pPr>
            <a:r>
              <a:rPr lang="en-US" sz="1200" b="1">
                <a:solidFill>
                  <a:srgbClr val="ffffff"/>
                </a:solidFill>
                <a:latin typeface="맑은 고딕"/>
                <a:ea typeface="맑은 고딕"/>
                <a:cs typeface="맑은 고딕"/>
              </a:rPr>
              <a:t>구현 단위</a:t>
            </a:r>
            <a:endParaRPr lang="en-US" sz="1200"/>
          </a:p>
        </p:txBody>
      </p:sp>
      <p:sp>
        <p:nvSpPr>
          <p:cNvPr id="11" name="Shape 9"/>
          <p:cNvSpPr/>
          <p:nvPr/>
        </p:nvSpPr>
        <p:spPr>
          <a:xfrm>
            <a:off x="566928" y="2286000"/>
            <a:ext cx="1581912" cy="630936"/>
          </a:xfrm>
          <a:prstGeom prst="rect">
            <a:avLst/>
          </a:prstGeom>
          <a:solidFill>
            <a:srgbClr val="ddf3ec"/>
          </a:solidFill>
          <a:ln w="8890">
            <a:solidFill>
              <a:srgbClr val="d9e7e2"/>
            </a:solidFill>
            <a:prstDash val="solid"/>
          </a:ln>
        </p:spPr>
        <p:txBody>
          <a:bodyPr anchor="ctr"/>
          <a:p>
            <a:pPr algn="ctr">
              <a:defRPr/>
            </a:pPr>
            <a:endParaRPr lang="ko-KR" altLang="en-US"/>
          </a:p>
        </p:txBody>
      </p:sp>
      <p:sp>
        <p:nvSpPr>
          <p:cNvPr id="12" name="Text 10"/>
          <p:cNvSpPr txBox="1"/>
          <p:nvPr/>
        </p:nvSpPr>
        <p:spPr>
          <a:xfrm>
            <a:off x="685800" y="2450592"/>
            <a:ext cx="1344168" cy="256032"/>
          </a:xfrm>
          <a:prstGeom prst="rect">
            <a:avLst/>
          </a:prstGeom>
          <a:noFill/>
          <a:ln/>
        </p:spPr>
        <p:txBody>
          <a:bodyPr wrap="square" lIns="0" tIns="0" rIns="0" bIns="0" anchor="t">
            <a:normAutofit/>
          </a:bodyPr>
          <a:lstStyle/>
          <a:p>
            <a:pPr marL="0" indent="0" algn="ctr">
              <a:buNone/>
              <a:defRPr/>
            </a:pPr>
            <a:r>
              <a:rPr lang="en-US" sz="1400" b="1">
                <a:solidFill>
                  <a:srgbClr val="1b7f6b"/>
                </a:solidFill>
                <a:latin typeface="맑은 고딕"/>
                <a:ea typeface="맑은 고딕"/>
                <a:cs typeface="맑은 고딕"/>
              </a:rPr>
              <a:t>인증</a:t>
            </a:r>
            <a:endParaRPr lang="en-US" sz="1400"/>
          </a:p>
        </p:txBody>
      </p:sp>
      <p:sp>
        <p:nvSpPr>
          <p:cNvPr id="13" name="Shape 11"/>
          <p:cNvSpPr/>
          <p:nvPr/>
        </p:nvSpPr>
        <p:spPr>
          <a:xfrm>
            <a:off x="2148840" y="2286000"/>
            <a:ext cx="4251960" cy="630936"/>
          </a:xfrm>
          <a:prstGeom prst="rect">
            <a:avLst/>
          </a:prstGeom>
          <a:solidFill>
            <a:srgbClr val="f1f6f4"/>
          </a:solidFill>
          <a:ln w="8890">
            <a:solidFill>
              <a:srgbClr val="d9e7e2"/>
            </a:solidFill>
            <a:prstDash val="solid"/>
          </a:ln>
        </p:spPr>
        <p:txBody>
          <a:bodyPr anchor="ctr"/>
          <a:p>
            <a:pPr algn="ctr">
              <a:defRPr/>
            </a:pPr>
            <a:endParaRPr lang="ko-KR" altLang="en-US"/>
          </a:p>
        </p:txBody>
      </p:sp>
      <p:sp>
        <p:nvSpPr>
          <p:cNvPr id="14" name="Text 12"/>
          <p:cNvSpPr txBox="1"/>
          <p:nvPr/>
        </p:nvSpPr>
        <p:spPr>
          <a:xfrm>
            <a:off x="2267712" y="2450592"/>
            <a:ext cx="401421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회원가입·로그인·역할 기반 접근</a:t>
            </a:r>
            <a:endParaRPr lang="en-US" sz="1250"/>
          </a:p>
        </p:txBody>
      </p:sp>
      <p:sp>
        <p:nvSpPr>
          <p:cNvPr id="15" name="Shape 13"/>
          <p:cNvSpPr/>
          <p:nvPr/>
        </p:nvSpPr>
        <p:spPr>
          <a:xfrm>
            <a:off x="6400800" y="2286000"/>
            <a:ext cx="5074920" cy="630936"/>
          </a:xfrm>
          <a:prstGeom prst="rect">
            <a:avLst/>
          </a:prstGeom>
          <a:solidFill>
            <a:srgbClr val="f1f6f4"/>
          </a:solidFill>
          <a:ln w="8890">
            <a:solidFill>
              <a:srgbClr val="d9e7e2"/>
            </a:solidFill>
            <a:prstDash val="solid"/>
          </a:ln>
        </p:spPr>
        <p:txBody>
          <a:bodyPr anchor="ctr"/>
          <a:p>
            <a:pPr algn="ctr">
              <a:defRPr/>
            </a:pPr>
            <a:endParaRPr lang="ko-KR" altLang="en-US"/>
          </a:p>
        </p:txBody>
      </p:sp>
      <p:sp>
        <p:nvSpPr>
          <p:cNvPr id="16" name="Text 14"/>
          <p:cNvSpPr txBox="1"/>
          <p:nvPr/>
        </p:nvSpPr>
        <p:spPr>
          <a:xfrm>
            <a:off x="6519672" y="2450592"/>
            <a:ext cx="483717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AuthController / AuthService / UserRepository</a:t>
            </a:r>
            <a:endParaRPr lang="en-US" sz="1250"/>
          </a:p>
        </p:txBody>
      </p:sp>
      <p:sp>
        <p:nvSpPr>
          <p:cNvPr id="17" name="Shape 15"/>
          <p:cNvSpPr/>
          <p:nvPr/>
        </p:nvSpPr>
        <p:spPr>
          <a:xfrm>
            <a:off x="566928" y="2916936"/>
            <a:ext cx="1581912" cy="630936"/>
          </a:xfrm>
          <a:prstGeom prst="rect">
            <a:avLst/>
          </a:prstGeom>
          <a:solidFill>
            <a:srgbClr val="ddf3ec"/>
          </a:solidFill>
          <a:ln w="8890">
            <a:solidFill>
              <a:srgbClr val="d9e7e2"/>
            </a:solidFill>
            <a:prstDash val="solid"/>
          </a:ln>
        </p:spPr>
        <p:txBody>
          <a:bodyPr anchor="ctr"/>
          <a:p>
            <a:pPr algn="ctr">
              <a:defRPr/>
            </a:pPr>
            <a:endParaRPr lang="ko-KR" altLang="en-US"/>
          </a:p>
        </p:txBody>
      </p:sp>
      <p:sp>
        <p:nvSpPr>
          <p:cNvPr id="18" name="Text 16"/>
          <p:cNvSpPr txBox="1"/>
          <p:nvPr/>
        </p:nvSpPr>
        <p:spPr>
          <a:xfrm>
            <a:off x="685800" y="3081528"/>
            <a:ext cx="1344168" cy="256032"/>
          </a:xfrm>
          <a:prstGeom prst="rect">
            <a:avLst/>
          </a:prstGeom>
          <a:noFill/>
          <a:ln/>
        </p:spPr>
        <p:txBody>
          <a:bodyPr wrap="square" lIns="0" tIns="0" rIns="0" bIns="0" anchor="t">
            <a:normAutofit/>
          </a:bodyPr>
          <a:lstStyle/>
          <a:p>
            <a:pPr marL="0" indent="0" algn="ctr">
              <a:buNone/>
              <a:defRPr/>
            </a:pPr>
            <a:r>
              <a:rPr lang="en-US" sz="1400" b="1">
                <a:solidFill>
                  <a:srgbClr val="1b7f6b"/>
                </a:solidFill>
                <a:latin typeface="맑은 고딕"/>
                <a:ea typeface="맑은 고딕"/>
                <a:cs typeface="맑은 고딕"/>
              </a:rPr>
              <a:t>매물</a:t>
            </a:r>
            <a:endParaRPr lang="en-US" sz="1400"/>
          </a:p>
        </p:txBody>
      </p:sp>
      <p:sp>
        <p:nvSpPr>
          <p:cNvPr id="19" name="Shape 17"/>
          <p:cNvSpPr/>
          <p:nvPr/>
        </p:nvSpPr>
        <p:spPr>
          <a:xfrm>
            <a:off x="2148840" y="2916936"/>
            <a:ext cx="4251960" cy="630936"/>
          </a:xfrm>
          <a:prstGeom prst="rect">
            <a:avLst/>
          </a:prstGeom>
          <a:solidFill>
            <a:srgbClr val="ffffff"/>
          </a:solidFill>
          <a:ln w="8890">
            <a:solidFill>
              <a:srgbClr val="d9e7e2"/>
            </a:solidFill>
            <a:prstDash val="solid"/>
          </a:ln>
        </p:spPr>
        <p:txBody>
          <a:bodyPr anchor="ctr"/>
          <a:p>
            <a:pPr algn="ctr">
              <a:defRPr/>
            </a:pPr>
            <a:endParaRPr lang="ko-KR" altLang="en-US"/>
          </a:p>
        </p:txBody>
      </p:sp>
      <p:sp>
        <p:nvSpPr>
          <p:cNvPr id="20" name="Text 18"/>
          <p:cNvSpPr txBox="1"/>
          <p:nvPr/>
        </p:nvSpPr>
        <p:spPr>
          <a:xfrm>
            <a:off x="2267712" y="3081528"/>
            <a:ext cx="401421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Excel·일반 매물 조회 및 등록</a:t>
            </a:r>
            <a:endParaRPr lang="en-US" sz="1250"/>
          </a:p>
        </p:txBody>
      </p:sp>
      <p:sp>
        <p:nvSpPr>
          <p:cNvPr id="21" name="Shape 19"/>
          <p:cNvSpPr/>
          <p:nvPr/>
        </p:nvSpPr>
        <p:spPr>
          <a:xfrm>
            <a:off x="6400800" y="2916936"/>
            <a:ext cx="5074920" cy="630936"/>
          </a:xfrm>
          <a:prstGeom prst="rect">
            <a:avLst/>
          </a:prstGeom>
          <a:solidFill>
            <a:srgbClr val="ffffff"/>
          </a:solidFill>
          <a:ln w="8890">
            <a:solidFill>
              <a:srgbClr val="d9e7e2"/>
            </a:solidFill>
            <a:prstDash val="solid"/>
          </a:ln>
        </p:spPr>
        <p:txBody>
          <a:bodyPr anchor="ctr"/>
          <a:p>
            <a:pPr algn="ctr">
              <a:defRPr/>
            </a:pPr>
            <a:endParaRPr lang="ko-KR" altLang="en-US"/>
          </a:p>
        </p:txBody>
      </p:sp>
      <p:sp>
        <p:nvSpPr>
          <p:cNvPr id="22" name="Text 20"/>
          <p:cNvSpPr txBox="1"/>
          <p:nvPr/>
        </p:nvSpPr>
        <p:spPr>
          <a:xfrm>
            <a:off x="6519672" y="3081528"/>
            <a:ext cx="483717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PropertyController / PropertyRepository</a:t>
            </a:r>
            <a:endParaRPr lang="en-US" sz="1250"/>
          </a:p>
        </p:txBody>
      </p:sp>
      <p:sp>
        <p:nvSpPr>
          <p:cNvPr id="23" name="Shape 21"/>
          <p:cNvSpPr/>
          <p:nvPr/>
        </p:nvSpPr>
        <p:spPr>
          <a:xfrm>
            <a:off x="566928" y="3547872"/>
            <a:ext cx="1581912" cy="630936"/>
          </a:xfrm>
          <a:prstGeom prst="rect">
            <a:avLst/>
          </a:prstGeom>
          <a:solidFill>
            <a:srgbClr val="ddf3ec"/>
          </a:solidFill>
          <a:ln w="8890">
            <a:solidFill>
              <a:srgbClr val="d9e7e2"/>
            </a:solidFill>
            <a:prstDash val="solid"/>
          </a:ln>
        </p:spPr>
        <p:txBody>
          <a:bodyPr anchor="ctr"/>
          <a:p>
            <a:pPr algn="ctr">
              <a:defRPr/>
            </a:pPr>
            <a:endParaRPr lang="ko-KR" altLang="en-US"/>
          </a:p>
        </p:txBody>
      </p:sp>
      <p:sp>
        <p:nvSpPr>
          <p:cNvPr id="24" name="Text 22"/>
          <p:cNvSpPr txBox="1"/>
          <p:nvPr/>
        </p:nvSpPr>
        <p:spPr>
          <a:xfrm>
            <a:off x="685800" y="3712464"/>
            <a:ext cx="1344168" cy="256032"/>
          </a:xfrm>
          <a:prstGeom prst="rect">
            <a:avLst/>
          </a:prstGeom>
          <a:noFill/>
          <a:ln/>
        </p:spPr>
        <p:txBody>
          <a:bodyPr wrap="square" lIns="0" tIns="0" rIns="0" bIns="0" anchor="t">
            <a:normAutofit/>
          </a:bodyPr>
          <a:lstStyle/>
          <a:p>
            <a:pPr marL="0" indent="0" algn="ctr">
              <a:buNone/>
              <a:defRPr/>
            </a:pPr>
            <a:r>
              <a:rPr lang="en-US" sz="1400" b="1">
                <a:solidFill>
                  <a:srgbClr val="1b7f6b"/>
                </a:solidFill>
                <a:latin typeface="맑은 고딕"/>
                <a:ea typeface="맑은 고딕"/>
                <a:cs typeface="맑은 고딕"/>
              </a:rPr>
              <a:t>소통</a:t>
            </a:r>
            <a:endParaRPr lang="en-US" sz="1400"/>
          </a:p>
        </p:txBody>
      </p:sp>
      <p:sp>
        <p:nvSpPr>
          <p:cNvPr id="25" name="Shape 23"/>
          <p:cNvSpPr/>
          <p:nvPr/>
        </p:nvSpPr>
        <p:spPr>
          <a:xfrm>
            <a:off x="2148840" y="3547872"/>
            <a:ext cx="4251960" cy="630936"/>
          </a:xfrm>
          <a:prstGeom prst="rect">
            <a:avLst/>
          </a:prstGeom>
          <a:solidFill>
            <a:srgbClr val="f1f6f4"/>
          </a:solidFill>
          <a:ln w="8890">
            <a:solidFill>
              <a:srgbClr val="d9e7e2"/>
            </a:solidFill>
            <a:prstDash val="solid"/>
          </a:ln>
        </p:spPr>
        <p:txBody>
          <a:bodyPr anchor="ctr"/>
          <a:p>
            <a:pPr algn="ctr">
              <a:defRPr/>
            </a:pPr>
            <a:endParaRPr lang="ko-KR" altLang="en-US"/>
          </a:p>
        </p:txBody>
      </p:sp>
      <p:sp>
        <p:nvSpPr>
          <p:cNvPr id="26" name="Text 24"/>
          <p:cNvSpPr txBox="1"/>
          <p:nvPr/>
        </p:nvSpPr>
        <p:spPr>
          <a:xfrm>
            <a:off x="2267712" y="3712464"/>
            <a:ext cx="401421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문의·커뮤니티·댓글·알림</a:t>
            </a:r>
            <a:endParaRPr lang="en-US" sz="1250"/>
          </a:p>
        </p:txBody>
      </p:sp>
      <p:sp>
        <p:nvSpPr>
          <p:cNvPr id="27" name="Shape 25"/>
          <p:cNvSpPr/>
          <p:nvPr/>
        </p:nvSpPr>
        <p:spPr>
          <a:xfrm>
            <a:off x="6400800" y="3547872"/>
            <a:ext cx="5074920" cy="630936"/>
          </a:xfrm>
          <a:prstGeom prst="rect">
            <a:avLst/>
          </a:prstGeom>
          <a:solidFill>
            <a:srgbClr val="f1f6f4"/>
          </a:solidFill>
          <a:ln w="8890">
            <a:solidFill>
              <a:srgbClr val="d9e7e2"/>
            </a:solidFill>
            <a:prstDash val="solid"/>
          </a:ln>
        </p:spPr>
        <p:txBody>
          <a:bodyPr anchor="ctr"/>
          <a:p>
            <a:pPr algn="ctr">
              <a:defRPr/>
            </a:pPr>
            <a:endParaRPr lang="ko-KR" altLang="en-US"/>
          </a:p>
        </p:txBody>
      </p:sp>
      <p:sp>
        <p:nvSpPr>
          <p:cNvPr id="28" name="Text 26"/>
          <p:cNvSpPr txBox="1"/>
          <p:nvPr/>
        </p:nvSpPr>
        <p:spPr>
          <a:xfrm>
            <a:off x="6519672" y="3712464"/>
            <a:ext cx="483717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Inquiry · Post · Comment · Notification</a:t>
            </a:r>
            <a:endParaRPr lang="en-US" sz="1250"/>
          </a:p>
        </p:txBody>
      </p:sp>
      <p:sp>
        <p:nvSpPr>
          <p:cNvPr id="29" name="Shape 27"/>
          <p:cNvSpPr/>
          <p:nvPr/>
        </p:nvSpPr>
        <p:spPr>
          <a:xfrm>
            <a:off x="566928" y="4178808"/>
            <a:ext cx="1581912" cy="630936"/>
          </a:xfrm>
          <a:prstGeom prst="rect">
            <a:avLst/>
          </a:prstGeom>
          <a:solidFill>
            <a:srgbClr val="ddf3ec"/>
          </a:solidFill>
          <a:ln w="8890">
            <a:solidFill>
              <a:srgbClr val="d9e7e2"/>
            </a:solidFill>
            <a:prstDash val="solid"/>
          </a:ln>
        </p:spPr>
        <p:txBody>
          <a:bodyPr anchor="ctr"/>
          <a:p>
            <a:pPr algn="ctr">
              <a:defRPr/>
            </a:pPr>
            <a:endParaRPr lang="ko-KR" altLang="en-US"/>
          </a:p>
        </p:txBody>
      </p:sp>
      <p:sp>
        <p:nvSpPr>
          <p:cNvPr id="30" name="Text 28"/>
          <p:cNvSpPr txBox="1"/>
          <p:nvPr/>
        </p:nvSpPr>
        <p:spPr>
          <a:xfrm>
            <a:off x="685800" y="4343400"/>
            <a:ext cx="1344168" cy="256032"/>
          </a:xfrm>
          <a:prstGeom prst="rect">
            <a:avLst/>
          </a:prstGeom>
          <a:noFill/>
          <a:ln/>
        </p:spPr>
        <p:txBody>
          <a:bodyPr wrap="square" lIns="0" tIns="0" rIns="0" bIns="0" anchor="t">
            <a:normAutofit/>
          </a:bodyPr>
          <a:lstStyle/>
          <a:p>
            <a:pPr marL="0" indent="0" algn="ctr">
              <a:buNone/>
              <a:defRPr/>
            </a:pPr>
            <a:r>
              <a:rPr lang="en-US" sz="1400" b="1">
                <a:solidFill>
                  <a:srgbClr val="1b7f6b"/>
                </a:solidFill>
                <a:latin typeface="맑은 고딕"/>
                <a:ea typeface="맑은 고딕"/>
                <a:cs typeface="맑은 고딕"/>
              </a:rPr>
              <a:t>방문</a:t>
            </a:r>
            <a:endParaRPr lang="en-US" sz="1400"/>
          </a:p>
        </p:txBody>
      </p:sp>
      <p:sp>
        <p:nvSpPr>
          <p:cNvPr id="31" name="Shape 29"/>
          <p:cNvSpPr/>
          <p:nvPr/>
        </p:nvSpPr>
        <p:spPr>
          <a:xfrm>
            <a:off x="2148840" y="4178808"/>
            <a:ext cx="4251960" cy="630936"/>
          </a:xfrm>
          <a:prstGeom prst="rect">
            <a:avLst/>
          </a:prstGeom>
          <a:solidFill>
            <a:srgbClr val="ffffff"/>
          </a:solidFill>
          <a:ln w="8890">
            <a:solidFill>
              <a:srgbClr val="d9e7e2"/>
            </a:solidFill>
            <a:prstDash val="solid"/>
          </a:ln>
        </p:spPr>
        <p:txBody>
          <a:bodyPr anchor="ctr"/>
          <a:p>
            <a:pPr algn="ctr">
              <a:defRPr/>
            </a:pPr>
            <a:endParaRPr lang="ko-KR" altLang="en-US"/>
          </a:p>
        </p:txBody>
      </p:sp>
      <p:sp>
        <p:nvSpPr>
          <p:cNvPr id="32" name="Text 30"/>
          <p:cNvSpPr txBox="1"/>
          <p:nvPr/>
        </p:nvSpPr>
        <p:spPr>
          <a:xfrm>
            <a:off x="2267712" y="4343400"/>
            <a:ext cx="401421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방문 요청·상태 변경·알림 연계</a:t>
            </a:r>
            <a:endParaRPr lang="en-US" sz="1250"/>
          </a:p>
        </p:txBody>
      </p:sp>
      <p:sp>
        <p:nvSpPr>
          <p:cNvPr id="33" name="Shape 31"/>
          <p:cNvSpPr/>
          <p:nvPr/>
        </p:nvSpPr>
        <p:spPr>
          <a:xfrm>
            <a:off x="6400800" y="4178808"/>
            <a:ext cx="5074920" cy="630936"/>
          </a:xfrm>
          <a:prstGeom prst="rect">
            <a:avLst/>
          </a:prstGeom>
          <a:solidFill>
            <a:srgbClr val="ffffff"/>
          </a:solidFill>
          <a:ln w="8890">
            <a:solidFill>
              <a:srgbClr val="d9e7e2"/>
            </a:solidFill>
            <a:prstDash val="solid"/>
          </a:ln>
        </p:spPr>
        <p:txBody>
          <a:bodyPr anchor="ctr"/>
          <a:p>
            <a:pPr algn="ctr">
              <a:defRPr/>
            </a:pPr>
            <a:endParaRPr lang="ko-KR" altLang="en-US"/>
          </a:p>
        </p:txBody>
      </p:sp>
      <p:sp>
        <p:nvSpPr>
          <p:cNvPr id="34" name="Text 32"/>
          <p:cNvSpPr txBox="1"/>
          <p:nvPr/>
        </p:nvSpPr>
        <p:spPr>
          <a:xfrm>
            <a:off x="6519672" y="4343400"/>
            <a:ext cx="483717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VisitController / VisitService 흐름</a:t>
            </a:r>
            <a:endParaRPr lang="en-US" sz="1250"/>
          </a:p>
        </p:txBody>
      </p:sp>
      <p:sp>
        <p:nvSpPr>
          <p:cNvPr id="35" name="Shape 33"/>
          <p:cNvSpPr/>
          <p:nvPr/>
        </p:nvSpPr>
        <p:spPr>
          <a:xfrm>
            <a:off x="566928" y="4809744"/>
            <a:ext cx="1581912" cy="630936"/>
          </a:xfrm>
          <a:prstGeom prst="rect">
            <a:avLst/>
          </a:prstGeom>
          <a:solidFill>
            <a:srgbClr val="ddf3ec"/>
          </a:solidFill>
          <a:ln w="8890">
            <a:solidFill>
              <a:srgbClr val="d9e7e2"/>
            </a:solidFill>
            <a:prstDash val="solid"/>
          </a:ln>
        </p:spPr>
        <p:txBody>
          <a:bodyPr anchor="ctr"/>
          <a:p>
            <a:pPr algn="ctr">
              <a:defRPr/>
            </a:pPr>
            <a:endParaRPr lang="ko-KR" altLang="en-US"/>
          </a:p>
        </p:txBody>
      </p:sp>
      <p:sp>
        <p:nvSpPr>
          <p:cNvPr id="36" name="Text 34"/>
          <p:cNvSpPr txBox="1"/>
          <p:nvPr/>
        </p:nvSpPr>
        <p:spPr>
          <a:xfrm>
            <a:off x="685800" y="4974336"/>
            <a:ext cx="1344168" cy="256032"/>
          </a:xfrm>
          <a:prstGeom prst="rect">
            <a:avLst/>
          </a:prstGeom>
          <a:noFill/>
          <a:ln/>
        </p:spPr>
        <p:txBody>
          <a:bodyPr wrap="square" lIns="0" tIns="0" rIns="0" bIns="0" anchor="t">
            <a:normAutofit/>
          </a:bodyPr>
          <a:lstStyle/>
          <a:p>
            <a:pPr marL="0" indent="0" algn="ctr">
              <a:buNone/>
              <a:defRPr/>
            </a:pPr>
            <a:r>
              <a:rPr lang="en-US" sz="1400" b="1">
                <a:solidFill>
                  <a:srgbClr val="1b7f6b"/>
                </a:solidFill>
                <a:latin typeface="맑은 고딕"/>
                <a:ea typeface="맑은 고딕"/>
                <a:cs typeface="맑은 고딕"/>
              </a:rPr>
              <a:t>운영</a:t>
            </a:r>
            <a:endParaRPr lang="en-US" sz="1400"/>
          </a:p>
        </p:txBody>
      </p:sp>
      <p:sp>
        <p:nvSpPr>
          <p:cNvPr id="37" name="Shape 35"/>
          <p:cNvSpPr/>
          <p:nvPr/>
        </p:nvSpPr>
        <p:spPr>
          <a:xfrm>
            <a:off x="2148840" y="4809744"/>
            <a:ext cx="4251960" cy="630936"/>
          </a:xfrm>
          <a:prstGeom prst="rect">
            <a:avLst/>
          </a:prstGeom>
          <a:solidFill>
            <a:srgbClr val="f1f6f4"/>
          </a:solidFill>
          <a:ln w="8890">
            <a:solidFill>
              <a:srgbClr val="d9e7e2"/>
            </a:solidFill>
            <a:prstDash val="solid"/>
          </a:ln>
        </p:spPr>
        <p:txBody>
          <a:bodyPr anchor="ctr"/>
          <a:p>
            <a:pPr algn="ctr">
              <a:defRPr/>
            </a:pPr>
            <a:endParaRPr lang="ko-KR" altLang="en-US"/>
          </a:p>
        </p:txBody>
      </p:sp>
      <p:sp>
        <p:nvSpPr>
          <p:cNvPr id="38" name="Text 36"/>
          <p:cNvSpPr txBox="1"/>
          <p:nvPr/>
        </p:nvSpPr>
        <p:spPr>
          <a:xfrm>
            <a:off x="2267712" y="4974336"/>
            <a:ext cx="401421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관리자 API·DB 마이그레이션·배포</a:t>
            </a:r>
            <a:endParaRPr lang="en-US" sz="1250"/>
          </a:p>
        </p:txBody>
      </p:sp>
      <p:sp>
        <p:nvSpPr>
          <p:cNvPr id="39" name="Shape 37"/>
          <p:cNvSpPr/>
          <p:nvPr/>
        </p:nvSpPr>
        <p:spPr>
          <a:xfrm>
            <a:off x="6400800" y="4809744"/>
            <a:ext cx="5074920" cy="630936"/>
          </a:xfrm>
          <a:prstGeom prst="rect">
            <a:avLst/>
          </a:prstGeom>
          <a:solidFill>
            <a:srgbClr val="f1f6f4"/>
          </a:solidFill>
          <a:ln w="8890">
            <a:solidFill>
              <a:srgbClr val="d9e7e2"/>
            </a:solidFill>
            <a:prstDash val="solid"/>
          </a:ln>
        </p:spPr>
        <p:txBody>
          <a:bodyPr anchor="ctr"/>
          <a:p>
            <a:pPr algn="ctr">
              <a:defRPr/>
            </a:pPr>
            <a:endParaRPr lang="ko-KR" altLang="en-US"/>
          </a:p>
        </p:txBody>
      </p:sp>
      <p:sp>
        <p:nvSpPr>
          <p:cNvPr id="40" name="Text 38"/>
          <p:cNvSpPr txBox="1"/>
          <p:nvPr/>
        </p:nvSpPr>
        <p:spPr>
          <a:xfrm>
            <a:off x="6519672" y="4974336"/>
            <a:ext cx="4837176" cy="256032"/>
          </a:xfrm>
          <a:prstGeom prst="rect">
            <a:avLst/>
          </a:prstGeom>
          <a:noFill/>
          <a:ln/>
        </p:spPr>
        <p:txBody>
          <a:bodyPr wrap="square" lIns="0" tIns="0" rIns="0" bIns="0" anchor="t">
            <a:normAutofit/>
          </a:bodyPr>
          <a:lstStyle/>
          <a:p>
            <a:pPr marL="0" indent="0" algn="l">
              <a:buNone/>
              <a:defRPr/>
            </a:pPr>
            <a:r>
              <a:rPr lang="en-US" sz="1250">
                <a:solidFill>
                  <a:srgbClr val="173b36"/>
                </a:solidFill>
                <a:latin typeface="맑은 고딕"/>
                <a:ea typeface="맑은 고딕"/>
                <a:cs typeface="맑은 고딕"/>
              </a:rPr>
              <a:t>Flyway / Docker / Render</a:t>
            </a:r>
            <a:endParaRPr lang="en-US" sz="1250"/>
          </a:p>
        </p:txBody>
      </p:sp>
      <p:sp>
        <p:nvSpPr>
          <p:cNvPr id="41"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10</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1.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10 · DEMO</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한 명의 사용자가 집을 찾고 방문을 준비하는 흐름입니다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시연은 기능 단위가 아니라 의사결정 과정 순서로 진행합니다.</a:t>
            </a:r>
            <a:endParaRPr lang="en-US" sz="1300"/>
          </a:p>
        </p:txBody>
      </p:sp>
      <p:sp>
        <p:nvSpPr>
          <p:cNvPr id="5" name="Shape 3"/>
          <p:cNvSpPr/>
          <p:nvPr/>
        </p:nvSpPr>
        <p:spPr>
          <a:xfrm>
            <a:off x="566928" y="2011680"/>
            <a:ext cx="1938528" cy="2880360"/>
          </a:xfrm>
          <a:prstGeom prst="roundRect">
            <a:avLst>
              <a:gd name="adj" fmla="val 5660"/>
            </a:avLst>
          </a:prstGeom>
          <a:solidFill>
            <a:srgbClr val="ffffff"/>
          </a:solidFill>
          <a:ln w="12700">
            <a:solidFill>
              <a:srgbClr val="d9e7e2"/>
            </a:solidFill>
            <a:prstDash val="solid"/>
          </a:ln>
        </p:spPr>
        <p:txBody>
          <a:bodyPr anchor="ctr"/>
          <a:p>
            <a:pPr algn="ctr">
              <a:defRPr/>
            </a:pPr>
            <a:endParaRPr lang="ko-KR" altLang="en-US"/>
          </a:p>
        </p:txBody>
      </p:sp>
      <p:sp>
        <p:nvSpPr>
          <p:cNvPr id="6" name="Shape 4"/>
          <p:cNvSpPr/>
          <p:nvPr/>
        </p:nvSpPr>
        <p:spPr>
          <a:xfrm>
            <a:off x="749808" y="2249424"/>
            <a:ext cx="566928" cy="310896"/>
          </a:xfrm>
          <a:prstGeom prst="roundRect">
            <a:avLst>
              <a:gd name="adj" fmla="val 50000"/>
            </a:avLst>
          </a:prstGeom>
          <a:solidFill>
            <a:srgbClr val="ddf3ec"/>
          </a:solidFill>
          <a:ln w="12700">
            <a:solidFill>
              <a:srgbClr val="ddf3ec"/>
            </a:solidFill>
            <a:prstDash val="solid"/>
          </a:ln>
        </p:spPr>
        <p:txBody>
          <a:bodyPr anchor="ctr"/>
          <a:p>
            <a:pPr algn="ctr">
              <a:defRPr/>
            </a:pPr>
            <a:endParaRPr lang="ko-KR" altLang="en-US"/>
          </a:p>
        </p:txBody>
      </p:sp>
      <p:sp>
        <p:nvSpPr>
          <p:cNvPr id="7" name="Text 5"/>
          <p:cNvSpPr txBox="1"/>
          <p:nvPr/>
        </p:nvSpPr>
        <p:spPr>
          <a:xfrm>
            <a:off x="749808" y="2318004"/>
            <a:ext cx="5669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01</a:t>
            </a:r>
            <a:endParaRPr lang="en-US" sz="1000"/>
          </a:p>
        </p:txBody>
      </p:sp>
      <p:sp>
        <p:nvSpPr>
          <p:cNvPr id="8" name="Text 6"/>
          <p:cNvSpPr txBox="1"/>
          <p:nvPr/>
        </p:nvSpPr>
        <p:spPr>
          <a:xfrm>
            <a:off x="749808" y="2907792"/>
            <a:ext cx="1572768" cy="457200"/>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지역·조건 검색</a:t>
            </a:r>
            <a:endParaRPr lang="en-US" sz="1700"/>
          </a:p>
        </p:txBody>
      </p:sp>
      <p:sp>
        <p:nvSpPr>
          <p:cNvPr id="9" name="Text 7"/>
          <p:cNvSpPr txBox="1"/>
          <p:nvPr/>
        </p:nvSpPr>
        <p:spPr>
          <a:xfrm>
            <a:off x="749808" y="3822192"/>
            <a:ext cx="1572768" cy="5029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후보 매물 좁히기</a:t>
            </a:r>
            <a:endParaRPr lang="en-US" sz="1300"/>
          </a:p>
        </p:txBody>
      </p:sp>
      <p:sp>
        <p:nvSpPr>
          <p:cNvPr id="10" name="Shape 8"/>
          <p:cNvSpPr/>
          <p:nvPr/>
        </p:nvSpPr>
        <p:spPr>
          <a:xfrm>
            <a:off x="2560320" y="3182112"/>
            <a:ext cx="219456" cy="411480"/>
          </a:xfrm>
          <a:prstGeom prst="chevron">
            <a:avLst>
              <a:gd name="adj" fmla="val 50000"/>
            </a:avLst>
          </a:prstGeom>
          <a:solidFill>
            <a:srgbClr val="d9e7e2"/>
          </a:solidFill>
          <a:ln w="12700">
            <a:solidFill>
              <a:srgbClr val="d9e7e2"/>
            </a:solidFill>
            <a:prstDash val="solid"/>
          </a:ln>
        </p:spPr>
        <p:txBody>
          <a:bodyPr anchor="ctr"/>
          <a:p>
            <a:pPr algn="ctr">
              <a:defRPr/>
            </a:pPr>
            <a:endParaRPr lang="ko-KR" altLang="en-US">
              <a:solidFill>
                <a:schemeClr val="tx1"/>
              </a:solidFill>
            </a:endParaRPr>
          </a:p>
        </p:txBody>
      </p:sp>
      <p:sp>
        <p:nvSpPr>
          <p:cNvPr id="11" name="Shape 9"/>
          <p:cNvSpPr/>
          <p:nvPr/>
        </p:nvSpPr>
        <p:spPr>
          <a:xfrm>
            <a:off x="2834640" y="2011680"/>
            <a:ext cx="1938528" cy="2880360"/>
          </a:xfrm>
          <a:prstGeom prst="roundRect">
            <a:avLst>
              <a:gd name="adj" fmla="val 5660"/>
            </a:avLst>
          </a:prstGeom>
          <a:solidFill>
            <a:srgbClr val="ffffff"/>
          </a:solidFill>
          <a:ln w="12700">
            <a:solidFill>
              <a:srgbClr val="d9e7e2"/>
            </a:solidFill>
            <a:prstDash val="solid"/>
          </a:ln>
        </p:spPr>
        <p:txBody>
          <a:bodyPr anchor="ctr"/>
          <a:p>
            <a:pPr algn="ctr">
              <a:defRPr/>
            </a:pPr>
            <a:endParaRPr lang="ko-KR" altLang="en-US"/>
          </a:p>
        </p:txBody>
      </p:sp>
      <p:sp>
        <p:nvSpPr>
          <p:cNvPr id="12" name="Shape 10"/>
          <p:cNvSpPr/>
          <p:nvPr/>
        </p:nvSpPr>
        <p:spPr>
          <a:xfrm>
            <a:off x="3017520" y="2249424"/>
            <a:ext cx="566928" cy="310896"/>
          </a:xfrm>
          <a:prstGeom prst="roundRect">
            <a:avLst>
              <a:gd name="adj" fmla="val 50000"/>
            </a:avLst>
          </a:prstGeom>
          <a:solidFill>
            <a:srgbClr val="ddf3ec"/>
          </a:solidFill>
          <a:ln w="12700">
            <a:solidFill>
              <a:srgbClr val="ddf3ec"/>
            </a:solidFill>
            <a:prstDash val="solid"/>
          </a:ln>
        </p:spPr>
        <p:txBody>
          <a:bodyPr anchor="ctr"/>
          <a:p>
            <a:pPr algn="ctr">
              <a:defRPr/>
            </a:pPr>
            <a:endParaRPr lang="ko-KR" altLang="en-US"/>
          </a:p>
        </p:txBody>
      </p:sp>
      <p:sp>
        <p:nvSpPr>
          <p:cNvPr id="13" name="Text 11"/>
          <p:cNvSpPr txBox="1"/>
          <p:nvPr/>
        </p:nvSpPr>
        <p:spPr>
          <a:xfrm>
            <a:off x="3017520" y="2318004"/>
            <a:ext cx="5669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02</a:t>
            </a:r>
            <a:endParaRPr lang="en-US" sz="1000"/>
          </a:p>
        </p:txBody>
      </p:sp>
      <p:sp>
        <p:nvSpPr>
          <p:cNvPr id="14" name="Text 12"/>
          <p:cNvSpPr txBox="1"/>
          <p:nvPr/>
        </p:nvSpPr>
        <p:spPr>
          <a:xfrm>
            <a:off x="3017520" y="2907792"/>
            <a:ext cx="1572768" cy="457200"/>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상세·찜하기</a:t>
            </a:r>
            <a:endParaRPr lang="en-US" sz="1700"/>
          </a:p>
        </p:txBody>
      </p:sp>
      <p:sp>
        <p:nvSpPr>
          <p:cNvPr id="15" name="Text 13"/>
          <p:cNvSpPr txBox="1"/>
          <p:nvPr/>
        </p:nvSpPr>
        <p:spPr>
          <a:xfrm>
            <a:off x="3017520" y="3822192"/>
            <a:ext cx="1572768" cy="5029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비교할 집 저장</a:t>
            </a:r>
            <a:endParaRPr lang="en-US" sz="1300"/>
          </a:p>
        </p:txBody>
      </p:sp>
      <p:sp>
        <p:nvSpPr>
          <p:cNvPr id="16" name="Shape 14"/>
          <p:cNvSpPr/>
          <p:nvPr/>
        </p:nvSpPr>
        <p:spPr>
          <a:xfrm>
            <a:off x="4828032" y="3182112"/>
            <a:ext cx="219456" cy="411480"/>
          </a:xfrm>
          <a:prstGeom prst="chevron">
            <a:avLst>
              <a:gd name="adj" fmla="val 50000"/>
            </a:avLst>
          </a:prstGeom>
          <a:solidFill>
            <a:srgbClr val="d9e7e2"/>
          </a:solidFill>
          <a:ln w="12700">
            <a:solidFill>
              <a:srgbClr val="d9e7e2"/>
            </a:solidFill>
            <a:prstDash val="solid"/>
          </a:ln>
        </p:spPr>
        <p:txBody>
          <a:bodyPr anchor="ctr"/>
          <a:p>
            <a:pPr algn="ctr">
              <a:defRPr/>
            </a:pPr>
            <a:endParaRPr lang="ko-KR" altLang="en-US">
              <a:solidFill>
                <a:schemeClr val="tx1"/>
              </a:solidFill>
            </a:endParaRPr>
          </a:p>
        </p:txBody>
      </p:sp>
      <p:sp>
        <p:nvSpPr>
          <p:cNvPr id="17" name="Shape 15"/>
          <p:cNvSpPr/>
          <p:nvPr/>
        </p:nvSpPr>
        <p:spPr>
          <a:xfrm>
            <a:off x="5102352" y="2011680"/>
            <a:ext cx="1938528" cy="2880360"/>
          </a:xfrm>
          <a:prstGeom prst="roundRect">
            <a:avLst>
              <a:gd name="adj" fmla="val 5660"/>
            </a:avLst>
          </a:prstGeom>
          <a:solidFill>
            <a:srgbClr val="fce9e2"/>
          </a:solidFill>
          <a:ln w="12700">
            <a:solidFill>
              <a:srgbClr val="f07c55"/>
            </a:solidFill>
            <a:prstDash val="solid"/>
          </a:ln>
        </p:spPr>
        <p:txBody>
          <a:bodyPr anchor="ctr"/>
          <a:p>
            <a:pPr algn="ctr">
              <a:defRPr/>
            </a:pPr>
            <a:endParaRPr lang="ko-KR" altLang="en-US"/>
          </a:p>
        </p:txBody>
      </p:sp>
      <p:sp>
        <p:nvSpPr>
          <p:cNvPr id="18" name="Shape 16"/>
          <p:cNvSpPr/>
          <p:nvPr/>
        </p:nvSpPr>
        <p:spPr>
          <a:xfrm>
            <a:off x="5285232" y="2249424"/>
            <a:ext cx="566928" cy="310896"/>
          </a:xfrm>
          <a:prstGeom prst="roundRect">
            <a:avLst>
              <a:gd name="adj" fmla="val 50000"/>
            </a:avLst>
          </a:prstGeom>
          <a:solidFill>
            <a:srgbClr val="f07c55"/>
          </a:solidFill>
          <a:ln w="12700">
            <a:solidFill>
              <a:srgbClr val="f07c55"/>
            </a:solidFill>
            <a:prstDash val="solid"/>
          </a:ln>
        </p:spPr>
        <p:txBody>
          <a:bodyPr anchor="ctr"/>
          <a:p>
            <a:pPr algn="ctr">
              <a:defRPr/>
            </a:pPr>
            <a:endParaRPr lang="ko-KR" altLang="en-US"/>
          </a:p>
        </p:txBody>
      </p:sp>
      <p:sp>
        <p:nvSpPr>
          <p:cNvPr id="19" name="Text 17"/>
          <p:cNvSpPr txBox="1"/>
          <p:nvPr/>
        </p:nvSpPr>
        <p:spPr>
          <a:xfrm>
            <a:off x="5285232" y="2318004"/>
            <a:ext cx="5669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ffffff"/>
                </a:solidFill>
                <a:latin typeface="맑은 고딕"/>
                <a:ea typeface="맑은 고딕"/>
                <a:cs typeface="맑은 고딕"/>
              </a:rPr>
              <a:t>03</a:t>
            </a:r>
            <a:endParaRPr lang="en-US" sz="1000"/>
          </a:p>
        </p:txBody>
      </p:sp>
      <p:sp>
        <p:nvSpPr>
          <p:cNvPr id="20" name="Text 18"/>
          <p:cNvSpPr txBox="1"/>
          <p:nvPr/>
        </p:nvSpPr>
        <p:spPr>
          <a:xfrm>
            <a:off x="5285232" y="2907792"/>
            <a:ext cx="1572768" cy="457200"/>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안전 진단</a:t>
            </a:r>
            <a:endParaRPr lang="en-US" sz="1700"/>
          </a:p>
        </p:txBody>
      </p:sp>
      <p:sp>
        <p:nvSpPr>
          <p:cNvPr id="21" name="Text 19"/>
          <p:cNvSpPr txBox="1"/>
          <p:nvPr/>
        </p:nvSpPr>
        <p:spPr>
          <a:xfrm>
            <a:off x="5285232" y="3822192"/>
            <a:ext cx="1572768" cy="5029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계약 위험 확인</a:t>
            </a:r>
            <a:endParaRPr lang="en-US" sz="1300"/>
          </a:p>
        </p:txBody>
      </p:sp>
      <p:sp>
        <p:nvSpPr>
          <p:cNvPr id="22" name="Shape 20"/>
          <p:cNvSpPr/>
          <p:nvPr/>
        </p:nvSpPr>
        <p:spPr>
          <a:xfrm>
            <a:off x="7095744" y="3182112"/>
            <a:ext cx="219456" cy="411480"/>
          </a:xfrm>
          <a:prstGeom prst="chevron">
            <a:avLst>
              <a:gd name="adj" fmla="val 50000"/>
            </a:avLst>
          </a:prstGeom>
          <a:solidFill>
            <a:srgbClr val="d9e7e2"/>
          </a:solidFill>
          <a:ln w="12700">
            <a:solidFill>
              <a:srgbClr val="d9e7e2"/>
            </a:solidFill>
            <a:prstDash val="solid"/>
          </a:ln>
        </p:spPr>
        <p:txBody>
          <a:bodyPr anchor="ctr"/>
          <a:p>
            <a:pPr algn="ctr">
              <a:defRPr/>
            </a:pPr>
            <a:endParaRPr lang="ko-KR" altLang="en-US">
              <a:solidFill>
                <a:schemeClr val="tx1"/>
              </a:solidFill>
            </a:endParaRPr>
          </a:p>
        </p:txBody>
      </p:sp>
      <p:sp>
        <p:nvSpPr>
          <p:cNvPr id="23" name="Shape 21"/>
          <p:cNvSpPr/>
          <p:nvPr/>
        </p:nvSpPr>
        <p:spPr>
          <a:xfrm>
            <a:off x="7370064" y="2011680"/>
            <a:ext cx="1938528" cy="2880360"/>
          </a:xfrm>
          <a:prstGeom prst="roundRect">
            <a:avLst>
              <a:gd name="adj" fmla="val 5660"/>
            </a:avLst>
          </a:prstGeom>
          <a:solidFill>
            <a:srgbClr val="ffffff"/>
          </a:solidFill>
          <a:ln w="12700">
            <a:solidFill>
              <a:srgbClr val="d9e7e2"/>
            </a:solidFill>
            <a:prstDash val="solid"/>
          </a:ln>
        </p:spPr>
        <p:txBody>
          <a:bodyPr anchor="ctr"/>
          <a:p>
            <a:pPr algn="ctr">
              <a:defRPr/>
            </a:pPr>
            <a:endParaRPr lang="ko-KR" altLang="en-US"/>
          </a:p>
        </p:txBody>
      </p:sp>
      <p:sp>
        <p:nvSpPr>
          <p:cNvPr id="24" name="Shape 22"/>
          <p:cNvSpPr/>
          <p:nvPr/>
        </p:nvSpPr>
        <p:spPr>
          <a:xfrm>
            <a:off x="7552944" y="2249424"/>
            <a:ext cx="566928" cy="310896"/>
          </a:xfrm>
          <a:prstGeom prst="roundRect">
            <a:avLst>
              <a:gd name="adj" fmla="val 50000"/>
            </a:avLst>
          </a:prstGeom>
          <a:solidFill>
            <a:srgbClr val="ddf3ec"/>
          </a:solidFill>
          <a:ln w="12700">
            <a:solidFill>
              <a:srgbClr val="ddf3ec"/>
            </a:solidFill>
            <a:prstDash val="solid"/>
          </a:ln>
        </p:spPr>
        <p:txBody>
          <a:bodyPr anchor="ctr"/>
          <a:p>
            <a:pPr algn="ctr">
              <a:defRPr/>
            </a:pPr>
            <a:endParaRPr lang="ko-KR" altLang="en-US"/>
          </a:p>
        </p:txBody>
      </p:sp>
      <p:sp>
        <p:nvSpPr>
          <p:cNvPr id="25" name="Text 23"/>
          <p:cNvSpPr txBox="1"/>
          <p:nvPr/>
        </p:nvSpPr>
        <p:spPr>
          <a:xfrm>
            <a:off x="7552944" y="2318004"/>
            <a:ext cx="5669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04</a:t>
            </a:r>
            <a:endParaRPr lang="en-US" sz="1000"/>
          </a:p>
        </p:txBody>
      </p:sp>
      <p:sp>
        <p:nvSpPr>
          <p:cNvPr id="26" name="Text 24"/>
          <p:cNvSpPr txBox="1"/>
          <p:nvPr/>
        </p:nvSpPr>
        <p:spPr>
          <a:xfrm>
            <a:off x="7552944" y="2907792"/>
            <a:ext cx="1572768" cy="457200"/>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정책 확인</a:t>
            </a:r>
            <a:endParaRPr lang="en-US" sz="1700"/>
          </a:p>
        </p:txBody>
      </p:sp>
      <p:sp>
        <p:nvSpPr>
          <p:cNvPr id="27" name="Text 25"/>
          <p:cNvSpPr txBox="1"/>
          <p:nvPr/>
        </p:nvSpPr>
        <p:spPr>
          <a:xfrm>
            <a:off x="7552944" y="3822192"/>
            <a:ext cx="1572768" cy="5029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대출·지원 검토</a:t>
            </a:r>
            <a:endParaRPr lang="en-US" sz="1300"/>
          </a:p>
        </p:txBody>
      </p:sp>
      <p:sp>
        <p:nvSpPr>
          <p:cNvPr id="28" name="Shape 26"/>
          <p:cNvSpPr/>
          <p:nvPr/>
        </p:nvSpPr>
        <p:spPr>
          <a:xfrm>
            <a:off x="9363456" y="3182112"/>
            <a:ext cx="219456" cy="411480"/>
          </a:xfrm>
          <a:prstGeom prst="chevron">
            <a:avLst>
              <a:gd name="adj" fmla="val 50000"/>
            </a:avLst>
          </a:prstGeom>
          <a:solidFill>
            <a:srgbClr val="d9e7e2"/>
          </a:solidFill>
          <a:ln w="12700">
            <a:solidFill>
              <a:srgbClr val="d9e7e2"/>
            </a:solidFill>
            <a:prstDash val="solid"/>
          </a:ln>
        </p:spPr>
        <p:txBody>
          <a:bodyPr anchor="ctr"/>
          <a:p>
            <a:pPr algn="ctr">
              <a:defRPr/>
            </a:pPr>
            <a:endParaRPr lang="ko-KR" altLang="en-US">
              <a:solidFill>
                <a:schemeClr val="tx1"/>
              </a:solidFill>
            </a:endParaRPr>
          </a:p>
        </p:txBody>
      </p:sp>
      <p:sp>
        <p:nvSpPr>
          <p:cNvPr id="29" name="Shape 27"/>
          <p:cNvSpPr/>
          <p:nvPr/>
        </p:nvSpPr>
        <p:spPr>
          <a:xfrm>
            <a:off x="9637776" y="2011680"/>
            <a:ext cx="1938528" cy="2880360"/>
          </a:xfrm>
          <a:prstGeom prst="roundRect">
            <a:avLst>
              <a:gd name="adj" fmla="val 5660"/>
            </a:avLst>
          </a:prstGeom>
          <a:solidFill>
            <a:srgbClr val="ffffff"/>
          </a:solidFill>
          <a:ln w="12700">
            <a:solidFill>
              <a:srgbClr val="d9e7e2"/>
            </a:solidFill>
            <a:prstDash val="solid"/>
          </a:ln>
        </p:spPr>
        <p:txBody>
          <a:bodyPr anchor="ctr"/>
          <a:p>
            <a:pPr algn="ctr">
              <a:defRPr/>
            </a:pPr>
            <a:endParaRPr lang="ko-KR" altLang="en-US"/>
          </a:p>
        </p:txBody>
      </p:sp>
      <p:sp>
        <p:nvSpPr>
          <p:cNvPr id="30" name="Shape 28"/>
          <p:cNvSpPr/>
          <p:nvPr/>
        </p:nvSpPr>
        <p:spPr>
          <a:xfrm>
            <a:off x="9820656" y="2249424"/>
            <a:ext cx="566928" cy="310896"/>
          </a:xfrm>
          <a:prstGeom prst="roundRect">
            <a:avLst>
              <a:gd name="adj" fmla="val 50000"/>
            </a:avLst>
          </a:prstGeom>
          <a:solidFill>
            <a:srgbClr val="ddf3ec"/>
          </a:solidFill>
          <a:ln w="12700">
            <a:solidFill>
              <a:srgbClr val="ddf3ec"/>
            </a:solidFill>
            <a:prstDash val="solid"/>
          </a:ln>
        </p:spPr>
        <p:txBody>
          <a:bodyPr anchor="ctr"/>
          <a:p>
            <a:pPr algn="ctr">
              <a:defRPr/>
            </a:pPr>
            <a:endParaRPr lang="ko-KR" altLang="en-US"/>
          </a:p>
        </p:txBody>
      </p:sp>
      <p:sp>
        <p:nvSpPr>
          <p:cNvPr id="31" name="Text 29"/>
          <p:cNvSpPr txBox="1"/>
          <p:nvPr/>
        </p:nvSpPr>
        <p:spPr>
          <a:xfrm>
            <a:off x="9820656" y="2318004"/>
            <a:ext cx="5669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05</a:t>
            </a:r>
            <a:endParaRPr lang="en-US" sz="1000"/>
          </a:p>
        </p:txBody>
      </p:sp>
      <p:sp>
        <p:nvSpPr>
          <p:cNvPr id="32" name="Text 30"/>
          <p:cNvSpPr txBox="1"/>
          <p:nvPr/>
        </p:nvSpPr>
        <p:spPr>
          <a:xfrm>
            <a:off x="9820656" y="2907792"/>
            <a:ext cx="1572768" cy="457200"/>
          </a:xfrm>
          <a:prstGeom prst="rect">
            <a:avLst/>
          </a:prstGeom>
          <a:noFill/>
          <a:ln/>
        </p:spPr>
        <p:txBody>
          <a:bodyPr wrap="square" lIns="0" tIns="0" rIns="0" bIns="0" anchor="t">
            <a:normAutofit/>
          </a:bodyPr>
          <a:lstStyle/>
          <a:p>
            <a:pPr marL="0" indent="0" algn="l">
              <a:buNone/>
              <a:defRPr/>
            </a:pPr>
            <a:r>
              <a:rPr lang="en-US" sz="1700" b="1">
                <a:solidFill>
                  <a:srgbClr val="102a43"/>
                </a:solidFill>
                <a:latin typeface="맑은 고딕"/>
                <a:ea typeface="맑은 고딕"/>
                <a:cs typeface="맑은 고딕"/>
              </a:rPr>
              <a:t>방문 예약</a:t>
            </a:r>
            <a:endParaRPr lang="en-US" sz="1700"/>
          </a:p>
        </p:txBody>
      </p:sp>
      <p:sp>
        <p:nvSpPr>
          <p:cNvPr id="33" name="Text 31"/>
          <p:cNvSpPr txBox="1"/>
          <p:nvPr/>
        </p:nvSpPr>
        <p:spPr>
          <a:xfrm>
            <a:off x="9820656" y="3822192"/>
            <a:ext cx="1572768" cy="502920"/>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실제 행동 연결</a:t>
            </a:r>
            <a:endParaRPr lang="en-US" sz="1300"/>
          </a:p>
        </p:txBody>
      </p:sp>
      <p:sp>
        <p:nvSpPr>
          <p:cNvPr id="34" name="Text 32"/>
          <p:cNvSpPr txBox="1"/>
          <p:nvPr/>
        </p:nvSpPr>
        <p:spPr>
          <a:xfrm>
            <a:off x="594360" y="5367528"/>
            <a:ext cx="1463040" cy="256032"/>
          </a:xfrm>
          <a:prstGeom prst="rect">
            <a:avLst/>
          </a:prstGeom>
          <a:noFill/>
          <a:ln/>
        </p:spPr>
        <p:txBody>
          <a:bodyPr wrap="square" lIns="0" tIns="0" rIns="0" bIns="0" anchor="t">
            <a:normAutofit/>
          </a:bodyPr>
          <a:lstStyle/>
          <a:p>
            <a:pPr marL="0" indent="0" algn="l">
              <a:buNone/>
              <a:defRPr/>
            </a:pPr>
            <a:r>
              <a:rPr lang="en-US" sz="1400" b="1">
                <a:solidFill>
                  <a:srgbClr val="1b7f6b"/>
                </a:solidFill>
                <a:latin typeface="맑은 고딕"/>
                <a:ea typeface="맑은 고딕"/>
                <a:cs typeface="맑은 고딕"/>
              </a:rPr>
              <a:t>시연 포인트</a:t>
            </a:r>
            <a:endParaRPr lang="en-US" sz="1400"/>
          </a:p>
        </p:txBody>
      </p:sp>
      <p:sp>
        <p:nvSpPr>
          <p:cNvPr id="35" name="Text 33"/>
          <p:cNvSpPr txBox="1"/>
          <p:nvPr/>
        </p:nvSpPr>
        <p:spPr>
          <a:xfrm>
            <a:off x="1993392" y="5340096"/>
            <a:ext cx="9052560" cy="310896"/>
          </a:xfrm>
          <a:prstGeom prst="rect">
            <a:avLst/>
          </a:prstGeom>
          <a:noFill/>
          <a:ln/>
        </p:spPr>
        <p:txBody>
          <a:bodyPr wrap="square" lIns="0" tIns="0" rIns="0" bIns="0" anchor="t">
            <a:normAutofit/>
          </a:bodyPr>
          <a:lstStyle/>
          <a:p>
            <a:pPr marL="0" indent="0" algn="l">
              <a:buNone/>
              <a:defRPr/>
            </a:pPr>
            <a:r>
              <a:rPr lang="en-US" sz="1500" b="1">
                <a:solidFill>
                  <a:srgbClr val="173b36"/>
                </a:solidFill>
                <a:latin typeface="맑은 고딕"/>
                <a:ea typeface="맑은 고딕"/>
                <a:cs typeface="맑은 고딕"/>
              </a:rPr>
              <a:t>필터 반응성  ·  데이터 유지  ·  결과에서 다음 행동으로 이어지는 연결성</a:t>
            </a:r>
            <a:endParaRPr lang="en-US" sz="1500"/>
          </a:p>
        </p:txBody>
      </p:sp>
      <p:sp>
        <p:nvSpPr>
          <p:cNvPr id="36"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11</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11 · ROADMAP</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자동 수집과 개인화가 다음 단계의 핵심입니다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백엔드 안정화 이후 데이터 자동화와 AI 기능을 순차 도입합니다.</a:t>
            </a:r>
            <a:endParaRPr lang="en-US" sz="1300"/>
          </a:p>
        </p:txBody>
      </p:sp>
      <p:sp>
        <p:nvSpPr>
          <p:cNvPr id="5" name="Shape 3"/>
          <p:cNvSpPr/>
          <p:nvPr/>
        </p:nvSpPr>
        <p:spPr>
          <a:xfrm>
            <a:off x="1051560" y="2971800"/>
            <a:ext cx="9966960" cy="0"/>
          </a:xfrm>
          <a:prstGeom prst="line">
            <a:avLst/>
          </a:prstGeom>
          <a:noFill/>
          <a:ln w="38100">
            <a:solidFill>
              <a:srgbClr val="d9e7e2"/>
            </a:solidFill>
            <a:prstDash val="solid"/>
          </a:ln>
        </p:spPr>
        <p:txBody>
          <a:bodyPr wrap="square" anchor="ctr"/>
          <a:p>
            <a:pPr algn="ctr">
              <a:defRPr/>
            </a:pPr>
            <a:endParaRPr lang="ko-KR" altLang="en-US"/>
          </a:p>
        </p:txBody>
      </p:sp>
      <p:sp>
        <p:nvSpPr>
          <p:cNvPr id="6" name="Shape 4"/>
          <p:cNvSpPr/>
          <p:nvPr/>
        </p:nvSpPr>
        <p:spPr>
          <a:xfrm>
            <a:off x="841248" y="2770632"/>
            <a:ext cx="411480" cy="411480"/>
          </a:xfrm>
          <a:prstGeom prst="ellipse">
            <a:avLst/>
          </a:prstGeom>
          <a:solidFill>
            <a:srgbClr val="1b7f6b"/>
          </a:solidFill>
          <a:ln w="25400">
            <a:solidFill>
              <a:srgbClr val="ffffff"/>
            </a:solidFill>
            <a:prstDash val="solid"/>
          </a:ln>
        </p:spPr>
        <p:txBody>
          <a:bodyPr anchor="ctr"/>
          <a:p>
            <a:pPr algn="ctr">
              <a:defRPr/>
            </a:pPr>
            <a:endParaRPr lang="ko-KR" altLang="en-US"/>
          </a:p>
        </p:txBody>
      </p:sp>
      <p:sp>
        <p:nvSpPr>
          <p:cNvPr id="7" name="Shape 5"/>
          <p:cNvSpPr/>
          <p:nvPr/>
        </p:nvSpPr>
        <p:spPr>
          <a:xfrm>
            <a:off x="694944" y="1783080"/>
            <a:ext cx="914400" cy="310896"/>
          </a:xfrm>
          <a:prstGeom prst="roundRect">
            <a:avLst>
              <a:gd name="adj" fmla="val 50000"/>
            </a:avLst>
          </a:prstGeom>
          <a:solidFill>
            <a:srgbClr val="ddf3ec"/>
          </a:solidFill>
          <a:ln w="12700">
            <a:solidFill>
              <a:srgbClr val="ddf3ec"/>
            </a:solidFill>
            <a:prstDash val="solid"/>
          </a:ln>
        </p:spPr>
        <p:txBody>
          <a:bodyPr anchor="ctr"/>
          <a:p>
            <a:pPr algn="ctr">
              <a:defRPr/>
            </a:pPr>
            <a:endParaRPr lang="ko-KR" altLang="en-US"/>
          </a:p>
        </p:txBody>
      </p:sp>
      <p:sp>
        <p:nvSpPr>
          <p:cNvPr id="8" name="Text 6"/>
          <p:cNvSpPr txBox="1"/>
          <p:nvPr/>
        </p:nvSpPr>
        <p:spPr>
          <a:xfrm>
            <a:off x="694944" y="1851660"/>
            <a:ext cx="914400"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NOW</a:t>
            </a:r>
            <a:endParaRPr lang="en-US" sz="1000"/>
          </a:p>
        </p:txBody>
      </p:sp>
      <p:sp>
        <p:nvSpPr>
          <p:cNvPr id="9" name="Text 7"/>
          <p:cNvSpPr txBox="1"/>
          <p:nvPr/>
        </p:nvSpPr>
        <p:spPr>
          <a:xfrm>
            <a:off x="694944" y="2286000"/>
            <a:ext cx="3200400" cy="329184"/>
          </a:xfrm>
          <a:prstGeom prst="rect">
            <a:avLst/>
          </a:prstGeom>
          <a:noFill/>
          <a:ln/>
        </p:spPr>
        <p:txBody>
          <a:bodyPr wrap="square" lIns="0" tIns="0" rIns="0" bIns="0" anchor="t">
            <a:normAutofit/>
          </a:bodyPr>
          <a:lstStyle/>
          <a:p>
            <a:pPr marL="0" indent="0" algn="l">
              <a:buNone/>
              <a:defRPr/>
            </a:pPr>
            <a:r>
              <a:rPr lang="en-US" sz="1900" b="1">
                <a:solidFill>
                  <a:srgbClr val="102a43"/>
                </a:solidFill>
                <a:latin typeface="맑은 고딕"/>
                <a:ea typeface="맑은 고딕"/>
                <a:cs typeface="맑은 고딕"/>
              </a:rPr>
              <a:t>서비스 기반</a:t>
            </a:r>
            <a:endParaRPr lang="en-US" sz="1900"/>
          </a:p>
        </p:txBody>
      </p:sp>
      <p:sp>
        <p:nvSpPr>
          <p:cNvPr id="10" name="Text 8"/>
          <p:cNvSpPr txBox="1"/>
          <p:nvPr/>
        </p:nvSpPr>
        <p:spPr>
          <a:xfrm>
            <a:off x="694944" y="3502152"/>
            <a:ext cx="3246120" cy="868680"/>
          </a:xfrm>
          <a:prstGeom prst="rect">
            <a:avLst/>
          </a:prstGeom>
          <a:noFill/>
          <a:ln/>
        </p:spPr>
        <p:txBody>
          <a:bodyPr wrap="square" lIns="0" tIns="0" rIns="0" bIns="0" anchor="t">
            <a:normAutofit/>
          </a:bodyPr>
          <a:lstStyle/>
          <a:p>
            <a:pPr marL="0" indent="0" algn="l">
              <a:buNone/>
              <a:defRPr/>
            </a:pPr>
            <a:r>
              <a:rPr lang="en-US" sz="1400">
                <a:solidFill>
                  <a:srgbClr val="60746f"/>
                </a:solidFill>
                <a:latin typeface="맑은 고딕"/>
                <a:ea typeface="맑은 고딕"/>
                <a:cs typeface="맑은 고딕"/>
              </a:rPr>
              <a:t>회원·로그인·게시판</a:t>
            </a:r>
            <a:endParaRPr lang="en-US" sz="1400">
              <a:solidFill>
                <a:srgbClr val="60746f"/>
              </a:solidFill>
              <a:latin typeface="맑은 고딕"/>
              <a:ea typeface="맑은 고딕"/>
              <a:cs typeface="맑은 고딕"/>
            </a:endParaRPr>
          </a:p>
          <a:p>
            <a:pPr marL="0" indent="0" algn="l">
              <a:buNone/>
              <a:defRPr/>
            </a:pPr>
            <a:r>
              <a:rPr lang="en-US" sz="1400">
                <a:solidFill>
                  <a:srgbClr val="60746f"/>
                </a:solidFill>
                <a:latin typeface="맑은 고딕"/>
                <a:ea typeface="맑은 고딕"/>
                <a:cs typeface="맑은 고딕"/>
              </a:rPr>
              <a:t>MySQL 연동·운영 안정화</a:t>
            </a:r>
            <a:endParaRPr lang="en-US" sz="1400"/>
          </a:p>
        </p:txBody>
      </p:sp>
      <p:sp>
        <p:nvSpPr>
          <p:cNvPr id="11" name="Shape 9"/>
          <p:cNvSpPr/>
          <p:nvPr/>
        </p:nvSpPr>
        <p:spPr>
          <a:xfrm>
            <a:off x="4636008" y="2770632"/>
            <a:ext cx="411480" cy="411480"/>
          </a:xfrm>
          <a:prstGeom prst="ellipse">
            <a:avLst/>
          </a:prstGeom>
          <a:solidFill>
            <a:srgbClr val="f07c55"/>
          </a:solidFill>
          <a:ln w="25400">
            <a:solidFill>
              <a:srgbClr val="ffffff"/>
            </a:solidFill>
            <a:prstDash val="solid"/>
          </a:ln>
        </p:spPr>
        <p:txBody>
          <a:bodyPr anchor="ctr"/>
          <a:p>
            <a:pPr algn="ctr">
              <a:defRPr/>
            </a:pPr>
            <a:endParaRPr lang="ko-KR" altLang="en-US"/>
          </a:p>
        </p:txBody>
      </p:sp>
      <p:sp>
        <p:nvSpPr>
          <p:cNvPr id="12" name="Shape 10"/>
          <p:cNvSpPr/>
          <p:nvPr/>
        </p:nvSpPr>
        <p:spPr>
          <a:xfrm>
            <a:off x="4489704" y="1783080"/>
            <a:ext cx="914400" cy="310896"/>
          </a:xfrm>
          <a:prstGeom prst="roundRect">
            <a:avLst>
              <a:gd name="adj" fmla="val 50000"/>
            </a:avLst>
          </a:prstGeom>
          <a:solidFill>
            <a:srgbClr val="fce9e2"/>
          </a:solidFill>
          <a:ln w="12700">
            <a:solidFill>
              <a:srgbClr val="fce9e2"/>
            </a:solidFill>
            <a:prstDash val="solid"/>
          </a:ln>
        </p:spPr>
        <p:txBody>
          <a:bodyPr anchor="ctr"/>
          <a:p>
            <a:pPr algn="ctr">
              <a:defRPr/>
            </a:pPr>
            <a:endParaRPr lang="ko-KR" altLang="en-US"/>
          </a:p>
        </p:txBody>
      </p:sp>
      <p:sp>
        <p:nvSpPr>
          <p:cNvPr id="13" name="Text 11"/>
          <p:cNvSpPr txBox="1"/>
          <p:nvPr/>
        </p:nvSpPr>
        <p:spPr>
          <a:xfrm>
            <a:off x="4489704" y="1851660"/>
            <a:ext cx="914400"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f07c55"/>
                </a:solidFill>
                <a:latin typeface="맑은 고딕"/>
                <a:ea typeface="맑은 고딕"/>
                <a:cs typeface="맑은 고딕"/>
              </a:rPr>
              <a:t>NEXT</a:t>
            </a:r>
            <a:endParaRPr lang="en-US" sz="1000"/>
          </a:p>
        </p:txBody>
      </p:sp>
      <p:sp>
        <p:nvSpPr>
          <p:cNvPr id="14" name="Text 12"/>
          <p:cNvSpPr txBox="1"/>
          <p:nvPr/>
        </p:nvSpPr>
        <p:spPr>
          <a:xfrm>
            <a:off x="4489704" y="2286000"/>
            <a:ext cx="3200400" cy="329184"/>
          </a:xfrm>
          <a:prstGeom prst="rect">
            <a:avLst/>
          </a:prstGeom>
          <a:noFill/>
          <a:ln/>
        </p:spPr>
        <p:txBody>
          <a:bodyPr wrap="square" lIns="0" tIns="0" rIns="0" bIns="0" anchor="t">
            <a:normAutofit/>
          </a:bodyPr>
          <a:lstStyle/>
          <a:p>
            <a:pPr marL="0" indent="0" algn="l">
              <a:buNone/>
              <a:defRPr/>
            </a:pPr>
            <a:r>
              <a:rPr lang="en-US" sz="1900" b="1">
                <a:solidFill>
                  <a:srgbClr val="102a43"/>
                </a:solidFill>
                <a:latin typeface="맑은 고딕"/>
                <a:ea typeface="맑은 고딕"/>
                <a:cs typeface="맑은 고딕"/>
              </a:rPr>
              <a:t>RPA 데이터 수집</a:t>
            </a:r>
            <a:endParaRPr lang="en-US" sz="1900"/>
          </a:p>
        </p:txBody>
      </p:sp>
      <p:sp>
        <p:nvSpPr>
          <p:cNvPr id="15" name="Text 13"/>
          <p:cNvSpPr txBox="1"/>
          <p:nvPr/>
        </p:nvSpPr>
        <p:spPr>
          <a:xfrm>
            <a:off x="4489704" y="3502152"/>
            <a:ext cx="3246120" cy="868680"/>
          </a:xfrm>
          <a:prstGeom prst="rect">
            <a:avLst/>
          </a:prstGeom>
          <a:noFill/>
          <a:ln/>
        </p:spPr>
        <p:txBody>
          <a:bodyPr wrap="square" lIns="0" tIns="0" rIns="0" bIns="0" anchor="t">
            <a:normAutofit/>
          </a:bodyPr>
          <a:lstStyle/>
          <a:p>
            <a:pPr marL="0" indent="0" algn="l">
              <a:buNone/>
              <a:defRPr/>
            </a:pPr>
            <a:r>
              <a:rPr lang="en-US" sz="1400">
                <a:solidFill>
                  <a:srgbClr val="60746f"/>
                </a:solidFill>
                <a:latin typeface="맑은 고딕"/>
                <a:ea typeface="맑은 고딕"/>
                <a:cs typeface="맑은 고딕"/>
              </a:rPr>
              <a:t>부동산·공공 데이터 자동 수집</a:t>
            </a:r>
            <a:endParaRPr lang="en-US" sz="1400">
              <a:solidFill>
                <a:srgbClr val="60746f"/>
              </a:solidFill>
              <a:latin typeface="맑은 고딕"/>
              <a:ea typeface="맑은 고딕"/>
              <a:cs typeface="맑은 고딕"/>
            </a:endParaRPr>
          </a:p>
          <a:p>
            <a:pPr marL="0" indent="0" algn="l">
              <a:buNone/>
              <a:defRPr/>
            </a:pPr>
            <a:r>
              <a:rPr lang="en-US" sz="1400">
                <a:solidFill>
                  <a:srgbClr val="60746f"/>
                </a:solidFill>
                <a:latin typeface="맑은 고딕"/>
                <a:ea typeface="맑은 고딕"/>
                <a:cs typeface="맑은 고딕"/>
              </a:rPr>
              <a:t>시세·매물·정책 정기 업데이트</a:t>
            </a:r>
            <a:endParaRPr lang="en-US" sz="1400"/>
          </a:p>
        </p:txBody>
      </p:sp>
      <p:sp>
        <p:nvSpPr>
          <p:cNvPr id="16" name="Shape 14"/>
          <p:cNvSpPr/>
          <p:nvPr/>
        </p:nvSpPr>
        <p:spPr>
          <a:xfrm>
            <a:off x="8430768" y="2770632"/>
            <a:ext cx="411480" cy="411480"/>
          </a:xfrm>
          <a:prstGeom prst="ellipse">
            <a:avLst/>
          </a:prstGeom>
          <a:solidFill>
            <a:srgbClr val="2f6fed"/>
          </a:solidFill>
          <a:ln w="25400">
            <a:solidFill>
              <a:srgbClr val="ffffff"/>
            </a:solidFill>
            <a:prstDash val="solid"/>
          </a:ln>
        </p:spPr>
        <p:txBody>
          <a:bodyPr anchor="ctr"/>
          <a:p>
            <a:pPr algn="ctr">
              <a:defRPr/>
            </a:pPr>
            <a:endParaRPr lang="ko-KR" altLang="en-US"/>
          </a:p>
        </p:txBody>
      </p:sp>
      <p:sp>
        <p:nvSpPr>
          <p:cNvPr id="17" name="Shape 15"/>
          <p:cNvSpPr/>
          <p:nvPr/>
        </p:nvSpPr>
        <p:spPr>
          <a:xfrm>
            <a:off x="8284464" y="1783080"/>
            <a:ext cx="914400" cy="310896"/>
          </a:xfrm>
          <a:prstGeom prst="roundRect">
            <a:avLst>
              <a:gd name="adj" fmla="val 50000"/>
            </a:avLst>
          </a:prstGeom>
          <a:solidFill>
            <a:srgbClr val="eaf1ff"/>
          </a:solidFill>
          <a:ln w="12700">
            <a:solidFill>
              <a:srgbClr val="eaf1ff"/>
            </a:solidFill>
            <a:prstDash val="solid"/>
          </a:ln>
        </p:spPr>
        <p:txBody>
          <a:bodyPr anchor="ctr"/>
          <a:p>
            <a:pPr algn="ctr">
              <a:defRPr/>
            </a:pPr>
            <a:endParaRPr lang="ko-KR" altLang="en-US"/>
          </a:p>
        </p:txBody>
      </p:sp>
      <p:sp>
        <p:nvSpPr>
          <p:cNvPr id="18" name="Text 16"/>
          <p:cNvSpPr txBox="1"/>
          <p:nvPr/>
        </p:nvSpPr>
        <p:spPr>
          <a:xfrm>
            <a:off x="8284464" y="1851660"/>
            <a:ext cx="914400"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2f6fed"/>
                </a:solidFill>
                <a:latin typeface="맑은 고딕"/>
                <a:ea typeface="맑은 고딕"/>
                <a:cs typeface="맑은 고딕"/>
              </a:rPr>
              <a:t>FUTURE</a:t>
            </a:r>
            <a:endParaRPr lang="en-US" sz="1000"/>
          </a:p>
        </p:txBody>
      </p:sp>
      <p:sp>
        <p:nvSpPr>
          <p:cNvPr id="19" name="Text 17"/>
          <p:cNvSpPr txBox="1"/>
          <p:nvPr/>
        </p:nvSpPr>
        <p:spPr>
          <a:xfrm>
            <a:off x="8284464" y="2286000"/>
            <a:ext cx="3200400" cy="329184"/>
          </a:xfrm>
          <a:prstGeom prst="rect">
            <a:avLst/>
          </a:prstGeom>
          <a:noFill/>
          <a:ln/>
        </p:spPr>
        <p:txBody>
          <a:bodyPr wrap="square" lIns="0" tIns="0" rIns="0" bIns="0" anchor="t">
            <a:normAutofit/>
          </a:bodyPr>
          <a:lstStyle/>
          <a:p>
            <a:pPr marL="0" indent="0" algn="l">
              <a:buNone/>
              <a:defRPr/>
            </a:pPr>
            <a:r>
              <a:rPr lang="en-US" sz="1900" b="1">
                <a:solidFill>
                  <a:srgbClr val="102a43"/>
                </a:solidFill>
                <a:latin typeface="맑은 고딕"/>
                <a:ea typeface="맑은 고딕"/>
                <a:cs typeface="맑은 고딕"/>
              </a:rPr>
              <a:t>AI 개인화</a:t>
            </a:r>
            <a:endParaRPr lang="en-US" sz="1900"/>
          </a:p>
        </p:txBody>
      </p:sp>
      <p:sp>
        <p:nvSpPr>
          <p:cNvPr id="20" name="Text 18"/>
          <p:cNvSpPr txBox="1"/>
          <p:nvPr/>
        </p:nvSpPr>
        <p:spPr>
          <a:xfrm>
            <a:off x="8284464" y="3502152"/>
            <a:ext cx="3246120" cy="868680"/>
          </a:xfrm>
          <a:prstGeom prst="rect">
            <a:avLst/>
          </a:prstGeom>
          <a:noFill/>
          <a:ln/>
        </p:spPr>
        <p:txBody>
          <a:bodyPr wrap="square" lIns="0" tIns="0" rIns="0" bIns="0" anchor="t">
            <a:normAutofit/>
          </a:bodyPr>
          <a:lstStyle/>
          <a:p>
            <a:pPr marL="0" indent="0" algn="l">
              <a:buNone/>
              <a:defRPr/>
            </a:pPr>
            <a:r>
              <a:rPr lang="en-US" sz="1400">
                <a:solidFill>
                  <a:srgbClr val="60746f"/>
                </a:solidFill>
                <a:latin typeface="맑은 고딕"/>
                <a:ea typeface="맑은 고딕"/>
                <a:cs typeface="맑은 고딕"/>
              </a:rPr>
              <a:t>맞춤 매물·가격 예측</a:t>
            </a:r>
            <a:endParaRPr lang="en-US" sz="1400">
              <a:solidFill>
                <a:srgbClr val="60746f"/>
              </a:solidFill>
              <a:latin typeface="맑은 고딕"/>
              <a:ea typeface="맑은 고딕"/>
              <a:cs typeface="맑은 고딕"/>
            </a:endParaRPr>
          </a:p>
          <a:p>
            <a:pPr marL="0" indent="0" algn="l">
              <a:buNone/>
              <a:defRPr/>
            </a:pPr>
            <a:r>
              <a:rPr lang="en-US" sz="1400">
                <a:solidFill>
                  <a:srgbClr val="60746f"/>
                </a:solidFill>
                <a:latin typeface="맑은 고딕"/>
                <a:ea typeface="맑은 고딕"/>
                <a:cs typeface="맑은 고딕"/>
              </a:rPr>
              <a:t>지역 분석·챗봇·선호 기반 추천</a:t>
            </a:r>
            <a:endParaRPr lang="en-US" sz="1400"/>
          </a:p>
        </p:txBody>
      </p:sp>
      <p:sp>
        <p:nvSpPr>
          <p:cNvPr id="21" name="Shape 19"/>
          <p:cNvSpPr/>
          <p:nvPr/>
        </p:nvSpPr>
        <p:spPr>
          <a:xfrm>
            <a:off x="914400" y="5074920"/>
            <a:ext cx="10287000" cy="621792"/>
          </a:xfrm>
          <a:prstGeom prst="roundRect">
            <a:avLst>
              <a:gd name="adj" fmla="val 17647"/>
            </a:avLst>
          </a:prstGeom>
          <a:solidFill>
            <a:srgbClr val="0f3b34"/>
          </a:solidFill>
          <a:ln w="12700">
            <a:solidFill>
              <a:srgbClr val="0f3b34"/>
            </a:solidFill>
            <a:prstDash val="solid"/>
          </a:ln>
        </p:spPr>
        <p:txBody>
          <a:bodyPr anchor="ctr"/>
          <a:p>
            <a:pPr algn="ctr">
              <a:defRPr/>
            </a:pPr>
            <a:endParaRPr lang="ko-KR" altLang="en-US"/>
          </a:p>
        </p:txBody>
      </p:sp>
      <p:sp>
        <p:nvSpPr>
          <p:cNvPr id="22" name="Text 20"/>
          <p:cNvSpPr txBox="1"/>
          <p:nvPr/>
        </p:nvSpPr>
        <p:spPr>
          <a:xfrm>
            <a:off x="1188720" y="5285232"/>
            <a:ext cx="9738360" cy="228600"/>
          </a:xfrm>
          <a:prstGeom prst="rect">
            <a:avLst/>
          </a:prstGeom>
          <a:noFill/>
          <a:ln/>
        </p:spPr>
        <p:txBody>
          <a:bodyPr wrap="square" lIns="0" tIns="0" rIns="0" bIns="0" anchor="t">
            <a:normAutofit/>
          </a:bodyPr>
          <a:lstStyle/>
          <a:p>
            <a:pPr marL="0" indent="0" algn="ctr">
              <a:buNone/>
              <a:defRPr/>
            </a:pPr>
            <a:r>
              <a:rPr lang="en-US" sz="1500" b="1">
                <a:solidFill>
                  <a:srgbClr val="ffffff"/>
                </a:solidFill>
                <a:latin typeface="맑은 고딕"/>
                <a:ea typeface="맑은 고딕"/>
                <a:cs typeface="맑은 고딕"/>
              </a:rPr>
              <a:t>원칙  |  데이터 신뢰성과 개인정보 보호를 먼저 확보한 뒤 자동화·AI를 적용</a:t>
            </a:r>
            <a:endParaRPr lang="en-US" sz="1500"/>
          </a:p>
        </p:txBody>
      </p:sp>
      <p:sp>
        <p:nvSpPr>
          <p:cNvPr id="25"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12</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66928" y="347472"/>
            <a:ext cx="3108960" cy="201168"/>
          </a:xfrm>
          <a:prstGeom prst="rect">
            <a:avLst/>
          </a:prstGeom>
          <a:noFill/>
          <a:ln/>
        </p:spPr>
        <p:txBody>
          <a:bodyPr wrap="square" lIns="0" tIns="0" rIns="0" bIns="0" anchor="t">
            <a:normAutofit/>
          </a:bodyPr>
          <a:lstStyle/>
          <a:p>
            <a:pPr marL="0" indent="0" algn="l">
              <a:buNone/>
              <a:defRPr/>
            </a:pPr>
            <a:r>
              <a:rPr lang="en-US" sz="1100" b="1">
                <a:solidFill>
                  <a:srgbClr val="1b7f6b"/>
                </a:solidFill>
                <a:latin typeface="맑은 고딕"/>
                <a:ea typeface="맑은 고딕"/>
                <a:cs typeface="맑은 고딕"/>
              </a:rPr>
              <a:t>12 · RETROSPECTIVE</a:t>
            </a:r>
            <a:endParaRPr lang="en-US" sz="1100"/>
          </a:p>
        </p:txBody>
      </p:sp>
      <p:sp>
        <p:nvSpPr>
          <p:cNvPr id="3" name="Text 1"/>
          <p:cNvSpPr txBox="1"/>
          <p:nvPr/>
        </p:nvSpPr>
        <p:spPr>
          <a:xfrm>
            <a:off x="566928" y="713232"/>
            <a:ext cx="11018520" cy="530352"/>
          </a:xfrm>
          <a:prstGeom prst="rect">
            <a:avLst/>
          </a:prstGeom>
          <a:noFill/>
          <a:ln/>
        </p:spPr>
        <p:txBody>
          <a:bodyPr wrap="square" lIns="0" tIns="0" rIns="0" bIns="0" anchor="t">
            <a:normAutofit/>
          </a:bodyPr>
          <a:lstStyle/>
          <a:p>
            <a:pPr marL="0" indent="0" algn="l">
              <a:buNone/>
              <a:defRPr/>
            </a:pPr>
            <a:r>
              <a:rPr lang="en-US" sz="2600" b="1">
                <a:solidFill>
                  <a:srgbClr val="102a43"/>
                </a:solidFill>
                <a:latin typeface="맑은 고딕"/>
                <a:ea typeface="맑은 고딕"/>
                <a:cs typeface="맑은 고딕"/>
              </a:rPr>
              <a:t>잘된 점은 유지하고, 데이터 품질과 통합은 더 개선합니다</a:t>
            </a:r>
            <a:endParaRPr lang="en-US" sz="2600"/>
          </a:p>
        </p:txBody>
      </p:sp>
      <p:sp>
        <p:nvSpPr>
          <p:cNvPr id="4" name="Text 2"/>
          <p:cNvSpPr txBox="1"/>
          <p:nvPr/>
        </p:nvSpPr>
        <p:spPr>
          <a:xfrm>
            <a:off x="566928" y="1298448"/>
            <a:ext cx="10789920" cy="347472"/>
          </a:xfrm>
          <a:prstGeom prst="rect">
            <a:avLst/>
          </a:prstGeom>
          <a:noFill/>
          <a:ln/>
        </p:spPr>
        <p:txBody>
          <a:bodyPr wrap="square" lIns="0" tIns="0" rIns="0" bIns="0" anchor="t">
            <a:normAutofit/>
          </a:bodyPr>
          <a:lstStyle/>
          <a:p>
            <a:pPr marL="0" indent="0" algn="l">
              <a:buNone/>
              <a:defRPr/>
            </a:pPr>
            <a:r>
              <a:rPr lang="en-US" sz="1300">
                <a:solidFill>
                  <a:srgbClr val="60746f"/>
                </a:solidFill>
                <a:latin typeface="맑은 고딕"/>
                <a:ea typeface="맑은 고딕"/>
                <a:cs typeface="맑은 고딕"/>
              </a:rPr>
              <a:t>Keep · Problem · Try를 다음 개발 주기의 실행 항목으로 연결했습니다.</a:t>
            </a:r>
            <a:endParaRPr lang="en-US" sz="1300"/>
          </a:p>
        </p:txBody>
      </p:sp>
      <p:sp>
        <p:nvSpPr>
          <p:cNvPr id="5" name="Shape 3"/>
          <p:cNvSpPr/>
          <p:nvPr/>
        </p:nvSpPr>
        <p:spPr>
          <a:xfrm>
            <a:off x="566928" y="1828800"/>
            <a:ext cx="3401568" cy="3566160"/>
          </a:xfrm>
          <a:prstGeom prst="roundRect">
            <a:avLst>
              <a:gd name="adj" fmla="val 3226"/>
            </a:avLst>
          </a:prstGeom>
          <a:solidFill>
            <a:srgbClr val="ddf3ec"/>
          </a:solidFill>
          <a:ln w="12700">
            <a:solidFill>
              <a:srgbClr val="ddf3ec"/>
            </a:solidFill>
            <a:prstDash val="solid"/>
          </a:ln>
        </p:spPr>
        <p:txBody>
          <a:bodyPr anchor="ctr"/>
          <a:p>
            <a:pPr algn="ctr">
              <a:defRPr/>
            </a:pPr>
            <a:endParaRPr lang="ko-KR" altLang="en-US"/>
          </a:p>
        </p:txBody>
      </p:sp>
      <p:sp>
        <p:nvSpPr>
          <p:cNvPr id="6" name="Shape 4"/>
          <p:cNvSpPr/>
          <p:nvPr/>
        </p:nvSpPr>
        <p:spPr>
          <a:xfrm>
            <a:off x="795528" y="2084832"/>
            <a:ext cx="1024128"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7" name="Text 5"/>
          <p:cNvSpPr txBox="1"/>
          <p:nvPr/>
        </p:nvSpPr>
        <p:spPr>
          <a:xfrm>
            <a:off x="795528" y="2153412"/>
            <a:ext cx="10241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1b7f6b"/>
                </a:solidFill>
                <a:latin typeface="맑은 고딕"/>
                <a:ea typeface="맑은 고딕"/>
                <a:cs typeface="맑은 고딕"/>
              </a:rPr>
              <a:t>KEEP</a:t>
            </a:r>
            <a:endParaRPr lang="en-US" sz="1000"/>
          </a:p>
        </p:txBody>
      </p:sp>
      <p:sp>
        <p:nvSpPr>
          <p:cNvPr id="8" name="Text 6"/>
          <p:cNvSpPr txBox="1"/>
          <p:nvPr/>
        </p:nvSpPr>
        <p:spPr>
          <a:xfrm>
            <a:off x="813816" y="2907792"/>
            <a:ext cx="2852928" cy="1572768"/>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사용자 여정 중심의 기능 연결</a:t>
            </a:r>
            <a:endParaRPr lang="en-US" sz="1600" b="1">
              <a:solidFill>
                <a:srgbClr val="102a43"/>
              </a:solidFill>
              <a:latin typeface="맑은 고딕"/>
              <a:ea typeface="맑은 고딕"/>
              <a:cs typeface="맑은 고딕"/>
            </a:endParaRPr>
          </a:p>
          <a:p>
            <a:pPr marL="0" indent="0" algn="l">
              <a:buNone/>
              <a:defRPr/>
            </a:pPr>
            <a:r>
              <a:rPr lang="en-US" sz="1600" b="1">
                <a:solidFill>
                  <a:srgbClr val="102a43"/>
                </a:solidFill>
                <a:latin typeface="맑은 고딕"/>
                <a:ea typeface="맑은 고딕"/>
                <a:cs typeface="맑은 고딕"/>
              </a:rPr>
              <a:t>공통 UI와 역할 분담</a:t>
            </a:r>
            <a:endParaRPr lang="en-US" sz="1600" b="1">
              <a:solidFill>
                <a:srgbClr val="102a43"/>
              </a:solidFill>
              <a:latin typeface="맑은 고딕"/>
              <a:ea typeface="맑은 고딕"/>
              <a:cs typeface="맑은 고딕"/>
            </a:endParaRPr>
          </a:p>
          <a:p>
            <a:pPr marL="0" indent="0" algn="l">
              <a:buNone/>
              <a:defRPr/>
            </a:pPr>
            <a:r>
              <a:rPr lang="en-US" sz="1600" b="1">
                <a:solidFill>
                  <a:srgbClr val="102a43"/>
                </a:solidFill>
                <a:latin typeface="맑은 고딕"/>
                <a:ea typeface="맑은 고딕"/>
                <a:cs typeface="맑은 고딕"/>
              </a:rPr>
              <a:t>프론트·백엔드 병행 확장</a:t>
            </a:r>
            <a:endParaRPr lang="en-US" sz="1600"/>
          </a:p>
        </p:txBody>
      </p:sp>
      <p:sp>
        <p:nvSpPr>
          <p:cNvPr id="9" name="Shape 7"/>
          <p:cNvSpPr/>
          <p:nvPr/>
        </p:nvSpPr>
        <p:spPr>
          <a:xfrm>
            <a:off x="813816" y="4828032"/>
            <a:ext cx="2651760" cy="0"/>
          </a:xfrm>
          <a:prstGeom prst="line">
            <a:avLst/>
          </a:prstGeom>
          <a:noFill/>
          <a:ln w="50800">
            <a:solidFill>
              <a:srgbClr val="1b7f6b"/>
            </a:solidFill>
            <a:prstDash val="solid"/>
          </a:ln>
        </p:spPr>
        <p:txBody>
          <a:bodyPr wrap="square" anchor="ctr"/>
          <a:p>
            <a:pPr algn="ctr">
              <a:defRPr/>
            </a:pPr>
            <a:endParaRPr lang="ko-KR" altLang="en-US"/>
          </a:p>
        </p:txBody>
      </p:sp>
      <p:sp>
        <p:nvSpPr>
          <p:cNvPr id="10" name="Shape 8"/>
          <p:cNvSpPr/>
          <p:nvPr/>
        </p:nvSpPr>
        <p:spPr>
          <a:xfrm>
            <a:off x="4343400" y="1828800"/>
            <a:ext cx="3401568" cy="3566160"/>
          </a:xfrm>
          <a:prstGeom prst="roundRect">
            <a:avLst>
              <a:gd name="adj" fmla="val 3226"/>
            </a:avLst>
          </a:prstGeom>
          <a:solidFill>
            <a:srgbClr val="fce9e2"/>
          </a:solidFill>
          <a:ln w="12700">
            <a:solidFill>
              <a:srgbClr val="fce9e2"/>
            </a:solidFill>
            <a:prstDash val="solid"/>
          </a:ln>
        </p:spPr>
        <p:txBody>
          <a:bodyPr anchor="ctr"/>
          <a:p>
            <a:pPr algn="ctr">
              <a:defRPr/>
            </a:pPr>
            <a:endParaRPr lang="ko-KR" altLang="en-US"/>
          </a:p>
        </p:txBody>
      </p:sp>
      <p:sp>
        <p:nvSpPr>
          <p:cNvPr id="11" name="Shape 9"/>
          <p:cNvSpPr/>
          <p:nvPr/>
        </p:nvSpPr>
        <p:spPr>
          <a:xfrm>
            <a:off x="4572000" y="2084832"/>
            <a:ext cx="1024128"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12" name="Text 10"/>
          <p:cNvSpPr txBox="1"/>
          <p:nvPr/>
        </p:nvSpPr>
        <p:spPr>
          <a:xfrm>
            <a:off x="4572000" y="2153412"/>
            <a:ext cx="10241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f07c55"/>
                </a:solidFill>
                <a:latin typeface="맑은 고딕"/>
                <a:ea typeface="맑은 고딕"/>
                <a:cs typeface="맑은 고딕"/>
              </a:rPr>
              <a:t>PROBLEM</a:t>
            </a:r>
            <a:endParaRPr lang="en-US" sz="1000"/>
          </a:p>
        </p:txBody>
      </p:sp>
      <p:sp>
        <p:nvSpPr>
          <p:cNvPr id="13" name="Text 11"/>
          <p:cNvSpPr txBox="1"/>
          <p:nvPr/>
        </p:nvSpPr>
        <p:spPr>
          <a:xfrm>
            <a:off x="4590288" y="2907792"/>
            <a:ext cx="2852928" cy="1572768"/>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일부 기능의 가상 데이터 의존</a:t>
            </a:r>
            <a:endParaRPr lang="en-US" sz="1600" b="1">
              <a:solidFill>
                <a:srgbClr val="102a43"/>
              </a:solidFill>
              <a:latin typeface="맑은 고딕"/>
              <a:ea typeface="맑은 고딕"/>
              <a:cs typeface="맑은 고딕"/>
            </a:endParaRPr>
          </a:p>
          <a:p>
            <a:pPr marL="0" indent="0" algn="l">
              <a:buNone/>
              <a:defRPr/>
            </a:pPr>
            <a:r>
              <a:rPr lang="en-US" sz="1600" b="1">
                <a:solidFill>
                  <a:srgbClr val="102a43"/>
                </a:solidFill>
                <a:latin typeface="맑은 고딕"/>
                <a:ea typeface="맑은 고딕"/>
                <a:cs typeface="맑은 고딕"/>
              </a:rPr>
              <a:t>공공데이터 형식·갱신 주기 차이</a:t>
            </a:r>
            <a:endParaRPr lang="en-US" sz="1600" b="1">
              <a:solidFill>
                <a:srgbClr val="102a43"/>
              </a:solidFill>
              <a:latin typeface="맑은 고딕"/>
              <a:ea typeface="맑은 고딕"/>
              <a:cs typeface="맑은 고딕"/>
            </a:endParaRPr>
          </a:p>
          <a:p>
            <a:pPr marL="0" indent="0" algn="l">
              <a:buNone/>
              <a:defRPr/>
            </a:pPr>
            <a:r>
              <a:rPr lang="en-US" sz="1600" b="1">
                <a:solidFill>
                  <a:srgbClr val="102a43"/>
                </a:solidFill>
                <a:latin typeface="맑은 고딕"/>
                <a:ea typeface="맑은 고딕"/>
                <a:cs typeface="맑은 고딕"/>
              </a:rPr>
              <a:t>통합 과정의 중복 코드</a:t>
            </a:r>
            <a:endParaRPr lang="en-US" sz="1600"/>
          </a:p>
        </p:txBody>
      </p:sp>
      <p:sp>
        <p:nvSpPr>
          <p:cNvPr id="14" name="Shape 12"/>
          <p:cNvSpPr/>
          <p:nvPr/>
        </p:nvSpPr>
        <p:spPr>
          <a:xfrm>
            <a:off x="4590288" y="4828032"/>
            <a:ext cx="2651760" cy="0"/>
          </a:xfrm>
          <a:prstGeom prst="line">
            <a:avLst/>
          </a:prstGeom>
          <a:noFill/>
          <a:ln w="50800">
            <a:solidFill>
              <a:srgbClr val="f07c55"/>
            </a:solidFill>
            <a:prstDash val="solid"/>
          </a:ln>
        </p:spPr>
        <p:txBody>
          <a:bodyPr wrap="square" anchor="ctr"/>
          <a:p>
            <a:pPr algn="ctr">
              <a:defRPr/>
            </a:pPr>
            <a:endParaRPr lang="ko-KR" altLang="en-US"/>
          </a:p>
        </p:txBody>
      </p:sp>
      <p:sp>
        <p:nvSpPr>
          <p:cNvPr id="15" name="Shape 13"/>
          <p:cNvSpPr/>
          <p:nvPr/>
        </p:nvSpPr>
        <p:spPr>
          <a:xfrm>
            <a:off x="8119872" y="1828800"/>
            <a:ext cx="3401568" cy="3566160"/>
          </a:xfrm>
          <a:prstGeom prst="roundRect">
            <a:avLst>
              <a:gd name="adj" fmla="val 3226"/>
            </a:avLst>
          </a:prstGeom>
          <a:solidFill>
            <a:srgbClr val="eaf1ff"/>
          </a:solidFill>
          <a:ln w="12700">
            <a:solidFill>
              <a:srgbClr val="eaf1ff"/>
            </a:solidFill>
            <a:prstDash val="solid"/>
          </a:ln>
        </p:spPr>
        <p:txBody>
          <a:bodyPr anchor="ctr"/>
          <a:p>
            <a:pPr algn="ctr">
              <a:defRPr/>
            </a:pPr>
            <a:endParaRPr lang="ko-KR" altLang="en-US"/>
          </a:p>
        </p:txBody>
      </p:sp>
      <p:sp>
        <p:nvSpPr>
          <p:cNvPr id="16" name="Shape 14"/>
          <p:cNvSpPr/>
          <p:nvPr/>
        </p:nvSpPr>
        <p:spPr>
          <a:xfrm>
            <a:off x="8348472" y="2084832"/>
            <a:ext cx="1024128" cy="310896"/>
          </a:xfrm>
          <a:prstGeom prst="roundRect">
            <a:avLst>
              <a:gd name="adj" fmla="val 50000"/>
            </a:avLst>
          </a:prstGeom>
          <a:solidFill>
            <a:srgbClr val="ffffff"/>
          </a:solidFill>
          <a:ln w="12700">
            <a:solidFill>
              <a:srgbClr val="ffffff"/>
            </a:solidFill>
            <a:prstDash val="solid"/>
          </a:ln>
        </p:spPr>
        <p:txBody>
          <a:bodyPr anchor="ctr"/>
          <a:p>
            <a:pPr algn="ctr">
              <a:defRPr/>
            </a:pPr>
            <a:endParaRPr lang="ko-KR" altLang="en-US"/>
          </a:p>
        </p:txBody>
      </p:sp>
      <p:sp>
        <p:nvSpPr>
          <p:cNvPr id="17" name="Text 15"/>
          <p:cNvSpPr txBox="1"/>
          <p:nvPr/>
        </p:nvSpPr>
        <p:spPr>
          <a:xfrm>
            <a:off x="8348472" y="2153412"/>
            <a:ext cx="1024128" cy="146304"/>
          </a:xfrm>
          <a:prstGeom prst="rect">
            <a:avLst/>
          </a:prstGeom>
          <a:noFill/>
          <a:ln/>
        </p:spPr>
        <p:txBody>
          <a:bodyPr wrap="square" lIns="0" tIns="0" rIns="0" bIns="0" anchor="t">
            <a:normAutofit lnSpcReduction="10000"/>
          </a:bodyPr>
          <a:lstStyle/>
          <a:p>
            <a:pPr marL="0" indent="0" algn="ctr">
              <a:buNone/>
              <a:defRPr/>
            </a:pPr>
            <a:r>
              <a:rPr lang="en-US" sz="1000" b="1">
                <a:solidFill>
                  <a:srgbClr val="2f6fed"/>
                </a:solidFill>
                <a:latin typeface="맑은 고딕"/>
                <a:ea typeface="맑은 고딕"/>
                <a:cs typeface="맑은 고딕"/>
              </a:rPr>
              <a:t>TRY</a:t>
            </a:r>
            <a:endParaRPr lang="en-US" sz="1000"/>
          </a:p>
        </p:txBody>
      </p:sp>
      <p:sp>
        <p:nvSpPr>
          <p:cNvPr id="18" name="Text 16"/>
          <p:cNvSpPr txBox="1"/>
          <p:nvPr/>
        </p:nvSpPr>
        <p:spPr>
          <a:xfrm>
            <a:off x="8366760" y="2907792"/>
            <a:ext cx="2852928" cy="1572768"/>
          </a:xfrm>
          <a:prstGeom prst="rect">
            <a:avLst/>
          </a:prstGeom>
          <a:noFill/>
          <a:ln/>
        </p:spPr>
        <p:txBody>
          <a:bodyPr wrap="square" lIns="0" tIns="0" rIns="0" bIns="0" anchor="t">
            <a:normAutofit/>
          </a:bodyPr>
          <a:lstStyle/>
          <a:p>
            <a:pPr marL="0" indent="0" algn="l">
              <a:buNone/>
              <a:defRPr/>
            </a:pPr>
            <a:r>
              <a:rPr lang="en-US" sz="1600" b="1">
                <a:solidFill>
                  <a:srgbClr val="102a43"/>
                </a:solidFill>
                <a:latin typeface="맑은 고딕"/>
                <a:ea typeface="맑은 고딕"/>
                <a:cs typeface="맑은 고딕"/>
              </a:rPr>
              <a:t>API 응답·오류 규격 통일</a:t>
            </a:r>
            <a:endParaRPr lang="en-US" sz="1600" b="1">
              <a:solidFill>
                <a:srgbClr val="102a43"/>
              </a:solidFill>
              <a:latin typeface="맑은 고딕"/>
              <a:ea typeface="맑은 고딕"/>
              <a:cs typeface="맑은 고딕"/>
            </a:endParaRPr>
          </a:p>
          <a:p>
            <a:pPr marL="0" indent="0" algn="l">
              <a:buNone/>
              <a:defRPr/>
            </a:pPr>
            <a:r>
              <a:rPr lang="en-US" sz="1600" b="1">
                <a:solidFill>
                  <a:srgbClr val="102a43"/>
                </a:solidFill>
                <a:latin typeface="맑은 고딕"/>
                <a:ea typeface="맑은 고딕"/>
                <a:cs typeface="맑은 고딕"/>
              </a:rPr>
              <a:t>자동 수집·검증 파이프라인</a:t>
            </a:r>
            <a:endParaRPr lang="en-US" sz="1600" b="1">
              <a:solidFill>
                <a:srgbClr val="102a43"/>
              </a:solidFill>
              <a:latin typeface="맑은 고딕"/>
              <a:ea typeface="맑은 고딕"/>
              <a:cs typeface="맑은 고딕"/>
            </a:endParaRPr>
          </a:p>
          <a:p>
            <a:pPr marL="0" indent="0" algn="l">
              <a:buNone/>
              <a:defRPr/>
            </a:pPr>
            <a:r>
              <a:rPr lang="en-US" sz="1600" b="1">
                <a:solidFill>
                  <a:srgbClr val="102a43"/>
                </a:solidFill>
                <a:latin typeface="맑은 고딕"/>
                <a:ea typeface="맑은 고딕"/>
                <a:cs typeface="맑은 고딕"/>
              </a:rPr>
              <a:t>추천 전 데이터 품질 지표화</a:t>
            </a:r>
            <a:endParaRPr lang="en-US" sz="1600"/>
          </a:p>
        </p:txBody>
      </p:sp>
      <p:sp>
        <p:nvSpPr>
          <p:cNvPr id="19" name="Shape 17"/>
          <p:cNvSpPr/>
          <p:nvPr/>
        </p:nvSpPr>
        <p:spPr>
          <a:xfrm>
            <a:off x="8366760" y="4828032"/>
            <a:ext cx="2651760" cy="0"/>
          </a:xfrm>
          <a:prstGeom prst="line">
            <a:avLst/>
          </a:prstGeom>
          <a:noFill/>
          <a:ln w="50800">
            <a:solidFill>
              <a:srgbClr val="2f6fed"/>
            </a:solidFill>
            <a:prstDash val="solid"/>
          </a:ln>
        </p:spPr>
        <p:txBody>
          <a:bodyPr wrap="square" anchor="ctr"/>
          <a:p>
            <a:pPr algn="ctr">
              <a:defRPr/>
            </a:pPr>
            <a:endParaRPr lang="ko-KR" altLang="en-US"/>
          </a:p>
        </p:txBody>
      </p:sp>
      <p:sp>
        <p:nvSpPr>
          <p:cNvPr id="25" name="Slide Number Placeholder 0"/>
          <p:cNvSpPr>
            <a:spLocks noGrp="1"/>
          </p:cNvSpPr>
          <p:nvPr>
            <p:ph type="sldNum" sz="quarter" idx="4294967295"/>
          </p:nvPr>
        </p:nvSpPr>
        <p:spPr>
          <a:xfrm>
            <a:off x="11064240" y="6547104"/>
            <a:ext cx="502920" cy="164592"/>
          </a:xfrm>
          <a:prstGeom prst="rect">
            <a:avLst/>
          </a:prstGeom>
        </p:spPr>
        <p:txBody>
          <a:bodyPr lIns="0" tIns="0" rIns="0" bIns="0"/>
          <a:lstStyle>
            <a:lvl1pPr>
              <a:defRPr sz="800">
                <a:solidFill>
                  <a:srgbClr val="668078"/>
                </a:solidFill>
                <a:latin typeface="Malgun Gothic"/>
                <a:ea typeface="Malgun Gothic"/>
                <a:cs typeface="Malgun Gothic"/>
              </a:defRPr>
            </a:lvl1pPr>
          </a:lstStyle>
          <a:p>
            <a:pPr algn="r">
              <a:defRPr/>
            </a:pPr>
            <a:fld id="{F7021451-1387-4CA6-816F-3879F97B5CBC}" type="slidenum">
              <a:rPr lang="en-US" b="0"/>
              <a:pPr algn="r">
                <a:defRPr/>
              </a:pPr>
              <a:t>13</a:t>
            </a:fld>
            <a:endParaRPr lang="en-US" b="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name="Slide 14">
    <p:bg>
      <p:bgPr shadeToTitle="0">
        <a:solidFill>
          <a:srgbClr val="0c2824"/>
        </a:solidFill>
      </p:bgPr>
    </p:bg>
    <p:spTree>
      <p:nvGrpSpPr>
        <p:cNvPr id="1" name=""/>
        <p:cNvGrpSpPr/>
        <p:nvPr/>
      </p:nvGrpSpPr>
      <p:grpSpPr>
        <a:xfrm>
          <a:off x="0" y="0"/>
          <a:ext cx="0" cy="0"/>
          <a:chOff x="0" y="0"/>
          <a:chExt cx="0" cy="0"/>
        </a:xfrm>
      </p:grpSpPr>
      <p:sp>
        <p:nvSpPr>
          <p:cNvPr id="2" name="Text 0"/>
          <p:cNvSpPr txBox="1"/>
          <p:nvPr/>
        </p:nvSpPr>
        <p:spPr>
          <a:xfrm>
            <a:off x="685800" y="548640"/>
            <a:ext cx="1828800" cy="274320"/>
          </a:xfrm>
          <a:prstGeom prst="rect">
            <a:avLst/>
          </a:prstGeom>
          <a:noFill/>
          <a:ln/>
        </p:spPr>
        <p:txBody>
          <a:bodyPr wrap="square" lIns="0" tIns="0" rIns="0" bIns="0" anchor="t">
            <a:normAutofit/>
          </a:bodyPr>
          <a:lstStyle/>
          <a:p>
            <a:pPr marL="0" indent="0" algn="l">
              <a:buNone/>
              <a:defRPr/>
            </a:pPr>
            <a:r>
              <a:rPr lang="en-US" sz="1400" b="1">
                <a:solidFill>
                  <a:srgbClr val="86e0d2"/>
                </a:solidFill>
                <a:latin typeface="맑은 고딕"/>
                <a:ea typeface="맑은 고딕"/>
                <a:cs typeface="맑은 고딕"/>
              </a:rPr>
              <a:t>Q&amp;A</a:t>
            </a:r>
            <a:endParaRPr lang="en-US" sz="1400"/>
          </a:p>
        </p:txBody>
      </p:sp>
      <p:sp>
        <p:nvSpPr>
          <p:cNvPr id="3" name="Text 1"/>
          <p:cNvSpPr txBox="1"/>
          <p:nvPr/>
        </p:nvSpPr>
        <p:spPr>
          <a:xfrm>
            <a:off x="685800" y="1508760"/>
            <a:ext cx="8869680" cy="1143000"/>
          </a:xfrm>
          <a:prstGeom prst="rect">
            <a:avLst/>
          </a:prstGeom>
          <a:noFill/>
          <a:ln/>
        </p:spPr>
        <p:txBody>
          <a:bodyPr wrap="square" lIns="0" tIns="0" rIns="0" bIns="0" anchor="t">
            <a:normAutofit/>
          </a:bodyPr>
          <a:lstStyle/>
          <a:p>
            <a:pPr marL="0" indent="0" algn="l">
              <a:buNone/>
              <a:defRPr/>
            </a:pPr>
            <a:r>
              <a:rPr lang="en-US" sz="3600" b="1">
                <a:solidFill>
                  <a:srgbClr val="ffffff"/>
                </a:solidFill>
                <a:latin typeface="맑은 고딕"/>
                <a:ea typeface="맑은 고딕"/>
                <a:cs typeface="맑은 고딕"/>
              </a:rPr>
              <a:t>좋은 집을 찾는 순간부터</a:t>
            </a:r>
            <a:endParaRPr lang="en-US" sz="3600" b="1">
              <a:solidFill>
                <a:srgbClr val="ffffff"/>
              </a:solidFill>
              <a:latin typeface="맑은 고딕"/>
              <a:ea typeface="맑은 고딕"/>
              <a:cs typeface="맑은 고딕"/>
            </a:endParaRPr>
          </a:p>
          <a:p>
            <a:pPr marL="0" indent="0" algn="l">
              <a:buNone/>
              <a:defRPr/>
            </a:pPr>
            <a:r>
              <a:rPr lang="en-US" sz="3600" b="1">
                <a:solidFill>
                  <a:srgbClr val="ffffff"/>
                </a:solidFill>
                <a:latin typeface="맑은 고딕"/>
                <a:ea typeface="맑은 고딕"/>
                <a:cs typeface="맑은 고딕"/>
              </a:rPr>
              <a:t>안전한 계약까지</a:t>
            </a:r>
            <a:endParaRPr lang="en-US" sz="3600"/>
          </a:p>
        </p:txBody>
      </p:sp>
      <p:sp>
        <p:nvSpPr>
          <p:cNvPr id="4" name="Text 2"/>
          <p:cNvSpPr txBox="1"/>
          <p:nvPr/>
        </p:nvSpPr>
        <p:spPr>
          <a:xfrm>
            <a:off x="713232" y="3127248"/>
            <a:ext cx="7772400" cy="365760"/>
          </a:xfrm>
          <a:prstGeom prst="rect">
            <a:avLst/>
          </a:prstGeom>
          <a:noFill/>
          <a:ln/>
        </p:spPr>
        <p:txBody>
          <a:bodyPr wrap="square" lIns="0" tIns="0" rIns="0" bIns="0" anchor="t">
            <a:normAutofit/>
          </a:bodyPr>
          <a:lstStyle/>
          <a:p>
            <a:pPr marL="0" indent="0" algn="l">
              <a:buNone/>
              <a:defRPr/>
            </a:pPr>
            <a:r>
              <a:rPr lang="en-US" sz="1800">
                <a:solidFill>
                  <a:srgbClr val="cdece6"/>
                </a:solidFill>
                <a:latin typeface="맑은 고딕"/>
                <a:ea typeface="맑은 고딕"/>
                <a:cs typeface="맑은 고딕"/>
              </a:rPr>
              <a:t>ZipAI는 흩어진 정보를 하나의 의사결정 여정으로 연결합니다.</a:t>
            </a:r>
            <a:endParaRPr lang="en-US" sz="1800"/>
          </a:p>
        </p:txBody>
      </p:sp>
      <p:sp>
        <p:nvSpPr>
          <p:cNvPr id="5" name="Shape 3"/>
          <p:cNvSpPr/>
          <p:nvPr/>
        </p:nvSpPr>
        <p:spPr>
          <a:xfrm>
            <a:off x="713232" y="4846320"/>
            <a:ext cx="4754880" cy="658368"/>
          </a:xfrm>
          <a:prstGeom prst="roundRect">
            <a:avLst>
              <a:gd name="adj" fmla="val 16667"/>
            </a:avLst>
          </a:prstGeom>
          <a:solidFill>
            <a:srgbClr val="145447"/>
          </a:solidFill>
          <a:ln w="12700">
            <a:solidFill>
              <a:srgbClr val="145447"/>
            </a:solidFill>
            <a:prstDash val="solid"/>
          </a:ln>
        </p:spPr>
        <p:txBody>
          <a:bodyPr anchor="ctr"/>
          <a:p>
            <a:pPr algn="ctr">
              <a:defRPr/>
            </a:pPr>
            <a:endParaRPr lang="ko-KR" altLang="en-US"/>
          </a:p>
        </p:txBody>
      </p:sp>
      <p:sp>
        <p:nvSpPr>
          <p:cNvPr id="6" name="Text 4"/>
          <p:cNvSpPr txBox="1"/>
          <p:nvPr/>
        </p:nvSpPr>
        <p:spPr>
          <a:xfrm>
            <a:off x="987552" y="5074920"/>
            <a:ext cx="4206240" cy="228600"/>
          </a:xfrm>
          <a:prstGeom prst="rect">
            <a:avLst/>
          </a:prstGeom>
          <a:noFill/>
          <a:ln/>
        </p:spPr>
        <p:txBody>
          <a:bodyPr wrap="square" lIns="0" tIns="0" rIns="0" bIns="0" anchor="t">
            <a:normAutofit lnSpcReduction="10000"/>
          </a:bodyPr>
          <a:lstStyle/>
          <a:p>
            <a:pPr marL="0" indent="0" algn="l">
              <a:buNone/>
              <a:defRPr/>
            </a:pPr>
            <a:r>
              <a:rPr lang="en-US" sz="1600" b="1">
                <a:solidFill>
                  <a:srgbClr val="ffffff"/>
                </a:solidFill>
                <a:latin typeface="맑은 고딕"/>
                <a:ea typeface="맑은 고딕"/>
                <a:cs typeface="맑은 고딕"/>
              </a:rPr>
              <a:t>질문 감사합니다</a:t>
            </a:r>
            <a:endParaRPr lang="en-US" sz="1600"/>
          </a:p>
        </p:txBody>
      </p:sp>
      <p:sp>
        <p:nvSpPr>
          <p:cNvPr id="7" name="Text 5"/>
          <p:cNvSpPr txBox="1"/>
          <p:nvPr/>
        </p:nvSpPr>
        <p:spPr>
          <a:xfrm>
            <a:off x="713232" y="6144768"/>
            <a:ext cx="5760720" cy="219456"/>
          </a:xfrm>
          <a:prstGeom prst="rect">
            <a:avLst/>
          </a:prstGeom>
          <a:noFill/>
          <a:ln/>
        </p:spPr>
        <p:txBody>
          <a:bodyPr wrap="square" lIns="0" tIns="0" rIns="0" bIns="0" anchor="t">
            <a:normAutofit/>
          </a:bodyPr>
          <a:lstStyle/>
          <a:p>
            <a:pPr marL="0" indent="0" algn="l">
              <a:buNone/>
              <a:defRPr/>
            </a:pPr>
            <a:r>
              <a:rPr lang="en-US" sz="1100">
                <a:solidFill>
                  <a:srgbClr val="86aaa3"/>
                </a:solidFill>
                <a:latin typeface="맑은 고딕"/>
                <a:ea typeface="맑은 고딕"/>
                <a:cs typeface="맑은 고딕"/>
              </a:rPr>
              <a:t>ZIPAI · 데이터로 찾고, 안전하게 계약하다</a:t>
            </a:r>
            <a:endParaRPr lang="en-US" sz="1100"/>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ZipAI</ep:Company>
  <ep:Words>743</ep:Words>
  <ep:PresentationFormat>On-screen Show (16:9)</ep:PresentationFormat>
  <ep:Paragraphs>230</ep:Paragraphs>
  <ep:Slides>14</ep:Slides>
  <ep:Notes>14</ep:Notes>
  <ep:TotalTime>0</ep:TotalTime>
  <ep:HiddenSlides>0</ep:HiddenSlides>
  <ep:MMClips>0</ep:MMClips>
  <ep:HeadingPairs>
    <vt:vector size="4" baseType="variant">
      <vt:variant>
        <vt:lpstr>테마</vt:lpstr>
      </vt:variant>
      <vt:variant>
        <vt:i4>1</vt:i4>
      </vt:variant>
      <vt:variant>
        <vt:lpstr>슬라이드 제목</vt:lpstr>
      </vt:variant>
      <vt:variant>
        <vt:i4>14</vt:i4>
      </vt:variant>
    </vt:vector>
  </ep:HeadingPairs>
  <ep:TitlesOfParts>
    <vt:vector size="15" baseType="lpstr">
      <vt:lpstr>Office Theme</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lpstr>슬라이드 11</vt:lpstr>
      <vt:lpstr>슬라이드 12</vt:lpstr>
      <vt:lpstr>슬라이드 13</vt:lpstr>
      <vt:lpstr>슬라이드 14</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2026-08-07T06:10:37.000</dcterms:created>
  <dc:creator>ZipAI Team</dc:creator>
  <cp:lastModifiedBy>pc06-00</cp:lastModifiedBy>
  <dcterms:modified xsi:type="dcterms:W3CDTF">2026-08-07T08:07:49.091</dcterms:modified>
  <cp:revision>3</cp:revision>
  <dc:subject>ZipAI 프로젝트 발표</dc:subject>
  <dc:title>ZipAI: 데이터로 찾고, 안전하게 계약하는 청년 주거 플랫폼</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